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34"/>
  </p:notesMasterIdLst>
  <p:sldIdLst>
    <p:sldId id="256" r:id="rId2"/>
    <p:sldId id="257" r:id="rId3"/>
    <p:sldId id="258" r:id="rId4"/>
    <p:sldId id="259" r:id="rId5"/>
    <p:sldId id="260" r:id="rId6"/>
    <p:sldId id="261" r:id="rId7"/>
    <p:sldId id="262" r:id="rId8"/>
    <p:sldId id="284" r:id="rId9"/>
    <p:sldId id="263" r:id="rId10"/>
    <p:sldId id="264" r:id="rId11"/>
    <p:sldId id="265" r:id="rId12"/>
    <p:sldId id="266" r:id="rId13"/>
    <p:sldId id="267" r:id="rId14"/>
    <p:sldId id="268" r:id="rId15"/>
    <p:sldId id="269" r:id="rId16"/>
    <p:sldId id="270" r:id="rId17"/>
    <p:sldId id="271" r:id="rId18"/>
    <p:sldId id="288"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6" r:id="rId32"/>
    <p:sldId id="287" r:id="rId33"/>
  </p:sldIdLst>
  <p:sldSz cx="12192000" cy="6858000"/>
  <p:notesSz cx="6858000" cy="12192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34" autoAdjust="0"/>
    <p:restoredTop sz="94610"/>
  </p:normalViewPr>
  <p:slideViewPr>
    <p:cSldViewPr snapToGrid="0" snapToObjects="1">
      <p:cViewPr varScale="1">
        <p:scale>
          <a:sx n="109" d="100"/>
          <a:sy n="109" d="100"/>
        </p:scale>
        <p:origin x="7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4191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A81F44-E1D1-40B2-55F4-EE78C885DA3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AC359050-EDF3-0EFE-5B71-EC76924C6E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58C26758-FE30-5889-1CC7-6AC79391F60B}"/>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5" name="Marcador de pie de página 4">
            <a:extLst>
              <a:ext uri="{FF2B5EF4-FFF2-40B4-BE49-F238E27FC236}">
                <a16:creationId xmlns:a16="http://schemas.microsoft.com/office/drawing/2014/main" id="{81651BEC-35DF-942B-1EE3-6AFB5225346C}"/>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4B54586D-99E0-E6B8-2D49-30EA9DC19180}"/>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426324381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E03118-F808-4D57-4E0A-59EF1DE1203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99A1E7E-2693-E618-B76D-2829410FEEA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00F69855-003D-F5DD-AC0A-06F41D0B897F}"/>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5" name="Marcador de pie de página 4">
            <a:extLst>
              <a:ext uri="{FF2B5EF4-FFF2-40B4-BE49-F238E27FC236}">
                <a16:creationId xmlns:a16="http://schemas.microsoft.com/office/drawing/2014/main" id="{C5536F54-3106-BA8A-EB25-031E3D44D5FF}"/>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82A65202-12F4-9F6F-90D3-E0788AFEF634}"/>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77614643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A7F6D5-0E9D-C127-8921-2D8F85EB388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C74E6308-4C76-0E27-9D47-58244267DB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40A7DBC-F44C-101D-5849-4B3941F67BE3}"/>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5" name="Marcador de pie de página 4">
            <a:extLst>
              <a:ext uri="{FF2B5EF4-FFF2-40B4-BE49-F238E27FC236}">
                <a16:creationId xmlns:a16="http://schemas.microsoft.com/office/drawing/2014/main" id="{D1A4303E-6AE8-F3EF-D4C7-9AAA6E9AE3BD}"/>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CCA0CA3E-16FF-0523-9196-DF0A4070A7E2}"/>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428960149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47A3B-C49D-8B83-7934-EA017114C46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5AA83E6F-AACA-4646-BEA6-AAED65AC18A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CDB4D431-5E79-A6B2-9A86-BB3C66C4544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75288287-2323-0593-AF3E-67F2BA527586}"/>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6" name="Marcador de pie de página 5">
            <a:extLst>
              <a:ext uri="{FF2B5EF4-FFF2-40B4-BE49-F238E27FC236}">
                <a16:creationId xmlns:a16="http://schemas.microsoft.com/office/drawing/2014/main" id="{0906FB0F-2BFA-300B-545F-87D982F42233}"/>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122C5A06-DE74-7A19-4DCA-A0E76A48723D}"/>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37638428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C3548D-F8DA-DC0B-0A33-8EFE4058234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21CC7C39-7858-BAF7-2524-9D2D374A42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ADE1E63-7920-C09F-ED9A-FC37E3E79AB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B3346CFD-A7B1-60EC-FEB5-4D45899513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E767AC4-968A-6F06-BA83-6296D481907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48D732A8-0D0A-70E8-1E0E-6C71907282BA}"/>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8" name="Marcador de pie de página 7">
            <a:extLst>
              <a:ext uri="{FF2B5EF4-FFF2-40B4-BE49-F238E27FC236}">
                <a16:creationId xmlns:a16="http://schemas.microsoft.com/office/drawing/2014/main" id="{AFFD5276-7E01-4555-B647-A76C90DA3C32}"/>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3CD51124-A5C3-0B76-CDEA-EF1CC82C6D73}"/>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308706689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665559-9AE9-CCEE-D586-BE1E2095CF0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D8A98DB4-D531-8079-FAB9-5E5159371C41}"/>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4" name="Marcador de pie de página 3">
            <a:extLst>
              <a:ext uri="{FF2B5EF4-FFF2-40B4-BE49-F238E27FC236}">
                <a16:creationId xmlns:a16="http://schemas.microsoft.com/office/drawing/2014/main" id="{14215811-0FDF-CE89-077F-37071E6865FB}"/>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E421D64D-22B8-7D83-2486-42198C724C8F}"/>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412314010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5669D89-0324-D775-BDB4-9D8D2B574C5D}"/>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3" name="Marcador de pie de página 2">
            <a:extLst>
              <a:ext uri="{FF2B5EF4-FFF2-40B4-BE49-F238E27FC236}">
                <a16:creationId xmlns:a16="http://schemas.microsoft.com/office/drawing/2014/main" id="{64106F7A-3C0D-32C2-82DA-E7A206AD3714}"/>
              </a:ext>
            </a:extLst>
          </p:cNvPr>
          <p:cNvSpPr>
            <a:spLocks noGrp="1"/>
          </p:cNvSpPr>
          <p:nvPr>
            <p:ph type="ftr" sz="quarter" idx="11"/>
          </p:nvPr>
        </p:nvSpPr>
        <p:spPr/>
        <p:txBody>
          <a:bodyPr/>
          <a:lstStyle/>
          <a:p>
            <a:endParaRPr lang="en-US" dirty="0"/>
          </a:p>
        </p:txBody>
      </p:sp>
      <p:sp>
        <p:nvSpPr>
          <p:cNvPr id="4" name="Marcador de número de diapositiva 3">
            <a:extLst>
              <a:ext uri="{FF2B5EF4-FFF2-40B4-BE49-F238E27FC236}">
                <a16:creationId xmlns:a16="http://schemas.microsoft.com/office/drawing/2014/main" id="{D17709F1-4770-EE18-304A-43920AB0A731}"/>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1301666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0820E3-D74B-BBDB-DA3F-9DF68708A6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F21E6232-E3B0-D066-8323-D815459275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EE88DC9D-B094-1A96-606A-8984F1371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32EBDF-57DD-19A5-B504-9990108537DC}"/>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6" name="Marcador de pie de página 5">
            <a:extLst>
              <a:ext uri="{FF2B5EF4-FFF2-40B4-BE49-F238E27FC236}">
                <a16:creationId xmlns:a16="http://schemas.microsoft.com/office/drawing/2014/main" id="{6FDA65DD-550F-AD81-0CB6-E89CB45BEB08}"/>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320D46C6-C1DD-688A-FECA-B03447E42D18}"/>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7243231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BA1F33-055F-B3D3-834C-CCA03B20B1D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5C470D61-39CD-12F5-E4BB-54F9CB1A7A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90041D41-7E6C-59F6-AE8D-19042321A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D0BD8F8-C5B0-5613-62D5-BE33F320F790}"/>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6" name="Marcador de pie de página 5">
            <a:extLst>
              <a:ext uri="{FF2B5EF4-FFF2-40B4-BE49-F238E27FC236}">
                <a16:creationId xmlns:a16="http://schemas.microsoft.com/office/drawing/2014/main" id="{E85A6FB3-F9ED-D752-6124-B887E36DDE48}"/>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0629B809-45E9-8318-1CF2-62BC43DBEA75}"/>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5409856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6E97FF-DF96-9DA7-ADE1-03E0E4E9012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E81B177-A3CA-5E9B-F620-9019B3DDA5F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09E633C-D4EA-0790-1573-0C379A151EDB}"/>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5" name="Marcador de pie de página 4">
            <a:extLst>
              <a:ext uri="{FF2B5EF4-FFF2-40B4-BE49-F238E27FC236}">
                <a16:creationId xmlns:a16="http://schemas.microsoft.com/office/drawing/2014/main" id="{43C6C481-880C-95F8-DD1A-00DDA84D8BB7}"/>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3814A608-7288-AC59-075C-D0A0B2B105CB}"/>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368865038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A1D811F-FF26-809A-3DAE-3BE31CC2077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3F500F18-0CB2-11D1-4418-87524FAB1EB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8872367A-83BC-36C2-2208-E3152EEBC6C3}"/>
              </a:ext>
            </a:extLst>
          </p:cNvPr>
          <p:cNvSpPr>
            <a:spLocks noGrp="1"/>
          </p:cNvSpPr>
          <p:nvPr>
            <p:ph type="dt" sz="half" idx="10"/>
          </p:nvPr>
        </p:nvSpPr>
        <p:spPr/>
        <p:txBody>
          <a:bodyPr/>
          <a:lstStyle/>
          <a:p>
            <a:fld id="{C764DE79-268F-4C1A-8933-263129D2AF90}" type="datetimeFigureOut">
              <a:rPr lang="en-US" smtClean="0"/>
              <a:t>8/10/2026</a:t>
            </a:fld>
            <a:endParaRPr lang="en-US" dirty="0"/>
          </a:p>
        </p:txBody>
      </p:sp>
      <p:sp>
        <p:nvSpPr>
          <p:cNvPr id="5" name="Marcador de pie de página 4">
            <a:extLst>
              <a:ext uri="{FF2B5EF4-FFF2-40B4-BE49-F238E27FC236}">
                <a16:creationId xmlns:a16="http://schemas.microsoft.com/office/drawing/2014/main" id="{2053307E-E999-8750-DF4A-A815FD71D031}"/>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6F7F3C91-2B5F-6E93-71D0-EA08B9A16CEC}"/>
              </a:ext>
            </a:extLst>
          </p:cNvPr>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7414356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952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E9B621E-6D5E-3B2E-FDD0-A6478D9E97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7F5706A7-3FD4-6790-6F05-004EA932D5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6B87B76-3520-7283-F5F6-012201C6BE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smtClean="0"/>
              <a:t>8/10/2026</a:t>
            </a:fld>
            <a:endParaRPr lang="en-US" dirty="0"/>
          </a:p>
        </p:txBody>
      </p:sp>
      <p:sp>
        <p:nvSpPr>
          <p:cNvPr id="5" name="Marcador de pie de página 4">
            <a:extLst>
              <a:ext uri="{FF2B5EF4-FFF2-40B4-BE49-F238E27FC236}">
                <a16:creationId xmlns:a16="http://schemas.microsoft.com/office/drawing/2014/main" id="{068D2D26-5819-9443-28F7-E262510558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Marcador de número de diapositiva 5">
            <a:extLst>
              <a:ext uri="{FF2B5EF4-FFF2-40B4-BE49-F238E27FC236}">
                <a16:creationId xmlns:a16="http://schemas.microsoft.com/office/drawing/2014/main" id="{45B6215C-78DC-3273-3160-C97C0F6790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05690545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txBody>
          <a:bodyPr/>
          <a:lstStyle/>
          <a:p>
            <a:endParaRPr lang="es-AR" noProof="0" dirty="0"/>
          </a:p>
        </p:txBody>
      </p:sp>
      <p:sp>
        <p:nvSpPr>
          <p:cNvPr id="3" name="Shape 1"/>
          <p:cNvSpPr/>
          <p:nvPr/>
        </p:nvSpPr>
        <p:spPr>
          <a:xfrm>
            <a:off x="8961120" y="-1828800"/>
            <a:ext cx="5486400" cy="5486400"/>
          </a:xfrm>
          <a:prstGeom prst="ellipse">
            <a:avLst/>
          </a:prstGeom>
          <a:solidFill>
            <a:srgbClr val="263876"/>
          </a:solidFill>
          <a:ln/>
        </p:spPr>
        <p:txBody>
          <a:bodyPr/>
          <a:lstStyle/>
          <a:p>
            <a:endParaRPr lang="es-AR" noProof="0" dirty="0"/>
          </a:p>
        </p:txBody>
      </p:sp>
      <p:sp>
        <p:nvSpPr>
          <p:cNvPr id="4" name="Shape 2"/>
          <p:cNvSpPr/>
          <p:nvPr/>
        </p:nvSpPr>
        <p:spPr>
          <a:xfrm>
            <a:off x="-1828800" y="4114800"/>
            <a:ext cx="4572000" cy="4572000"/>
          </a:xfrm>
          <a:prstGeom prst="ellipse">
            <a:avLst/>
          </a:prstGeom>
          <a:solidFill>
            <a:srgbClr val="182253"/>
          </a:solidFill>
          <a:ln/>
        </p:spPr>
        <p:txBody>
          <a:bodyPr/>
          <a:lstStyle/>
          <a:p>
            <a:endParaRPr lang="es-AR" noProof="0" dirty="0"/>
          </a:p>
        </p:txBody>
      </p:sp>
      <p:sp>
        <p:nvSpPr>
          <p:cNvPr id="5" name="Text 3"/>
          <p:cNvSpPr/>
          <p:nvPr/>
        </p:nvSpPr>
        <p:spPr>
          <a:xfrm>
            <a:off x="640080" y="914400"/>
            <a:ext cx="10058400" cy="365760"/>
          </a:xfrm>
          <a:prstGeom prst="rect">
            <a:avLst/>
          </a:prstGeom>
          <a:noFill/>
          <a:ln/>
        </p:spPr>
        <p:txBody>
          <a:bodyPr wrap="square" rtlCol="0" anchor="ctr"/>
          <a:lstStyle/>
          <a:p>
            <a:pPr marL="0" indent="0">
              <a:buNone/>
            </a:pPr>
            <a:r>
              <a:rPr lang="es-AR" sz="1400" b="1" kern="0" spc="200" noProof="0" dirty="0">
                <a:solidFill>
                  <a:srgbClr val="CADCFC"/>
                </a:solidFill>
                <a:latin typeface="Calibri" pitchFamily="34" charset="0"/>
                <a:ea typeface="Calibri" pitchFamily="34" charset="-122"/>
                <a:cs typeface="Calibri" pitchFamily="34" charset="-120"/>
              </a:rPr>
              <a:t>ALGORITMOS Y ESTRUCTURAS DE DATOS II  —  3.4.229</a:t>
            </a:r>
            <a:endParaRPr lang="es-AR" sz="1400" noProof="0" dirty="0"/>
          </a:p>
        </p:txBody>
      </p:sp>
      <p:sp>
        <p:nvSpPr>
          <p:cNvPr id="6" name="Text 4"/>
          <p:cNvSpPr/>
          <p:nvPr/>
        </p:nvSpPr>
        <p:spPr>
          <a:xfrm>
            <a:off x="640080" y="1371600"/>
            <a:ext cx="10058400" cy="914400"/>
          </a:xfrm>
          <a:prstGeom prst="rect">
            <a:avLst/>
          </a:prstGeom>
          <a:noFill/>
          <a:ln/>
        </p:spPr>
        <p:txBody>
          <a:bodyPr wrap="square" rtlCol="0" anchor="ctr"/>
          <a:lstStyle/>
          <a:p>
            <a:pPr marL="0" indent="0">
              <a:buNone/>
            </a:pPr>
            <a:r>
              <a:rPr lang="es-AR" sz="5400" b="1" noProof="0" dirty="0">
                <a:solidFill>
                  <a:srgbClr val="FFFFFF"/>
                </a:solidFill>
                <a:latin typeface="Cambria" pitchFamily="34" charset="0"/>
                <a:ea typeface="Cambria" pitchFamily="34" charset="-122"/>
                <a:cs typeface="Cambria" pitchFamily="34" charset="-120"/>
              </a:rPr>
              <a:t>Clase 1</a:t>
            </a:r>
            <a:endParaRPr lang="es-AR" sz="5400" noProof="0" dirty="0"/>
          </a:p>
        </p:txBody>
      </p:sp>
      <p:sp>
        <p:nvSpPr>
          <p:cNvPr id="7" name="Text 5"/>
          <p:cNvSpPr/>
          <p:nvPr/>
        </p:nvSpPr>
        <p:spPr>
          <a:xfrm>
            <a:off x="640080" y="2377440"/>
            <a:ext cx="9601200" cy="914400"/>
          </a:xfrm>
          <a:prstGeom prst="rect">
            <a:avLst/>
          </a:prstGeom>
          <a:noFill/>
          <a:ln/>
        </p:spPr>
        <p:txBody>
          <a:bodyPr wrap="square" rtlCol="0" anchor="ctr"/>
          <a:lstStyle/>
          <a:p>
            <a:pPr marL="0" indent="0">
              <a:buNone/>
            </a:pPr>
            <a:r>
              <a:rPr lang="es-AR" sz="2000" noProof="0" dirty="0">
                <a:solidFill>
                  <a:srgbClr val="CADCFC"/>
                </a:solidFill>
                <a:latin typeface="Calibri" pitchFamily="34" charset="0"/>
                <a:ea typeface="Calibri" pitchFamily="34" charset="-122"/>
                <a:cs typeface="Calibri" pitchFamily="34" charset="-120"/>
              </a:rPr>
              <a:t>Introducción a Tipos de Datos Abstractos (TDA)</a:t>
            </a:r>
            <a:endParaRPr lang="es-AR" sz="2000" noProof="0" dirty="0"/>
          </a:p>
          <a:p>
            <a:pPr marL="0" indent="0">
              <a:buNone/>
            </a:pPr>
            <a:r>
              <a:rPr lang="es-AR" sz="2000" noProof="0" dirty="0">
                <a:solidFill>
                  <a:srgbClr val="CADCFC"/>
                </a:solidFill>
                <a:latin typeface="Calibri" pitchFamily="34" charset="0"/>
                <a:ea typeface="Calibri" pitchFamily="34" charset="-122"/>
                <a:cs typeface="Calibri" pitchFamily="34" charset="-120"/>
              </a:rPr>
              <a:t>Especificación, notación y fundamentos de Java</a:t>
            </a:r>
            <a:endParaRPr lang="es-AR" sz="2000" noProof="0" dirty="0"/>
          </a:p>
        </p:txBody>
      </p:sp>
      <p:sp>
        <p:nvSpPr>
          <p:cNvPr id="8" name="Shape 6"/>
          <p:cNvSpPr/>
          <p:nvPr/>
        </p:nvSpPr>
        <p:spPr>
          <a:xfrm>
            <a:off x="640080" y="3657600"/>
            <a:ext cx="2377440" cy="365760"/>
          </a:xfrm>
          <a:prstGeom prst="roundRect">
            <a:avLst>
              <a:gd name="adj" fmla="val 50000"/>
            </a:avLst>
          </a:prstGeom>
          <a:solidFill>
            <a:srgbClr val="E8A33D"/>
          </a:solidFill>
          <a:ln/>
        </p:spPr>
        <p:txBody>
          <a:bodyPr/>
          <a:lstStyle/>
          <a:p>
            <a:endParaRPr lang="es-AR" noProof="0" dirty="0"/>
          </a:p>
        </p:txBody>
      </p:sp>
      <p:sp>
        <p:nvSpPr>
          <p:cNvPr id="9" name="Text 7"/>
          <p:cNvSpPr/>
          <p:nvPr/>
        </p:nvSpPr>
        <p:spPr>
          <a:xfrm>
            <a:off x="640080" y="3657600"/>
            <a:ext cx="237744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DURACIÓN: 4 HORAS</a:t>
            </a:r>
            <a:endParaRPr lang="es-AR" sz="1200" noProof="0" dirty="0"/>
          </a:p>
        </p:txBody>
      </p:sp>
      <p:sp>
        <p:nvSpPr>
          <p:cNvPr id="10" name="Shape 8"/>
          <p:cNvSpPr/>
          <p:nvPr/>
        </p:nvSpPr>
        <p:spPr>
          <a:xfrm>
            <a:off x="3200400" y="3657600"/>
            <a:ext cx="1645920" cy="365760"/>
          </a:xfrm>
          <a:prstGeom prst="roundRect">
            <a:avLst>
              <a:gd name="adj" fmla="val 50000"/>
            </a:avLst>
          </a:prstGeom>
          <a:solidFill>
            <a:srgbClr val="3A4A9E"/>
          </a:solidFill>
          <a:ln/>
        </p:spPr>
        <p:txBody>
          <a:bodyPr/>
          <a:lstStyle/>
          <a:p>
            <a:endParaRPr lang="es-AR" noProof="0" dirty="0"/>
          </a:p>
        </p:txBody>
      </p:sp>
      <p:sp>
        <p:nvSpPr>
          <p:cNvPr id="11" name="Text 9"/>
          <p:cNvSpPr/>
          <p:nvPr/>
        </p:nvSpPr>
        <p:spPr>
          <a:xfrm>
            <a:off x="3200400" y="3657600"/>
            <a:ext cx="164592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UNIDAD I</a:t>
            </a:r>
            <a:endParaRPr lang="es-AR" sz="1200" noProof="0" dirty="0"/>
          </a:p>
        </p:txBody>
      </p:sp>
      <p:sp>
        <p:nvSpPr>
          <p:cNvPr id="12" name="Text 10"/>
          <p:cNvSpPr/>
          <p:nvPr/>
        </p:nvSpPr>
        <p:spPr>
          <a:xfrm>
            <a:off x="640080" y="6035040"/>
            <a:ext cx="5486400" cy="365760"/>
          </a:xfrm>
          <a:prstGeom prst="rect">
            <a:avLst/>
          </a:prstGeom>
          <a:noFill/>
          <a:ln/>
        </p:spPr>
        <p:txBody>
          <a:bodyPr wrap="square" rtlCol="0" anchor="ctr"/>
          <a:lstStyle/>
          <a:p>
            <a:pPr marL="0" indent="0">
              <a:buNone/>
            </a:pPr>
            <a:r>
              <a:rPr lang="es-AR" sz="1300" noProof="0" dirty="0">
                <a:solidFill>
                  <a:srgbClr val="CADCFC"/>
                </a:solidFill>
                <a:latin typeface="Calibri" pitchFamily="34" charset="0"/>
                <a:ea typeface="Calibri" pitchFamily="34" charset="-122"/>
                <a:cs typeface="Calibri" pitchFamily="34" charset="-120"/>
              </a:rPr>
              <a:t>Docente: Maximiliano Coedo</a:t>
            </a:r>
            <a:endParaRPr lang="es-AR" sz="1300" noProof="0" dirty="0"/>
          </a:p>
        </p:txBody>
      </p:sp>
      <p:sp>
        <p:nvSpPr>
          <p:cNvPr id="13" name="Text 11"/>
          <p:cNvSpPr/>
          <p:nvPr/>
        </p:nvSpPr>
        <p:spPr>
          <a:xfrm>
            <a:off x="640080" y="6355080"/>
            <a:ext cx="5486400" cy="365760"/>
          </a:xfrm>
          <a:prstGeom prst="rect">
            <a:avLst/>
          </a:prstGeom>
          <a:noFill/>
          <a:ln/>
        </p:spPr>
        <p:txBody>
          <a:bodyPr wrap="square" rtlCol="0" anchor="ctr"/>
          <a:lstStyle/>
          <a:p>
            <a:pPr marL="0" indent="0">
              <a:buNone/>
            </a:pPr>
            <a:r>
              <a:rPr lang="es-AR" sz="1200" noProof="0" dirty="0">
                <a:solidFill>
                  <a:srgbClr val="8C9BD6"/>
                </a:solidFill>
                <a:latin typeface="Calibri" pitchFamily="34" charset="0"/>
                <a:ea typeface="Calibri" pitchFamily="34" charset="-122"/>
                <a:cs typeface="Calibri" pitchFamily="34" charset="-120"/>
              </a:rPr>
              <a:t>FAIN — UADE  |  2do Cuatrimestre 2026</a:t>
            </a:r>
            <a:endParaRPr lang="es-AR" sz="12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PLAN DE LA CLASE</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Agenda — 4 horas</a:t>
            </a:r>
            <a:endParaRPr lang="es-AR" sz="3000" noProof="0" dirty="0"/>
          </a:p>
        </p:txBody>
      </p:sp>
      <p:sp>
        <p:nvSpPr>
          <p:cNvPr id="4" name="Shape 2"/>
          <p:cNvSpPr/>
          <p:nvPr/>
        </p:nvSpPr>
        <p:spPr>
          <a:xfrm>
            <a:off x="548640" y="1417320"/>
            <a:ext cx="457200" cy="310896"/>
          </a:xfrm>
          <a:prstGeom prst="roundRect">
            <a:avLst>
              <a:gd name="adj" fmla="val 23529"/>
            </a:avLst>
          </a:prstGeom>
          <a:solidFill>
            <a:srgbClr val="1E2761"/>
          </a:solidFill>
          <a:ln/>
        </p:spPr>
        <p:txBody>
          <a:bodyPr/>
          <a:lstStyle/>
          <a:p>
            <a:endParaRPr lang="es-AR" noProof="0" dirty="0"/>
          </a:p>
        </p:txBody>
      </p:sp>
      <p:sp>
        <p:nvSpPr>
          <p:cNvPr id="5" name="Text 3"/>
          <p:cNvSpPr/>
          <p:nvPr/>
        </p:nvSpPr>
        <p:spPr>
          <a:xfrm>
            <a:off x="548640" y="1417320"/>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1</a:t>
            </a:r>
            <a:endParaRPr lang="es-AR" sz="1200" noProof="0" dirty="0"/>
          </a:p>
        </p:txBody>
      </p:sp>
      <p:sp>
        <p:nvSpPr>
          <p:cNvPr id="6" name="Text 4"/>
          <p:cNvSpPr/>
          <p:nvPr/>
        </p:nvSpPr>
        <p:spPr>
          <a:xfrm>
            <a:off x="1188720" y="1399032"/>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Bienvenida y agenda</a:t>
            </a:r>
            <a:endParaRPr lang="es-AR" sz="1350" noProof="0" dirty="0"/>
          </a:p>
        </p:txBody>
      </p:sp>
      <p:sp>
        <p:nvSpPr>
          <p:cNvPr id="7" name="Text 5"/>
          <p:cNvSpPr/>
          <p:nvPr/>
        </p:nvSpPr>
        <p:spPr>
          <a:xfrm>
            <a:off x="10149840" y="1399032"/>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10 min</a:t>
            </a:r>
            <a:endParaRPr lang="es-AR" sz="1250" noProof="0" dirty="0"/>
          </a:p>
        </p:txBody>
      </p:sp>
      <p:sp>
        <p:nvSpPr>
          <p:cNvPr id="8" name="Shape 6"/>
          <p:cNvSpPr/>
          <p:nvPr/>
        </p:nvSpPr>
        <p:spPr>
          <a:xfrm>
            <a:off x="548640" y="1819656"/>
            <a:ext cx="457200" cy="310896"/>
          </a:xfrm>
          <a:prstGeom prst="roundRect">
            <a:avLst>
              <a:gd name="adj" fmla="val 23529"/>
            </a:avLst>
          </a:prstGeom>
          <a:solidFill>
            <a:srgbClr val="1E2761"/>
          </a:solidFill>
          <a:ln/>
        </p:spPr>
        <p:txBody>
          <a:bodyPr/>
          <a:lstStyle/>
          <a:p>
            <a:endParaRPr lang="es-AR" noProof="0" dirty="0"/>
          </a:p>
        </p:txBody>
      </p:sp>
      <p:sp>
        <p:nvSpPr>
          <p:cNvPr id="9" name="Text 7"/>
          <p:cNvSpPr/>
          <p:nvPr/>
        </p:nvSpPr>
        <p:spPr>
          <a:xfrm>
            <a:off x="548640" y="1819656"/>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2</a:t>
            </a:r>
            <a:endParaRPr lang="es-AR" sz="1200" noProof="0" dirty="0"/>
          </a:p>
        </p:txBody>
      </p:sp>
      <p:sp>
        <p:nvSpPr>
          <p:cNvPr id="10" name="Text 8"/>
          <p:cNvSpPr/>
          <p:nvPr/>
        </p:nvSpPr>
        <p:spPr>
          <a:xfrm>
            <a:off x="1188720" y="1801368"/>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¿Qué es un TDA? Definición y motivación</a:t>
            </a:r>
            <a:endParaRPr lang="es-AR" sz="1350" noProof="0" dirty="0"/>
          </a:p>
        </p:txBody>
      </p:sp>
      <p:sp>
        <p:nvSpPr>
          <p:cNvPr id="11" name="Text 9"/>
          <p:cNvSpPr/>
          <p:nvPr/>
        </p:nvSpPr>
        <p:spPr>
          <a:xfrm>
            <a:off x="10149840" y="1801368"/>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25 min</a:t>
            </a:r>
            <a:endParaRPr lang="es-AR" sz="1250" noProof="0" dirty="0"/>
          </a:p>
        </p:txBody>
      </p:sp>
      <p:sp>
        <p:nvSpPr>
          <p:cNvPr id="12" name="Shape 10"/>
          <p:cNvSpPr/>
          <p:nvPr/>
        </p:nvSpPr>
        <p:spPr>
          <a:xfrm>
            <a:off x="548640" y="2221992"/>
            <a:ext cx="457200" cy="310896"/>
          </a:xfrm>
          <a:prstGeom prst="roundRect">
            <a:avLst>
              <a:gd name="adj" fmla="val 23529"/>
            </a:avLst>
          </a:prstGeom>
          <a:solidFill>
            <a:srgbClr val="1E2761"/>
          </a:solidFill>
          <a:ln/>
        </p:spPr>
        <p:txBody>
          <a:bodyPr/>
          <a:lstStyle/>
          <a:p>
            <a:endParaRPr lang="es-AR" noProof="0" dirty="0"/>
          </a:p>
        </p:txBody>
      </p:sp>
      <p:sp>
        <p:nvSpPr>
          <p:cNvPr id="13" name="Text 11"/>
          <p:cNvSpPr/>
          <p:nvPr/>
        </p:nvSpPr>
        <p:spPr>
          <a:xfrm>
            <a:off x="548640" y="2221992"/>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3</a:t>
            </a:r>
            <a:endParaRPr lang="es-AR" sz="1200" noProof="0" dirty="0"/>
          </a:p>
        </p:txBody>
      </p:sp>
      <p:sp>
        <p:nvSpPr>
          <p:cNvPr id="14" name="Text 12"/>
          <p:cNvSpPr/>
          <p:nvPr/>
        </p:nvSpPr>
        <p:spPr>
          <a:xfrm>
            <a:off x="1188720" y="2203704"/>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Características de un TDA y </a:t>
            </a:r>
            <a:r>
              <a:rPr lang="es-AR" sz="1350" noProof="0" dirty="0" err="1">
                <a:solidFill>
                  <a:srgbClr val="1C1C2A"/>
                </a:solidFill>
                <a:latin typeface="Calibri" pitchFamily="34" charset="0"/>
                <a:ea typeface="Calibri" pitchFamily="34" charset="-122"/>
                <a:cs typeface="Calibri" pitchFamily="34" charset="-120"/>
              </a:rPr>
              <a:t>TDAs</a:t>
            </a:r>
            <a:r>
              <a:rPr lang="es-AR" sz="1350" noProof="0" dirty="0">
                <a:solidFill>
                  <a:srgbClr val="1C1C2A"/>
                </a:solidFill>
                <a:latin typeface="Calibri" pitchFamily="34" charset="0"/>
                <a:ea typeface="Calibri" pitchFamily="34" charset="-122"/>
                <a:cs typeface="Calibri" pitchFamily="34" charset="-120"/>
              </a:rPr>
              <a:t> de la materia</a:t>
            </a:r>
            <a:endParaRPr lang="es-AR" sz="1350" noProof="0" dirty="0"/>
          </a:p>
        </p:txBody>
      </p:sp>
      <p:sp>
        <p:nvSpPr>
          <p:cNvPr id="15" name="Text 13"/>
          <p:cNvSpPr/>
          <p:nvPr/>
        </p:nvSpPr>
        <p:spPr>
          <a:xfrm>
            <a:off x="10149840" y="2203704"/>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20 min</a:t>
            </a:r>
            <a:endParaRPr lang="es-AR" sz="1250" noProof="0" dirty="0"/>
          </a:p>
        </p:txBody>
      </p:sp>
      <p:sp>
        <p:nvSpPr>
          <p:cNvPr id="16" name="Shape 14"/>
          <p:cNvSpPr/>
          <p:nvPr/>
        </p:nvSpPr>
        <p:spPr>
          <a:xfrm>
            <a:off x="548640" y="2624328"/>
            <a:ext cx="457200" cy="310896"/>
          </a:xfrm>
          <a:prstGeom prst="roundRect">
            <a:avLst>
              <a:gd name="adj" fmla="val 23529"/>
            </a:avLst>
          </a:prstGeom>
          <a:solidFill>
            <a:srgbClr val="1E2761"/>
          </a:solidFill>
          <a:ln/>
        </p:spPr>
        <p:txBody>
          <a:bodyPr/>
          <a:lstStyle/>
          <a:p>
            <a:endParaRPr lang="es-AR" noProof="0" dirty="0"/>
          </a:p>
        </p:txBody>
      </p:sp>
      <p:sp>
        <p:nvSpPr>
          <p:cNvPr id="17" name="Text 15"/>
          <p:cNvSpPr/>
          <p:nvPr/>
        </p:nvSpPr>
        <p:spPr>
          <a:xfrm>
            <a:off x="548640" y="2624328"/>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4</a:t>
            </a:r>
            <a:endParaRPr lang="es-AR" sz="1200" noProof="0" dirty="0"/>
          </a:p>
        </p:txBody>
      </p:sp>
      <p:sp>
        <p:nvSpPr>
          <p:cNvPr id="18" name="Text 16"/>
          <p:cNvSpPr/>
          <p:nvPr/>
        </p:nvSpPr>
        <p:spPr>
          <a:xfrm>
            <a:off x="1188720" y="2606040"/>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Notación de especificación + ejemplo TDA Pila</a:t>
            </a:r>
            <a:endParaRPr lang="es-AR" sz="1350" noProof="0" dirty="0"/>
          </a:p>
        </p:txBody>
      </p:sp>
      <p:sp>
        <p:nvSpPr>
          <p:cNvPr id="19" name="Text 17"/>
          <p:cNvSpPr/>
          <p:nvPr/>
        </p:nvSpPr>
        <p:spPr>
          <a:xfrm>
            <a:off x="10149840" y="2606040"/>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25 min</a:t>
            </a:r>
            <a:endParaRPr lang="es-AR" sz="1250" noProof="0" dirty="0"/>
          </a:p>
        </p:txBody>
      </p:sp>
      <p:sp>
        <p:nvSpPr>
          <p:cNvPr id="20" name="Shape 18"/>
          <p:cNvSpPr/>
          <p:nvPr/>
        </p:nvSpPr>
        <p:spPr>
          <a:xfrm>
            <a:off x="548640" y="3026664"/>
            <a:ext cx="457200" cy="310896"/>
          </a:xfrm>
          <a:prstGeom prst="roundRect">
            <a:avLst>
              <a:gd name="adj" fmla="val 23529"/>
            </a:avLst>
          </a:prstGeom>
          <a:solidFill>
            <a:srgbClr val="1E2761"/>
          </a:solidFill>
          <a:ln/>
        </p:spPr>
        <p:txBody>
          <a:bodyPr/>
          <a:lstStyle/>
          <a:p>
            <a:endParaRPr lang="es-AR" noProof="0" dirty="0"/>
          </a:p>
        </p:txBody>
      </p:sp>
      <p:sp>
        <p:nvSpPr>
          <p:cNvPr id="21" name="Text 19"/>
          <p:cNvSpPr/>
          <p:nvPr/>
        </p:nvSpPr>
        <p:spPr>
          <a:xfrm>
            <a:off x="548640" y="3026664"/>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5</a:t>
            </a:r>
            <a:endParaRPr lang="es-AR" sz="1200" noProof="0" dirty="0"/>
          </a:p>
        </p:txBody>
      </p:sp>
      <p:sp>
        <p:nvSpPr>
          <p:cNvPr id="22" name="Text 20"/>
          <p:cNvSpPr/>
          <p:nvPr/>
        </p:nvSpPr>
        <p:spPr>
          <a:xfrm>
            <a:off x="1188720" y="3008376"/>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Ejercicio 1 — Especificar TDA Cola</a:t>
            </a:r>
            <a:endParaRPr lang="es-AR" sz="1350" noProof="0" dirty="0"/>
          </a:p>
        </p:txBody>
      </p:sp>
      <p:sp>
        <p:nvSpPr>
          <p:cNvPr id="23" name="Text 21"/>
          <p:cNvSpPr/>
          <p:nvPr/>
        </p:nvSpPr>
        <p:spPr>
          <a:xfrm>
            <a:off x="10149840" y="3008376"/>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30 min</a:t>
            </a:r>
            <a:endParaRPr lang="es-AR" sz="1250" noProof="0" dirty="0"/>
          </a:p>
        </p:txBody>
      </p:sp>
      <p:sp>
        <p:nvSpPr>
          <p:cNvPr id="24" name="Shape 22"/>
          <p:cNvSpPr/>
          <p:nvPr/>
        </p:nvSpPr>
        <p:spPr>
          <a:xfrm>
            <a:off x="548640" y="3429000"/>
            <a:ext cx="457200" cy="310896"/>
          </a:xfrm>
          <a:prstGeom prst="roundRect">
            <a:avLst>
              <a:gd name="adj" fmla="val 23529"/>
            </a:avLst>
          </a:prstGeom>
          <a:solidFill>
            <a:srgbClr val="5B6472"/>
          </a:solidFill>
          <a:ln/>
        </p:spPr>
        <p:txBody>
          <a:bodyPr/>
          <a:lstStyle/>
          <a:p>
            <a:endParaRPr lang="es-AR" noProof="0" dirty="0"/>
          </a:p>
        </p:txBody>
      </p:sp>
      <p:sp>
        <p:nvSpPr>
          <p:cNvPr id="25" name="Text 23"/>
          <p:cNvSpPr/>
          <p:nvPr/>
        </p:nvSpPr>
        <p:spPr>
          <a:xfrm>
            <a:off x="548640" y="3429000"/>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6</a:t>
            </a:r>
            <a:endParaRPr lang="es-AR" sz="1200" noProof="0" dirty="0"/>
          </a:p>
        </p:txBody>
      </p:sp>
      <p:sp>
        <p:nvSpPr>
          <p:cNvPr id="26" name="Text 24"/>
          <p:cNvSpPr/>
          <p:nvPr/>
        </p:nvSpPr>
        <p:spPr>
          <a:xfrm>
            <a:off x="1188720" y="3410712"/>
            <a:ext cx="8869680" cy="347472"/>
          </a:xfrm>
          <a:prstGeom prst="rect">
            <a:avLst/>
          </a:prstGeom>
          <a:noFill/>
          <a:ln/>
        </p:spPr>
        <p:txBody>
          <a:bodyPr wrap="square" rtlCol="0" anchor="ctr"/>
          <a:lstStyle/>
          <a:p>
            <a:pPr marL="0" indent="0">
              <a:buNone/>
            </a:pPr>
            <a:r>
              <a:rPr lang="es-AR" sz="1350" i="1" noProof="0" dirty="0">
                <a:solidFill>
                  <a:srgbClr val="5B6472"/>
                </a:solidFill>
                <a:latin typeface="Calibri" pitchFamily="34" charset="0"/>
                <a:ea typeface="Calibri" pitchFamily="34" charset="-122"/>
                <a:cs typeface="Calibri" pitchFamily="34" charset="-120"/>
              </a:rPr>
              <a:t>Descanso</a:t>
            </a:r>
            <a:endParaRPr lang="es-AR" sz="1350" noProof="0" dirty="0"/>
          </a:p>
        </p:txBody>
      </p:sp>
      <p:sp>
        <p:nvSpPr>
          <p:cNvPr id="27" name="Text 25"/>
          <p:cNvSpPr/>
          <p:nvPr/>
        </p:nvSpPr>
        <p:spPr>
          <a:xfrm>
            <a:off x="10149840" y="3410712"/>
            <a:ext cx="1463040" cy="347472"/>
          </a:xfrm>
          <a:prstGeom prst="rect">
            <a:avLst/>
          </a:prstGeom>
          <a:noFill/>
          <a:ln/>
        </p:spPr>
        <p:txBody>
          <a:bodyPr wrap="square" rtlCol="0" anchor="ctr"/>
          <a:lstStyle/>
          <a:p>
            <a:pPr marL="0" indent="0" algn="r">
              <a:buNone/>
            </a:pPr>
            <a:r>
              <a:rPr lang="es-AR" sz="1250" b="1" noProof="0" dirty="0">
                <a:solidFill>
                  <a:srgbClr val="5B6472"/>
                </a:solidFill>
                <a:latin typeface="Calibri" pitchFamily="34" charset="0"/>
                <a:ea typeface="Calibri" pitchFamily="34" charset="-122"/>
                <a:cs typeface="Calibri" pitchFamily="34" charset="-120"/>
              </a:rPr>
              <a:t>15 min</a:t>
            </a:r>
            <a:endParaRPr lang="es-AR" sz="1250" noProof="0" dirty="0"/>
          </a:p>
        </p:txBody>
      </p:sp>
      <p:sp>
        <p:nvSpPr>
          <p:cNvPr id="28" name="Shape 26"/>
          <p:cNvSpPr/>
          <p:nvPr/>
        </p:nvSpPr>
        <p:spPr>
          <a:xfrm>
            <a:off x="548640" y="3831336"/>
            <a:ext cx="457200" cy="310896"/>
          </a:xfrm>
          <a:prstGeom prst="roundRect">
            <a:avLst>
              <a:gd name="adj" fmla="val 23529"/>
            </a:avLst>
          </a:prstGeom>
          <a:solidFill>
            <a:srgbClr val="1E2761"/>
          </a:solidFill>
          <a:ln/>
        </p:spPr>
        <p:txBody>
          <a:bodyPr/>
          <a:lstStyle/>
          <a:p>
            <a:endParaRPr lang="es-AR" noProof="0" dirty="0"/>
          </a:p>
        </p:txBody>
      </p:sp>
      <p:sp>
        <p:nvSpPr>
          <p:cNvPr id="29" name="Text 27"/>
          <p:cNvSpPr/>
          <p:nvPr/>
        </p:nvSpPr>
        <p:spPr>
          <a:xfrm>
            <a:off x="548640" y="3831336"/>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7</a:t>
            </a:r>
            <a:endParaRPr lang="es-AR" sz="1200" noProof="0" dirty="0"/>
          </a:p>
        </p:txBody>
      </p:sp>
      <p:sp>
        <p:nvSpPr>
          <p:cNvPr id="30" name="Text 28"/>
          <p:cNvSpPr/>
          <p:nvPr/>
        </p:nvSpPr>
        <p:spPr>
          <a:xfrm>
            <a:off x="1188720" y="3813048"/>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Fundamentos de Java: clases, tipos, modificadores</a:t>
            </a:r>
            <a:endParaRPr lang="es-AR" sz="1350" noProof="0" dirty="0"/>
          </a:p>
        </p:txBody>
      </p:sp>
      <p:sp>
        <p:nvSpPr>
          <p:cNvPr id="31" name="Text 29"/>
          <p:cNvSpPr/>
          <p:nvPr/>
        </p:nvSpPr>
        <p:spPr>
          <a:xfrm>
            <a:off x="10149840" y="3813048"/>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20 min</a:t>
            </a:r>
            <a:endParaRPr lang="es-AR" sz="1250" noProof="0" dirty="0"/>
          </a:p>
        </p:txBody>
      </p:sp>
      <p:sp>
        <p:nvSpPr>
          <p:cNvPr id="32" name="Shape 30"/>
          <p:cNvSpPr/>
          <p:nvPr/>
        </p:nvSpPr>
        <p:spPr>
          <a:xfrm>
            <a:off x="548640" y="4233672"/>
            <a:ext cx="457200" cy="310896"/>
          </a:xfrm>
          <a:prstGeom prst="roundRect">
            <a:avLst>
              <a:gd name="adj" fmla="val 23529"/>
            </a:avLst>
          </a:prstGeom>
          <a:solidFill>
            <a:srgbClr val="1E2761"/>
          </a:solidFill>
          <a:ln/>
        </p:spPr>
        <p:txBody>
          <a:bodyPr/>
          <a:lstStyle/>
          <a:p>
            <a:endParaRPr lang="es-AR" noProof="0" dirty="0"/>
          </a:p>
        </p:txBody>
      </p:sp>
      <p:sp>
        <p:nvSpPr>
          <p:cNvPr id="33" name="Text 31"/>
          <p:cNvSpPr/>
          <p:nvPr/>
        </p:nvSpPr>
        <p:spPr>
          <a:xfrm>
            <a:off x="548640" y="4233672"/>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8</a:t>
            </a:r>
            <a:endParaRPr lang="es-AR" sz="1200" noProof="0" dirty="0"/>
          </a:p>
        </p:txBody>
      </p:sp>
      <p:sp>
        <p:nvSpPr>
          <p:cNvPr id="34" name="Text 32"/>
          <p:cNvSpPr/>
          <p:nvPr/>
        </p:nvSpPr>
        <p:spPr>
          <a:xfrm>
            <a:off x="1188720" y="4215384"/>
            <a:ext cx="8869680" cy="347472"/>
          </a:xfrm>
          <a:prstGeom prst="rect">
            <a:avLst/>
          </a:prstGeom>
          <a:noFill/>
          <a:ln/>
        </p:spPr>
        <p:txBody>
          <a:bodyPr wrap="square" rtlCol="0" anchor="ctr"/>
          <a:lstStyle/>
          <a:p>
            <a:pPr marL="0" indent="0">
              <a:buNone/>
            </a:pPr>
            <a:r>
              <a:rPr lang="es-AR" sz="1350" noProof="0" dirty="0" err="1">
                <a:solidFill>
                  <a:srgbClr val="1C1C2A"/>
                </a:solidFill>
                <a:latin typeface="Calibri" pitchFamily="34" charset="0"/>
                <a:ea typeface="Calibri" pitchFamily="34" charset="-122"/>
                <a:cs typeface="Calibri" pitchFamily="34" charset="-120"/>
              </a:rPr>
              <a:t>this</a:t>
            </a:r>
            <a:r>
              <a:rPr lang="es-AR" sz="1350" noProof="0" dirty="0">
                <a:solidFill>
                  <a:srgbClr val="1C1C2A"/>
                </a:solidFill>
                <a:latin typeface="Calibri" pitchFamily="34" charset="0"/>
                <a:ea typeface="Calibri" pitchFamily="34" charset="-122"/>
                <a:cs typeface="Calibri" pitchFamily="34" charset="-120"/>
              </a:rPr>
              <a:t>, constructores, paso de parámetros</a:t>
            </a:r>
            <a:endParaRPr lang="es-AR" sz="1350" noProof="0" dirty="0"/>
          </a:p>
        </p:txBody>
      </p:sp>
      <p:sp>
        <p:nvSpPr>
          <p:cNvPr id="35" name="Text 33"/>
          <p:cNvSpPr/>
          <p:nvPr/>
        </p:nvSpPr>
        <p:spPr>
          <a:xfrm>
            <a:off x="10149840" y="4215384"/>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15 min</a:t>
            </a:r>
            <a:endParaRPr lang="es-AR" sz="1250" noProof="0" dirty="0"/>
          </a:p>
        </p:txBody>
      </p:sp>
      <p:sp>
        <p:nvSpPr>
          <p:cNvPr id="36" name="Shape 34"/>
          <p:cNvSpPr/>
          <p:nvPr/>
        </p:nvSpPr>
        <p:spPr>
          <a:xfrm>
            <a:off x="548640" y="4636008"/>
            <a:ext cx="457200" cy="310896"/>
          </a:xfrm>
          <a:prstGeom prst="roundRect">
            <a:avLst>
              <a:gd name="adj" fmla="val 23529"/>
            </a:avLst>
          </a:prstGeom>
          <a:solidFill>
            <a:srgbClr val="1E2761"/>
          </a:solidFill>
          <a:ln/>
        </p:spPr>
        <p:txBody>
          <a:bodyPr/>
          <a:lstStyle/>
          <a:p>
            <a:endParaRPr lang="es-AR" noProof="0" dirty="0"/>
          </a:p>
        </p:txBody>
      </p:sp>
      <p:sp>
        <p:nvSpPr>
          <p:cNvPr id="37" name="Text 35"/>
          <p:cNvSpPr/>
          <p:nvPr/>
        </p:nvSpPr>
        <p:spPr>
          <a:xfrm>
            <a:off x="548640" y="4636008"/>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9</a:t>
            </a:r>
            <a:endParaRPr lang="es-AR" sz="1200" noProof="0" dirty="0"/>
          </a:p>
        </p:txBody>
      </p:sp>
      <p:sp>
        <p:nvSpPr>
          <p:cNvPr id="38" name="Text 36"/>
          <p:cNvSpPr/>
          <p:nvPr/>
        </p:nvSpPr>
        <p:spPr>
          <a:xfrm>
            <a:off x="1188720" y="4617720"/>
            <a:ext cx="8869680" cy="347472"/>
          </a:xfrm>
          <a:prstGeom prst="rect">
            <a:avLst/>
          </a:prstGeom>
          <a:noFill/>
          <a:ln/>
        </p:spPr>
        <p:txBody>
          <a:bodyPr wrap="square" rtlCol="0" anchor="ctr"/>
          <a:lstStyle/>
          <a:p>
            <a:pPr marL="0" indent="0">
              <a:buNone/>
            </a:pPr>
            <a:r>
              <a:rPr lang="es-AR" sz="1350" noProof="0" dirty="0" err="1">
                <a:solidFill>
                  <a:srgbClr val="1C1C2A"/>
                </a:solidFill>
                <a:latin typeface="Calibri" pitchFamily="34" charset="0"/>
                <a:ea typeface="Calibri" pitchFamily="34" charset="-122"/>
                <a:cs typeface="Calibri" pitchFamily="34" charset="-120"/>
              </a:rPr>
              <a:t>Arrays</a:t>
            </a:r>
            <a:r>
              <a:rPr lang="es-AR" sz="1350" noProof="0" dirty="0">
                <a:solidFill>
                  <a:srgbClr val="1C1C2A"/>
                </a:solidFill>
                <a:latin typeface="Calibri" pitchFamily="34" charset="0"/>
                <a:ea typeface="Calibri" pitchFamily="34" charset="-122"/>
                <a:cs typeface="Calibri" pitchFamily="34" charset="-120"/>
              </a:rPr>
              <a:t> y sobrecarga de métodos</a:t>
            </a:r>
            <a:endParaRPr lang="es-AR" sz="1350" noProof="0" dirty="0"/>
          </a:p>
        </p:txBody>
      </p:sp>
      <p:sp>
        <p:nvSpPr>
          <p:cNvPr id="39" name="Text 37"/>
          <p:cNvSpPr/>
          <p:nvPr/>
        </p:nvSpPr>
        <p:spPr>
          <a:xfrm>
            <a:off x="10149840" y="4617720"/>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15 min</a:t>
            </a:r>
            <a:endParaRPr lang="es-AR" sz="1250" noProof="0" dirty="0"/>
          </a:p>
        </p:txBody>
      </p:sp>
      <p:sp>
        <p:nvSpPr>
          <p:cNvPr id="40" name="Shape 38"/>
          <p:cNvSpPr/>
          <p:nvPr/>
        </p:nvSpPr>
        <p:spPr>
          <a:xfrm>
            <a:off x="548640" y="5038344"/>
            <a:ext cx="457200" cy="310896"/>
          </a:xfrm>
          <a:prstGeom prst="roundRect">
            <a:avLst>
              <a:gd name="adj" fmla="val 23529"/>
            </a:avLst>
          </a:prstGeom>
          <a:solidFill>
            <a:srgbClr val="1E2761"/>
          </a:solidFill>
          <a:ln/>
        </p:spPr>
        <p:txBody>
          <a:bodyPr/>
          <a:lstStyle/>
          <a:p>
            <a:endParaRPr lang="es-AR" noProof="0" dirty="0"/>
          </a:p>
        </p:txBody>
      </p:sp>
      <p:sp>
        <p:nvSpPr>
          <p:cNvPr id="41" name="Text 39"/>
          <p:cNvSpPr/>
          <p:nvPr/>
        </p:nvSpPr>
        <p:spPr>
          <a:xfrm>
            <a:off x="548640" y="5038344"/>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10</a:t>
            </a:r>
            <a:endParaRPr lang="es-AR" sz="1200" noProof="0" dirty="0"/>
          </a:p>
        </p:txBody>
      </p:sp>
      <p:sp>
        <p:nvSpPr>
          <p:cNvPr id="42" name="Text 40"/>
          <p:cNvSpPr/>
          <p:nvPr/>
        </p:nvSpPr>
        <p:spPr>
          <a:xfrm>
            <a:off x="1188720" y="5020056"/>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Ejercicio 2 — Clase Java (Persona/Producto)</a:t>
            </a:r>
            <a:endParaRPr lang="es-AR" sz="1350" noProof="0" dirty="0"/>
          </a:p>
        </p:txBody>
      </p:sp>
      <p:sp>
        <p:nvSpPr>
          <p:cNvPr id="43" name="Text 41"/>
          <p:cNvSpPr/>
          <p:nvPr/>
        </p:nvSpPr>
        <p:spPr>
          <a:xfrm>
            <a:off x="10149840" y="5020056"/>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25 min</a:t>
            </a:r>
            <a:endParaRPr lang="es-AR" sz="1250" noProof="0" dirty="0"/>
          </a:p>
        </p:txBody>
      </p:sp>
      <p:sp>
        <p:nvSpPr>
          <p:cNvPr id="44" name="Shape 42"/>
          <p:cNvSpPr/>
          <p:nvPr/>
        </p:nvSpPr>
        <p:spPr>
          <a:xfrm>
            <a:off x="548640" y="5440680"/>
            <a:ext cx="457200" cy="310896"/>
          </a:xfrm>
          <a:prstGeom prst="roundRect">
            <a:avLst>
              <a:gd name="adj" fmla="val 23529"/>
            </a:avLst>
          </a:prstGeom>
          <a:solidFill>
            <a:srgbClr val="1E2761"/>
          </a:solidFill>
          <a:ln/>
        </p:spPr>
        <p:txBody>
          <a:bodyPr/>
          <a:lstStyle/>
          <a:p>
            <a:endParaRPr lang="es-AR" noProof="0" dirty="0"/>
          </a:p>
        </p:txBody>
      </p:sp>
      <p:sp>
        <p:nvSpPr>
          <p:cNvPr id="45" name="Text 43"/>
          <p:cNvSpPr/>
          <p:nvPr/>
        </p:nvSpPr>
        <p:spPr>
          <a:xfrm>
            <a:off x="548640" y="5440680"/>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11</a:t>
            </a:r>
            <a:endParaRPr lang="es-AR" sz="1200" noProof="0" dirty="0"/>
          </a:p>
        </p:txBody>
      </p:sp>
      <p:sp>
        <p:nvSpPr>
          <p:cNvPr id="46" name="Text 44"/>
          <p:cNvSpPr/>
          <p:nvPr/>
        </p:nvSpPr>
        <p:spPr>
          <a:xfrm>
            <a:off x="1188720" y="5422392"/>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TDA ↔ Java + Ejercicio 3 integrador (TDA Conjunto)</a:t>
            </a:r>
            <a:endParaRPr lang="es-AR" sz="1350" noProof="0" dirty="0"/>
          </a:p>
        </p:txBody>
      </p:sp>
      <p:sp>
        <p:nvSpPr>
          <p:cNvPr id="47" name="Text 45"/>
          <p:cNvSpPr/>
          <p:nvPr/>
        </p:nvSpPr>
        <p:spPr>
          <a:xfrm>
            <a:off x="10149840" y="5422392"/>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30 min</a:t>
            </a:r>
            <a:endParaRPr lang="es-AR" sz="1250" noProof="0" dirty="0"/>
          </a:p>
        </p:txBody>
      </p:sp>
      <p:sp>
        <p:nvSpPr>
          <p:cNvPr id="48" name="Shape 46"/>
          <p:cNvSpPr/>
          <p:nvPr/>
        </p:nvSpPr>
        <p:spPr>
          <a:xfrm>
            <a:off x="548640" y="5843016"/>
            <a:ext cx="457200" cy="310896"/>
          </a:xfrm>
          <a:prstGeom prst="roundRect">
            <a:avLst>
              <a:gd name="adj" fmla="val 23529"/>
            </a:avLst>
          </a:prstGeom>
          <a:solidFill>
            <a:srgbClr val="1E2761"/>
          </a:solidFill>
          <a:ln/>
        </p:spPr>
        <p:txBody>
          <a:bodyPr/>
          <a:lstStyle/>
          <a:p>
            <a:endParaRPr lang="es-AR" noProof="0" dirty="0"/>
          </a:p>
        </p:txBody>
      </p:sp>
      <p:sp>
        <p:nvSpPr>
          <p:cNvPr id="49" name="Text 47"/>
          <p:cNvSpPr/>
          <p:nvPr/>
        </p:nvSpPr>
        <p:spPr>
          <a:xfrm>
            <a:off x="548640" y="5843016"/>
            <a:ext cx="457200" cy="310896"/>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12</a:t>
            </a:r>
            <a:endParaRPr lang="es-AR" sz="1200" noProof="0" dirty="0"/>
          </a:p>
        </p:txBody>
      </p:sp>
      <p:sp>
        <p:nvSpPr>
          <p:cNvPr id="50" name="Text 48"/>
          <p:cNvSpPr/>
          <p:nvPr/>
        </p:nvSpPr>
        <p:spPr>
          <a:xfrm>
            <a:off x="1188720" y="5824728"/>
            <a:ext cx="8869680" cy="347472"/>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Cierre, resumen y para la próxima clase</a:t>
            </a:r>
            <a:endParaRPr lang="es-AR" sz="1350" noProof="0" dirty="0"/>
          </a:p>
        </p:txBody>
      </p:sp>
      <p:sp>
        <p:nvSpPr>
          <p:cNvPr id="51" name="Text 49"/>
          <p:cNvSpPr/>
          <p:nvPr/>
        </p:nvSpPr>
        <p:spPr>
          <a:xfrm>
            <a:off x="10149840" y="5824728"/>
            <a:ext cx="1463040" cy="347472"/>
          </a:xfrm>
          <a:prstGeom prst="rect">
            <a:avLst/>
          </a:prstGeom>
          <a:noFill/>
          <a:ln/>
        </p:spPr>
        <p:txBody>
          <a:bodyPr wrap="square" rtlCol="0" anchor="ctr"/>
          <a:lstStyle/>
          <a:p>
            <a:pPr marL="0" indent="0" algn="r">
              <a:buNone/>
            </a:pPr>
            <a:r>
              <a:rPr lang="es-AR" sz="1250" b="1" noProof="0" dirty="0">
                <a:solidFill>
                  <a:srgbClr val="E8A33D"/>
                </a:solidFill>
                <a:latin typeface="Calibri" pitchFamily="34" charset="0"/>
                <a:ea typeface="Calibri" pitchFamily="34" charset="-122"/>
                <a:cs typeface="Calibri" pitchFamily="34" charset="-120"/>
              </a:rPr>
              <a:t>10 min</a:t>
            </a:r>
            <a:endParaRPr lang="es-AR" sz="1250" noProof="0" dirty="0"/>
          </a:p>
        </p:txBody>
      </p:sp>
      <p:sp>
        <p:nvSpPr>
          <p:cNvPr id="52" name="Text 50"/>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53" name="Text 51"/>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a:t>
            </a:r>
            <a:endParaRPr lang="es-AR" sz="10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4114800"/>
            <a:ext cx="4572000" cy="4572000"/>
          </a:xfrm>
          <a:prstGeom prst="ellipse">
            <a:avLst/>
          </a:prstGeom>
          <a:solidFill>
            <a:srgbClr val="263876"/>
          </a:solidFill>
          <a:ln/>
        </p:spPr>
        <p:txBody>
          <a:bodyPr/>
          <a:lstStyle/>
          <a:p>
            <a:endParaRPr lang="es-AR" noProof="0" dirty="0"/>
          </a:p>
        </p:txBody>
      </p:sp>
      <p:sp>
        <p:nvSpPr>
          <p:cNvPr id="3" name="Text 1"/>
          <p:cNvSpPr/>
          <p:nvPr/>
        </p:nvSpPr>
        <p:spPr>
          <a:xfrm>
            <a:off x="731520" y="2468880"/>
            <a:ext cx="7315200" cy="365760"/>
          </a:xfrm>
          <a:prstGeom prst="rect">
            <a:avLst/>
          </a:prstGeom>
          <a:noFill/>
          <a:ln/>
        </p:spPr>
        <p:txBody>
          <a:bodyPr wrap="square" rtlCol="0" anchor="ctr"/>
          <a:lstStyle/>
          <a:p>
            <a:pPr marL="0" indent="0">
              <a:buNone/>
            </a:pPr>
            <a:r>
              <a:rPr lang="es-AR" sz="1400" b="1" kern="0" spc="200" noProof="0" dirty="0">
                <a:solidFill>
                  <a:srgbClr val="E8A33D"/>
                </a:solidFill>
                <a:latin typeface="Calibri" pitchFamily="34" charset="0"/>
                <a:ea typeface="Calibri" pitchFamily="34" charset="-122"/>
                <a:cs typeface="Calibri" pitchFamily="34" charset="-120"/>
              </a:rPr>
              <a:t>BLOQUE 2</a:t>
            </a:r>
            <a:endParaRPr lang="es-AR" sz="1400" noProof="0" dirty="0"/>
          </a:p>
        </p:txBody>
      </p:sp>
      <p:sp>
        <p:nvSpPr>
          <p:cNvPr id="4" name="Text 2"/>
          <p:cNvSpPr/>
          <p:nvPr/>
        </p:nvSpPr>
        <p:spPr>
          <a:xfrm>
            <a:off x="731520" y="2834640"/>
            <a:ext cx="10058400" cy="1280160"/>
          </a:xfrm>
          <a:prstGeom prst="rect">
            <a:avLst/>
          </a:prstGeom>
          <a:noFill/>
          <a:ln/>
        </p:spPr>
        <p:txBody>
          <a:bodyPr wrap="square" rtlCol="0" anchor="ctr"/>
          <a:lstStyle/>
          <a:p>
            <a:pPr marL="0" indent="0">
              <a:buNone/>
            </a:pPr>
            <a:r>
              <a:rPr lang="es-AR" sz="3800" b="1" noProof="0" dirty="0">
                <a:solidFill>
                  <a:srgbClr val="FFFFFF"/>
                </a:solidFill>
                <a:latin typeface="Cambria" pitchFamily="34" charset="0"/>
                <a:ea typeface="Cambria" pitchFamily="34" charset="-122"/>
                <a:cs typeface="Cambria" pitchFamily="34" charset="-120"/>
              </a:rPr>
              <a:t>¿Qué es un TDA?</a:t>
            </a:r>
            <a:endParaRPr lang="es-AR" sz="3800" noProof="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a:t>
            </a:r>
            <a:endParaRPr lang="es-AR" sz="10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2</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Definición de Tipo de Dato Abstracto</a:t>
            </a:r>
            <a:endParaRPr lang="es-AR" sz="3000" noProof="0" dirty="0"/>
          </a:p>
        </p:txBody>
      </p:sp>
      <p:sp>
        <p:nvSpPr>
          <p:cNvPr id="4" name="Shape 2"/>
          <p:cNvSpPr/>
          <p:nvPr/>
        </p:nvSpPr>
        <p:spPr>
          <a:xfrm>
            <a:off x="548640" y="1463040"/>
            <a:ext cx="5486400" cy="4206240"/>
          </a:xfrm>
          <a:prstGeom prst="roundRect">
            <a:avLst>
              <a:gd name="adj" fmla="val 2174"/>
            </a:avLst>
          </a:prstGeom>
          <a:solidFill>
            <a:srgbClr val="F5F7FC"/>
          </a:solidFill>
          <a:ln w="12700">
            <a:solidFill>
              <a:srgbClr val="CADCFC"/>
            </a:solidFill>
            <a:prstDash val="solid"/>
          </a:ln>
        </p:spPr>
        <p:txBody>
          <a:bodyPr/>
          <a:lstStyle/>
          <a:p>
            <a:endParaRPr lang="es-AR" noProof="0" dirty="0"/>
          </a:p>
        </p:txBody>
      </p:sp>
      <p:sp>
        <p:nvSpPr>
          <p:cNvPr id="5" name="Text 3"/>
          <p:cNvSpPr/>
          <p:nvPr/>
        </p:nvSpPr>
        <p:spPr>
          <a:xfrm>
            <a:off x="868680" y="1737360"/>
            <a:ext cx="4846320" cy="1828800"/>
          </a:xfrm>
          <a:prstGeom prst="rect">
            <a:avLst/>
          </a:prstGeom>
          <a:noFill/>
          <a:ln/>
        </p:spPr>
        <p:txBody>
          <a:bodyPr wrap="square" rtlCol="0" anchor="t"/>
          <a:lstStyle/>
          <a:p>
            <a:pPr marL="0" indent="0">
              <a:buNone/>
            </a:pPr>
            <a:r>
              <a:rPr lang="es-AR" sz="1500" noProof="0" dirty="0">
                <a:solidFill>
                  <a:srgbClr val="1C1C2A"/>
                </a:solidFill>
                <a:latin typeface="Calibri" pitchFamily="34" charset="0"/>
                <a:ea typeface="Calibri" pitchFamily="34" charset="-122"/>
                <a:cs typeface="Calibri" pitchFamily="34" charset="-120"/>
              </a:rPr>
              <a:t>Un Tipo de Dato Abstracto (TDA) es un modelo lógico de un conjunto de datos, junto con las operaciones que pueden realizarse sobre ellos — sin especificar cómo se implementan internamente.</a:t>
            </a:r>
            <a:endParaRPr lang="es-AR" sz="1500" noProof="0" dirty="0"/>
          </a:p>
        </p:txBody>
      </p:sp>
      <p:sp>
        <p:nvSpPr>
          <p:cNvPr id="6" name="Shape 4"/>
          <p:cNvSpPr/>
          <p:nvPr/>
        </p:nvSpPr>
        <p:spPr>
          <a:xfrm>
            <a:off x="868680" y="3657600"/>
            <a:ext cx="4846320" cy="1737360"/>
          </a:xfrm>
          <a:prstGeom prst="roundRect">
            <a:avLst>
              <a:gd name="adj" fmla="val 4211"/>
            </a:avLst>
          </a:prstGeom>
          <a:solidFill>
            <a:srgbClr val="1E2761"/>
          </a:solidFill>
          <a:ln/>
        </p:spPr>
        <p:txBody>
          <a:bodyPr/>
          <a:lstStyle/>
          <a:p>
            <a:endParaRPr lang="es-AR" noProof="0" dirty="0"/>
          </a:p>
        </p:txBody>
      </p:sp>
      <p:sp>
        <p:nvSpPr>
          <p:cNvPr id="7" name="Text 5"/>
          <p:cNvSpPr/>
          <p:nvPr/>
        </p:nvSpPr>
        <p:spPr>
          <a:xfrm>
            <a:off x="1097280" y="3794760"/>
            <a:ext cx="4389120" cy="320040"/>
          </a:xfrm>
          <a:prstGeom prst="rect">
            <a:avLst/>
          </a:prstGeom>
          <a:noFill/>
          <a:ln/>
        </p:spPr>
        <p:txBody>
          <a:bodyPr wrap="square" rtlCol="0" anchor="ctr"/>
          <a:lstStyle/>
          <a:p>
            <a:pPr marL="0" indent="0">
              <a:buNone/>
            </a:pPr>
            <a:r>
              <a:rPr lang="es-AR" sz="1300" b="1" noProof="0" dirty="0">
                <a:solidFill>
                  <a:srgbClr val="E8A33D"/>
                </a:solidFill>
                <a:latin typeface="Calibri" pitchFamily="34" charset="0"/>
                <a:ea typeface="Calibri" pitchFamily="34" charset="-122"/>
                <a:cs typeface="Calibri" pitchFamily="34" charset="-120"/>
              </a:rPr>
              <a:t>Idea clave</a:t>
            </a:r>
            <a:endParaRPr lang="es-AR" sz="1300" noProof="0" dirty="0"/>
          </a:p>
        </p:txBody>
      </p:sp>
      <p:sp>
        <p:nvSpPr>
          <p:cNvPr id="8" name="Text 6"/>
          <p:cNvSpPr/>
          <p:nvPr/>
        </p:nvSpPr>
        <p:spPr>
          <a:xfrm>
            <a:off x="1097280" y="4114800"/>
            <a:ext cx="4389120" cy="1097280"/>
          </a:xfrm>
          <a:prstGeom prst="rect">
            <a:avLst/>
          </a:prstGeom>
          <a:noFill/>
          <a:ln/>
        </p:spPr>
        <p:txBody>
          <a:bodyPr wrap="square" rtlCol="0" anchor="t"/>
          <a:lstStyle/>
          <a:p>
            <a:pPr marL="0" indent="0">
              <a:buNone/>
            </a:pPr>
            <a:r>
              <a:rPr lang="es-AR" sz="1400" noProof="0" dirty="0">
                <a:solidFill>
                  <a:srgbClr val="FFFFFF"/>
                </a:solidFill>
                <a:latin typeface="Calibri" pitchFamily="34" charset="0"/>
                <a:ea typeface="Calibri" pitchFamily="34" charset="-122"/>
                <a:cs typeface="Calibri" pitchFamily="34" charset="-120"/>
              </a:rPr>
              <a:t>Especificación = el contrato (QUÉ hace)</a:t>
            </a:r>
            <a:endParaRPr lang="es-AR" sz="1400" noProof="0" dirty="0"/>
          </a:p>
          <a:p>
            <a:pPr marL="0" indent="0">
              <a:buNone/>
            </a:pPr>
            <a:r>
              <a:rPr lang="es-AR" sz="1400" noProof="0" dirty="0">
                <a:solidFill>
                  <a:srgbClr val="FFFFFF"/>
                </a:solidFill>
                <a:latin typeface="Calibri" pitchFamily="34" charset="0"/>
                <a:ea typeface="Calibri" pitchFamily="34" charset="-122"/>
                <a:cs typeface="Calibri" pitchFamily="34" charset="-120"/>
              </a:rPr>
              <a:t>Implementación = el mecanismo (CÓMO lo hace)</a:t>
            </a:r>
            <a:endParaRPr lang="es-AR" sz="1400" noProof="0" dirty="0"/>
          </a:p>
        </p:txBody>
      </p:sp>
      <p:sp>
        <p:nvSpPr>
          <p:cNvPr id="9" name="Shape 7"/>
          <p:cNvSpPr/>
          <p:nvPr/>
        </p:nvSpPr>
        <p:spPr>
          <a:xfrm>
            <a:off x="6400800" y="1463040"/>
            <a:ext cx="5212080" cy="4206240"/>
          </a:xfrm>
          <a:prstGeom prst="roundRect">
            <a:avLst>
              <a:gd name="adj" fmla="val 2174"/>
            </a:avLst>
          </a:prstGeom>
          <a:solidFill>
            <a:srgbClr val="FFFFFF"/>
          </a:solidFill>
          <a:ln w="19050">
            <a:solidFill>
              <a:srgbClr val="CADCFC"/>
            </a:solidFill>
            <a:prstDash val="solid"/>
          </a:ln>
        </p:spPr>
        <p:txBody>
          <a:bodyPr/>
          <a:lstStyle/>
          <a:p>
            <a:endParaRPr lang="es-AR" noProof="0" dirty="0"/>
          </a:p>
        </p:txBody>
      </p:sp>
      <p:sp>
        <p:nvSpPr>
          <p:cNvPr id="10" name="Text 8"/>
          <p:cNvSpPr/>
          <p:nvPr/>
        </p:nvSpPr>
        <p:spPr>
          <a:xfrm>
            <a:off x="6675120" y="1691640"/>
            <a:ext cx="466344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Analogía: el control remoto</a:t>
            </a:r>
            <a:endParaRPr lang="es-AR" sz="1500" noProof="0" dirty="0"/>
          </a:p>
        </p:txBody>
      </p:sp>
      <p:sp>
        <p:nvSpPr>
          <p:cNvPr id="11" name="Shape 9"/>
          <p:cNvSpPr/>
          <p:nvPr/>
        </p:nvSpPr>
        <p:spPr>
          <a:xfrm>
            <a:off x="7955280" y="2286000"/>
            <a:ext cx="1737360" cy="2743200"/>
          </a:xfrm>
          <a:prstGeom prst="roundRect">
            <a:avLst>
              <a:gd name="adj" fmla="val 13158"/>
            </a:avLst>
          </a:prstGeom>
          <a:solidFill>
            <a:srgbClr val="2C2C2C"/>
          </a:solidFill>
          <a:ln/>
        </p:spPr>
        <p:txBody>
          <a:bodyPr/>
          <a:lstStyle/>
          <a:p>
            <a:endParaRPr lang="es-AR" noProof="0" dirty="0"/>
          </a:p>
        </p:txBody>
      </p:sp>
      <p:sp>
        <p:nvSpPr>
          <p:cNvPr id="12" name="Shape 10"/>
          <p:cNvSpPr/>
          <p:nvPr/>
        </p:nvSpPr>
        <p:spPr>
          <a:xfrm>
            <a:off x="8366760" y="2606040"/>
            <a:ext cx="914400" cy="914400"/>
          </a:xfrm>
          <a:prstGeom prst="ellipse">
            <a:avLst/>
          </a:prstGeom>
          <a:solidFill>
            <a:srgbClr val="E8A33D"/>
          </a:solidFill>
          <a:ln/>
        </p:spPr>
        <p:txBody>
          <a:bodyPr/>
          <a:lstStyle/>
          <a:p>
            <a:endParaRPr lang="es-AR" noProof="0" dirty="0"/>
          </a:p>
        </p:txBody>
      </p:sp>
      <p:sp>
        <p:nvSpPr>
          <p:cNvPr id="13" name="Text 11"/>
          <p:cNvSpPr/>
          <p:nvPr/>
        </p:nvSpPr>
        <p:spPr>
          <a:xfrm>
            <a:off x="8366760" y="2606040"/>
            <a:ext cx="914400" cy="914400"/>
          </a:xfrm>
          <a:prstGeom prst="rect">
            <a:avLst/>
          </a:prstGeom>
          <a:noFill/>
          <a:ln/>
        </p:spPr>
        <p:txBody>
          <a:bodyPr wrap="square" rtlCol="0" anchor="ctr"/>
          <a:lstStyle/>
          <a:p>
            <a:pPr marL="0" indent="0" algn="ctr">
              <a:buNone/>
            </a:pPr>
            <a:r>
              <a:rPr lang="es-AR" sz="2600" b="1" noProof="0" dirty="0">
                <a:solidFill>
                  <a:srgbClr val="FFFFFF"/>
                </a:solidFill>
                <a:latin typeface="Calibri" pitchFamily="34" charset="0"/>
                <a:ea typeface="Calibri" pitchFamily="34" charset="-122"/>
                <a:cs typeface="Calibri" pitchFamily="34" charset="-120"/>
              </a:rPr>
              <a:t>+</a:t>
            </a:r>
            <a:endParaRPr lang="es-AR" sz="2600" noProof="0" dirty="0"/>
          </a:p>
        </p:txBody>
      </p:sp>
      <p:sp>
        <p:nvSpPr>
          <p:cNvPr id="14" name="Shape 12"/>
          <p:cNvSpPr/>
          <p:nvPr/>
        </p:nvSpPr>
        <p:spPr>
          <a:xfrm>
            <a:off x="8229600" y="3749040"/>
            <a:ext cx="1280160" cy="365760"/>
          </a:xfrm>
          <a:prstGeom prst="roundRect">
            <a:avLst>
              <a:gd name="adj" fmla="val 15000"/>
            </a:avLst>
          </a:prstGeom>
          <a:solidFill>
            <a:srgbClr val="4A4A4A"/>
          </a:solidFill>
          <a:ln/>
        </p:spPr>
        <p:txBody>
          <a:bodyPr/>
          <a:lstStyle/>
          <a:p>
            <a:endParaRPr lang="es-AR" noProof="0" dirty="0"/>
          </a:p>
        </p:txBody>
      </p:sp>
      <p:sp>
        <p:nvSpPr>
          <p:cNvPr id="15" name="Shape 13"/>
          <p:cNvSpPr/>
          <p:nvPr/>
        </p:nvSpPr>
        <p:spPr>
          <a:xfrm>
            <a:off x="8229600" y="4251960"/>
            <a:ext cx="1280160" cy="365760"/>
          </a:xfrm>
          <a:prstGeom prst="roundRect">
            <a:avLst>
              <a:gd name="adj" fmla="val 15000"/>
            </a:avLst>
          </a:prstGeom>
          <a:solidFill>
            <a:srgbClr val="4A4A4A"/>
          </a:solidFill>
          <a:ln/>
        </p:spPr>
        <p:txBody>
          <a:bodyPr/>
          <a:lstStyle/>
          <a:p>
            <a:endParaRPr lang="es-AR" noProof="0" dirty="0"/>
          </a:p>
        </p:txBody>
      </p:sp>
      <p:sp>
        <p:nvSpPr>
          <p:cNvPr id="16" name="Text 14"/>
          <p:cNvSpPr/>
          <p:nvPr/>
        </p:nvSpPr>
        <p:spPr>
          <a:xfrm>
            <a:off x="6675120" y="5257800"/>
            <a:ext cx="4663440" cy="365760"/>
          </a:xfrm>
          <a:prstGeom prst="rect">
            <a:avLst/>
          </a:prstGeom>
          <a:noFill/>
          <a:ln/>
        </p:spPr>
        <p:txBody>
          <a:bodyPr wrap="square" rtlCol="0" anchor="ctr"/>
          <a:lstStyle/>
          <a:p>
            <a:pPr marL="0" indent="0">
              <a:buNone/>
            </a:pPr>
            <a:r>
              <a:rPr lang="es-AR" sz="1200" i="1" noProof="0" dirty="0" err="1">
                <a:solidFill>
                  <a:srgbClr val="5B6472"/>
                </a:solidFill>
                <a:latin typeface="Calibri" pitchFamily="34" charset="0"/>
                <a:ea typeface="Calibri" pitchFamily="34" charset="-122"/>
                <a:cs typeface="Calibri" pitchFamily="34" charset="-120"/>
              </a:rPr>
              <a:t>Apretás</a:t>
            </a:r>
            <a:r>
              <a:rPr lang="es-AR" sz="1200" i="1" noProof="0" dirty="0">
                <a:solidFill>
                  <a:srgbClr val="5B6472"/>
                </a:solidFill>
                <a:latin typeface="Calibri" pitchFamily="34" charset="0"/>
                <a:ea typeface="Calibri" pitchFamily="34" charset="-122"/>
                <a:cs typeface="Calibri" pitchFamily="34" charset="-120"/>
              </a:rPr>
              <a:t> "+" y sube el volumen. No </a:t>
            </a:r>
            <a:r>
              <a:rPr lang="es-AR" sz="1200" i="1" noProof="0" dirty="0" err="1">
                <a:solidFill>
                  <a:srgbClr val="5B6472"/>
                </a:solidFill>
                <a:latin typeface="Calibri" pitchFamily="34" charset="0"/>
                <a:ea typeface="Calibri" pitchFamily="34" charset="-122"/>
                <a:cs typeface="Calibri" pitchFamily="34" charset="-120"/>
              </a:rPr>
              <a:t>necesitás</a:t>
            </a:r>
            <a:r>
              <a:rPr lang="es-AR" sz="1200" i="1" noProof="0" dirty="0">
                <a:solidFill>
                  <a:srgbClr val="5B6472"/>
                </a:solidFill>
                <a:latin typeface="Calibri" pitchFamily="34" charset="0"/>
                <a:ea typeface="Calibri" pitchFamily="34" charset="-122"/>
                <a:cs typeface="Calibri" pitchFamily="34" charset="-120"/>
              </a:rPr>
              <a:t> saber si adentro hay un circuito analógico o un chip digital: eso es la implementación, oculta detrás de la especificación (el botón).</a:t>
            </a:r>
            <a:endParaRPr lang="es-AR" sz="1200" noProof="0" dirty="0"/>
          </a:p>
        </p:txBody>
      </p:sp>
      <p:sp>
        <p:nvSpPr>
          <p:cNvPr id="17" name="Text 15"/>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8" name="Text 16"/>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3</a:t>
            </a:r>
            <a:endParaRPr lang="es-AR" sz="10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2</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¿Por qué separar especificación de implementación?</a:t>
            </a:r>
            <a:endParaRPr lang="es-AR" sz="3000" noProof="0" dirty="0"/>
          </a:p>
        </p:txBody>
      </p:sp>
      <p:sp>
        <p:nvSpPr>
          <p:cNvPr id="4" name="Shape 2"/>
          <p:cNvSpPr/>
          <p:nvPr/>
        </p:nvSpPr>
        <p:spPr>
          <a:xfrm>
            <a:off x="548640" y="1645920"/>
            <a:ext cx="3611880" cy="3657600"/>
          </a:xfrm>
          <a:prstGeom prst="roundRect">
            <a:avLst>
              <a:gd name="adj" fmla="val 2532"/>
            </a:avLst>
          </a:prstGeom>
          <a:solidFill>
            <a:srgbClr val="F5F7FC"/>
          </a:solidFill>
          <a:ln w="12700">
            <a:solidFill>
              <a:srgbClr val="CADCFC"/>
            </a:solidFill>
            <a:prstDash val="solid"/>
          </a:ln>
        </p:spPr>
        <p:txBody>
          <a:bodyPr/>
          <a:lstStyle/>
          <a:p>
            <a:endParaRPr lang="es-AR" noProof="0" dirty="0"/>
          </a:p>
        </p:txBody>
      </p:sp>
      <p:sp>
        <p:nvSpPr>
          <p:cNvPr id="5" name="Shape 3"/>
          <p:cNvSpPr/>
          <p:nvPr/>
        </p:nvSpPr>
        <p:spPr>
          <a:xfrm>
            <a:off x="822960" y="1920240"/>
            <a:ext cx="640080" cy="640080"/>
          </a:xfrm>
          <a:prstGeom prst="ellipse">
            <a:avLst/>
          </a:prstGeom>
          <a:solidFill>
            <a:srgbClr val="1E2761"/>
          </a:solidFill>
          <a:ln/>
        </p:spPr>
        <p:txBody>
          <a:bodyPr/>
          <a:lstStyle/>
          <a:p>
            <a:endParaRPr lang="es-AR" noProof="0" dirty="0"/>
          </a:p>
        </p:txBody>
      </p:sp>
      <p:sp>
        <p:nvSpPr>
          <p:cNvPr id="6" name="Text 4"/>
          <p:cNvSpPr/>
          <p:nvPr/>
        </p:nvSpPr>
        <p:spPr>
          <a:xfrm>
            <a:off x="822960" y="1920240"/>
            <a:ext cx="640080" cy="640080"/>
          </a:xfrm>
          <a:prstGeom prst="rect">
            <a:avLst/>
          </a:prstGeom>
          <a:noFill/>
          <a:ln/>
        </p:spPr>
        <p:txBody>
          <a:bodyPr wrap="square" rtlCol="0" anchor="ctr"/>
          <a:lstStyle/>
          <a:p>
            <a:pPr marL="0" indent="0" algn="ctr">
              <a:buNone/>
            </a:pPr>
            <a:r>
              <a:rPr lang="es-AR" sz="2200" b="1" noProof="0" dirty="0">
                <a:solidFill>
                  <a:srgbClr val="FFFFFF"/>
                </a:solidFill>
                <a:latin typeface="Cambria" pitchFamily="34" charset="0"/>
                <a:ea typeface="Cambria" pitchFamily="34" charset="-122"/>
                <a:cs typeface="Cambria" pitchFamily="34" charset="-120"/>
              </a:rPr>
              <a:t>1</a:t>
            </a:r>
            <a:endParaRPr lang="es-AR" sz="2200" noProof="0" dirty="0"/>
          </a:p>
        </p:txBody>
      </p:sp>
      <p:sp>
        <p:nvSpPr>
          <p:cNvPr id="7" name="Text 5"/>
          <p:cNvSpPr/>
          <p:nvPr/>
        </p:nvSpPr>
        <p:spPr>
          <a:xfrm>
            <a:off x="1463040" y="1965960"/>
            <a:ext cx="3063240" cy="548640"/>
          </a:xfrm>
          <a:prstGeom prst="rect">
            <a:avLst/>
          </a:prstGeom>
          <a:noFill/>
          <a:ln/>
        </p:spPr>
        <p:txBody>
          <a:bodyPr wrap="square" rtlCol="0" anchor="ctr"/>
          <a:lstStyle/>
          <a:p>
            <a:pPr marL="0" indent="0">
              <a:buNone/>
            </a:pPr>
            <a:r>
              <a:rPr lang="es-AR" sz="1600" b="1" noProof="0" dirty="0">
                <a:solidFill>
                  <a:srgbClr val="1E2761"/>
                </a:solidFill>
                <a:latin typeface="Calibri" pitchFamily="34" charset="0"/>
                <a:ea typeface="Calibri" pitchFamily="34" charset="-122"/>
                <a:cs typeface="Calibri" pitchFamily="34" charset="-120"/>
              </a:rPr>
              <a:t>Razonar sin ruido</a:t>
            </a:r>
            <a:endParaRPr lang="es-AR" sz="1600" noProof="0" dirty="0"/>
          </a:p>
        </p:txBody>
      </p:sp>
      <p:sp>
        <p:nvSpPr>
          <p:cNvPr id="8" name="Text 6"/>
          <p:cNvSpPr/>
          <p:nvPr/>
        </p:nvSpPr>
        <p:spPr>
          <a:xfrm>
            <a:off x="822960" y="2666288"/>
            <a:ext cx="3063240" cy="2408632"/>
          </a:xfrm>
          <a:prstGeom prst="rect">
            <a:avLst/>
          </a:prstGeom>
          <a:noFill/>
          <a:ln/>
        </p:spPr>
        <p:txBody>
          <a:bodyPr wrap="square" rtlCol="0" anchor="t"/>
          <a:lstStyle/>
          <a:p>
            <a:pPr marL="0" indent="0">
              <a:buNone/>
            </a:pPr>
            <a:r>
              <a:rPr lang="es-AR" sz="1300" noProof="0" dirty="0" err="1">
                <a:solidFill>
                  <a:srgbClr val="1C1C2A"/>
                </a:solidFill>
                <a:latin typeface="Calibri" pitchFamily="34" charset="0"/>
                <a:ea typeface="Calibri" pitchFamily="34" charset="-122"/>
                <a:cs typeface="Calibri" pitchFamily="34" charset="-120"/>
              </a:rPr>
              <a:t>Podés</a:t>
            </a:r>
            <a:r>
              <a:rPr lang="es-AR" sz="1300" noProof="0" dirty="0">
                <a:solidFill>
                  <a:srgbClr val="1C1C2A"/>
                </a:solidFill>
                <a:latin typeface="Calibri" pitchFamily="34" charset="0"/>
                <a:ea typeface="Calibri" pitchFamily="34" charset="-122"/>
                <a:cs typeface="Calibri" pitchFamily="34" charset="-120"/>
              </a:rPr>
              <a:t> entender el comportamiento sin perderte en los detalles internos de la estructura.</a:t>
            </a:r>
          </a:p>
          <a:p>
            <a:pPr marL="0" indent="0">
              <a:buNone/>
            </a:pPr>
            <a:endParaRPr lang="es-AR" sz="1300" noProof="0" dirty="0">
              <a:solidFill>
                <a:srgbClr val="1C1C2A"/>
              </a:solidFill>
              <a:latin typeface="Calibri" pitchFamily="34" charset="0"/>
              <a:cs typeface="Calibri" pitchFamily="34" charset="-120"/>
            </a:endParaRPr>
          </a:p>
          <a:p>
            <a:pPr marL="0" indent="0">
              <a:buNone/>
            </a:pPr>
            <a:endParaRPr lang="es-AR" sz="1300" noProof="0" dirty="0">
              <a:solidFill>
                <a:srgbClr val="1C1C2A"/>
              </a:solidFill>
              <a:latin typeface="Calibri" pitchFamily="34" charset="0"/>
              <a:cs typeface="Calibri" pitchFamily="34" charset="-120"/>
            </a:endParaRPr>
          </a:p>
          <a:p>
            <a:r>
              <a:rPr lang="es-AR" sz="1300" i="1" noProof="0" dirty="0">
                <a:solidFill>
                  <a:srgbClr val="1C1C2A"/>
                </a:solidFill>
                <a:latin typeface="Calibri" pitchFamily="34" charset="0"/>
                <a:cs typeface="Calibri" pitchFamily="34" charset="-120"/>
              </a:rPr>
              <a:t>Para usar la Pila, te alcanza con leer la especificación (apilar, </a:t>
            </a:r>
            <a:r>
              <a:rPr lang="es-AR" sz="1300" i="1" noProof="0" dirty="0" err="1">
                <a:solidFill>
                  <a:srgbClr val="1C1C2A"/>
                </a:solidFill>
                <a:latin typeface="Calibri" pitchFamily="34" charset="0"/>
                <a:cs typeface="Calibri" pitchFamily="34" charset="-120"/>
              </a:rPr>
              <a:t>desapilar</a:t>
            </a:r>
            <a:r>
              <a:rPr lang="es-AR" sz="1300" i="1" noProof="0" dirty="0">
                <a:solidFill>
                  <a:srgbClr val="1C1C2A"/>
                </a:solidFill>
                <a:latin typeface="Calibri" pitchFamily="34" charset="0"/>
                <a:cs typeface="Calibri" pitchFamily="34" charset="-120"/>
              </a:rPr>
              <a:t>, tope, </a:t>
            </a:r>
            <a:r>
              <a:rPr lang="es-AR" sz="1300" i="1" noProof="0" dirty="0" err="1">
                <a:solidFill>
                  <a:srgbClr val="1C1C2A"/>
                </a:solidFill>
                <a:latin typeface="Calibri" pitchFamily="34" charset="0"/>
                <a:cs typeface="Calibri" pitchFamily="34" charset="-120"/>
              </a:rPr>
              <a:t>esVacia</a:t>
            </a:r>
            <a:r>
              <a:rPr lang="es-AR" sz="1300" i="1" noProof="0" dirty="0">
                <a:solidFill>
                  <a:srgbClr val="1C1C2A"/>
                </a:solidFill>
                <a:latin typeface="Calibri" pitchFamily="34" charset="0"/>
                <a:cs typeface="Calibri" pitchFamily="34" charset="-120"/>
              </a:rPr>
              <a:t> y sus pre/post condiciones). No necesitas mirar el código interno para saber qué hace cada operación.</a:t>
            </a:r>
          </a:p>
          <a:p>
            <a:pPr marL="0" indent="0">
              <a:buNone/>
            </a:pPr>
            <a:endParaRPr lang="es-AR" sz="1300" noProof="0" dirty="0"/>
          </a:p>
        </p:txBody>
      </p:sp>
      <p:sp>
        <p:nvSpPr>
          <p:cNvPr id="9" name="Shape 7"/>
          <p:cNvSpPr/>
          <p:nvPr/>
        </p:nvSpPr>
        <p:spPr>
          <a:xfrm>
            <a:off x="4343400" y="1645920"/>
            <a:ext cx="3611880" cy="3657600"/>
          </a:xfrm>
          <a:prstGeom prst="roundRect">
            <a:avLst>
              <a:gd name="adj" fmla="val 2532"/>
            </a:avLst>
          </a:prstGeom>
          <a:solidFill>
            <a:srgbClr val="1E2761"/>
          </a:solidFill>
          <a:ln w="12700">
            <a:solidFill>
              <a:srgbClr val="CADCFC"/>
            </a:solidFill>
            <a:prstDash val="solid"/>
          </a:ln>
        </p:spPr>
        <p:txBody>
          <a:bodyPr/>
          <a:lstStyle/>
          <a:p>
            <a:endParaRPr lang="es-AR" noProof="0" dirty="0"/>
          </a:p>
        </p:txBody>
      </p:sp>
      <p:sp>
        <p:nvSpPr>
          <p:cNvPr id="10" name="Shape 8"/>
          <p:cNvSpPr/>
          <p:nvPr/>
        </p:nvSpPr>
        <p:spPr>
          <a:xfrm>
            <a:off x="4617720" y="1920240"/>
            <a:ext cx="640080" cy="640080"/>
          </a:xfrm>
          <a:prstGeom prst="ellipse">
            <a:avLst/>
          </a:prstGeom>
          <a:solidFill>
            <a:srgbClr val="E8A33D"/>
          </a:solidFill>
          <a:ln/>
        </p:spPr>
        <p:txBody>
          <a:bodyPr/>
          <a:lstStyle/>
          <a:p>
            <a:endParaRPr lang="es-AR" noProof="0" dirty="0"/>
          </a:p>
        </p:txBody>
      </p:sp>
      <p:sp>
        <p:nvSpPr>
          <p:cNvPr id="11" name="Text 9"/>
          <p:cNvSpPr/>
          <p:nvPr/>
        </p:nvSpPr>
        <p:spPr>
          <a:xfrm>
            <a:off x="4617720" y="1920240"/>
            <a:ext cx="640080" cy="640080"/>
          </a:xfrm>
          <a:prstGeom prst="rect">
            <a:avLst/>
          </a:prstGeom>
          <a:noFill/>
          <a:ln/>
        </p:spPr>
        <p:txBody>
          <a:bodyPr wrap="square" rtlCol="0" anchor="ctr"/>
          <a:lstStyle/>
          <a:p>
            <a:pPr marL="0" indent="0" algn="ctr">
              <a:buNone/>
            </a:pPr>
            <a:r>
              <a:rPr lang="es-AR" sz="2200" b="1" noProof="0" dirty="0">
                <a:solidFill>
                  <a:srgbClr val="FFFFFF"/>
                </a:solidFill>
                <a:latin typeface="Cambria" pitchFamily="34" charset="0"/>
                <a:ea typeface="Cambria" pitchFamily="34" charset="-122"/>
                <a:cs typeface="Cambria" pitchFamily="34" charset="-120"/>
              </a:rPr>
              <a:t>2</a:t>
            </a:r>
            <a:endParaRPr lang="es-AR" sz="2200" noProof="0" dirty="0"/>
          </a:p>
        </p:txBody>
      </p:sp>
      <p:sp>
        <p:nvSpPr>
          <p:cNvPr id="12" name="Text 10"/>
          <p:cNvSpPr/>
          <p:nvPr/>
        </p:nvSpPr>
        <p:spPr>
          <a:xfrm>
            <a:off x="5257800" y="1965960"/>
            <a:ext cx="3063240" cy="548640"/>
          </a:xfrm>
          <a:prstGeom prst="rect">
            <a:avLst/>
          </a:prstGeom>
          <a:noFill/>
          <a:ln/>
        </p:spPr>
        <p:txBody>
          <a:bodyPr wrap="square" rtlCol="0" anchor="ctr"/>
          <a:lstStyle/>
          <a:p>
            <a:pPr marL="0" indent="0">
              <a:buNone/>
            </a:pPr>
            <a:r>
              <a:rPr lang="es-AR" sz="1600" b="1" noProof="0" dirty="0">
                <a:solidFill>
                  <a:srgbClr val="FFFFFF"/>
                </a:solidFill>
                <a:latin typeface="Calibri" pitchFamily="34" charset="0"/>
                <a:ea typeface="Calibri" pitchFamily="34" charset="-122"/>
                <a:cs typeface="Calibri" pitchFamily="34" charset="-120"/>
              </a:rPr>
              <a:t>Cambiar sin romper</a:t>
            </a:r>
            <a:endParaRPr lang="es-AR" sz="1600" noProof="0" dirty="0"/>
          </a:p>
        </p:txBody>
      </p:sp>
      <p:sp>
        <p:nvSpPr>
          <p:cNvPr id="13" name="Text 11"/>
          <p:cNvSpPr/>
          <p:nvPr/>
        </p:nvSpPr>
        <p:spPr>
          <a:xfrm>
            <a:off x="4617720" y="2666288"/>
            <a:ext cx="3063240" cy="2408632"/>
          </a:xfrm>
          <a:prstGeom prst="rect">
            <a:avLst/>
          </a:prstGeom>
          <a:noFill/>
          <a:ln/>
        </p:spPr>
        <p:txBody>
          <a:bodyPr wrap="square" rtlCol="0" anchor="t"/>
          <a:lstStyle/>
          <a:p>
            <a:r>
              <a:rPr lang="es-AR" sz="1300" noProof="0" dirty="0">
                <a:solidFill>
                  <a:srgbClr val="CADCFC"/>
                </a:solidFill>
                <a:latin typeface="Calibri" pitchFamily="34" charset="0"/>
                <a:ea typeface="Calibri" pitchFamily="34" charset="-122"/>
                <a:cs typeface="Calibri" pitchFamily="34" charset="-120"/>
              </a:rPr>
              <a:t>Podes reemplazar la implementación (array por lista enlazada) sin afectar el código que usa el TDA.</a:t>
            </a:r>
          </a:p>
          <a:p>
            <a:endParaRPr lang="es-AR" sz="1300" noProof="0" dirty="0">
              <a:solidFill>
                <a:srgbClr val="CADCFC"/>
              </a:solidFill>
              <a:latin typeface="Calibri" pitchFamily="34" charset="0"/>
              <a:ea typeface="Calibri" pitchFamily="34" charset="-122"/>
              <a:cs typeface="Calibri" pitchFamily="34" charset="-120"/>
            </a:endParaRPr>
          </a:p>
          <a:p>
            <a:endParaRPr lang="es-AR" sz="1300" noProof="0" dirty="0">
              <a:solidFill>
                <a:srgbClr val="CADCFC"/>
              </a:solidFill>
              <a:latin typeface="Calibri" pitchFamily="34" charset="0"/>
              <a:ea typeface="Calibri" pitchFamily="34" charset="-122"/>
              <a:cs typeface="Calibri" pitchFamily="34" charset="-120"/>
            </a:endParaRPr>
          </a:p>
          <a:p>
            <a:r>
              <a:rPr lang="es-AR" sz="1300" i="1" noProof="0" dirty="0">
                <a:solidFill>
                  <a:srgbClr val="CADCFC"/>
                </a:solidFill>
                <a:latin typeface="Calibri" pitchFamily="34" charset="0"/>
                <a:ea typeface="Calibri" pitchFamily="34" charset="-122"/>
                <a:cs typeface="Calibri" pitchFamily="34" charset="-120"/>
              </a:rPr>
              <a:t>Como el código externo depende del contrato y no de la implementación, podes cambiar el array por una lista enlazada (como vimos en el ejemplo) y nada de lo que usa la Pila se entera ni se rompe.</a:t>
            </a:r>
          </a:p>
          <a:p>
            <a:pPr marL="0" indent="0">
              <a:buNone/>
            </a:pPr>
            <a:endParaRPr lang="es-AR" sz="1300" noProof="0" dirty="0">
              <a:solidFill>
                <a:srgbClr val="CADCFC"/>
              </a:solidFill>
              <a:latin typeface="Calibri" pitchFamily="34" charset="0"/>
              <a:cs typeface="Calibri" pitchFamily="34" charset="-120"/>
            </a:endParaRPr>
          </a:p>
        </p:txBody>
      </p:sp>
      <p:sp>
        <p:nvSpPr>
          <p:cNvPr id="14" name="Shape 12"/>
          <p:cNvSpPr/>
          <p:nvPr/>
        </p:nvSpPr>
        <p:spPr>
          <a:xfrm>
            <a:off x="8138160" y="1645920"/>
            <a:ext cx="3611880" cy="3657600"/>
          </a:xfrm>
          <a:prstGeom prst="roundRect">
            <a:avLst>
              <a:gd name="adj" fmla="val 2532"/>
            </a:avLst>
          </a:prstGeom>
          <a:solidFill>
            <a:srgbClr val="F5F7FC"/>
          </a:solidFill>
          <a:ln w="12700">
            <a:solidFill>
              <a:srgbClr val="CADCFC"/>
            </a:solidFill>
            <a:prstDash val="solid"/>
          </a:ln>
        </p:spPr>
        <p:txBody>
          <a:bodyPr/>
          <a:lstStyle/>
          <a:p>
            <a:endParaRPr lang="es-AR" noProof="0" dirty="0"/>
          </a:p>
        </p:txBody>
      </p:sp>
      <p:sp>
        <p:nvSpPr>
          <p:cNvPr id="15" name="Shape 13"/>
          <p:cNvSpPr/>
          <p:nvPr/>
        </p:nvSpPr>
        <p:spPr>
          <a:xfrm>
            <a:off x="8412480" y="1920240"/>
            <a:ext cx="640080" cy="640080"/>
          </a:xfrm>
          <a:prstGeom prst="ellipse">
            <a:avLst/>
          </a:prstGeom>
          <a:solidFill>
            <a:srgbClr val="1E2761"/>
          </a:solidFill>
          <a:ln/>
        </p:spPr>
        <p:txBody>
          <a:bodyPr/>
          <a:lstStyle/>
          <a:p>
            <a:endParaRPr lang="es-AR" noProof="0" dirty="0"/>
          </a:p>
        </p:txBody>
      </p:sp>
      <p:sp>
        <p:nvSpPr>
          <p:cNvPr id="16" name="Text 14"/>
          <p:cNvSpPr/>
          <p:nvPr/>
        </p:nvSpPr>
        <p:spPr>
          <a:xfrm>
            <a:off x="8412480" y="1920240"/>
            <a:ext cx="640080" cy="640080"/>
          </a:xfrm>
          <a:prstGeom prst="rect">
            <a:avLst/>
          </a:prstGeom>
          <a:noFill/>
          <a:ln/>
        </p:spPr>
        <p:txBody>
          <a:bodyPr wrap="square" rtlCol="0" anchor="ctr"/>
          <a:lstStyle/>
          <a:p>
            <a:pPr marL="0" indent="0" algn="ctr">
              <a:buNone/>
            </a:pPr>
            <a:r>
              <a:rPr lang="es-AR" sz="2200" b="1" noProof="0" dirty="0">
                <a:solidFill>
                  <a:srgbClr val="FFFFFF"/>
                </a:solidFill>
                <a:latin typeface="Cambria" pitchFamily="34" charset="0"/>
                <a:ea typeface="Cambria" pitchFamily="34" charset="-122"/>
                <a:cs typeface="Cambria" pitchFamily="34" charset="-120"/>
              </a:rPr>
              <a:t>3</a:t>
            </a:r>
            <a:endParaRPr lang="es-AR" sz="2200" noProof="0" dirty="0"/>
          </a:p>
        </p:txBody>
      </p:sp>
      <p:sp>
        <p:nvSpPr>
          <p:cNvPr id="17" name="Text 15"/>
          <p:cNvSpPr/>
          <p:nvPr/>
        </p:nvSpPr>
        <p:spPr>
          <a:xfrm>
            <a:off x="9052560" y="1965960"/>
            <a:ext cx="3063240" cy="548640"/>
          </a:xfrm>
          <a:prstGeom prst="rect">
            <a:avLst/>
          </a:prstGeom>
          <a:noFill/>
          <a:ln/>
        </p:spPr>
        <p:txBody>
          <a:bodyPr wrap="square" rtlCol="0" anchor="ctr"/>
          <a:lstStyle/>
          <a:p>
            <a:pPr marL="0" indent="0">
              <a:buNone/>
            </a:pPr>
            <a:r>
              <a:rPr lang="es-AR" sz="1600" b="1" noProof="0" dirty="0">
                <a:solidFill>
                  <a:srgbClr val="1E2761"/>
                </a:solidFill>
                <a:latin typeface="Calibri" pitchFamily="34" charset="0"/>
                <a:ea typeface="Calibri" pitchFamily="34" charset="-122"/>
                <a:cs typeface="Calibri" pitchFamily="34" charset="-120"/>
              </a:rPr>
              <a:t>Comparar alternativas</a:t>
            </a:r>
            <a:endParaRPr lang="es-AR" sz="1600" noProof="0" dirty="0"/>
          </a:p>
        </p:txBody>
      </p:sp>
      <p:sp>
        <p:nvSpPr>
          <p:cNvPr id="18" name="Text 16"/>
          <p:cNvSpPr/>
          <p:nvPr/>
        </p:nvSpPr>
        <p:spPr>
          <a:xfrm>
            <a:off x="8412480" y="2666288"/>
            <a:ext cx="3063240" cy="2408632"/>
          </a:xfrm>
          <a:prstGeom prst="rect">
            <a:avLst/>
          </a:prstGeom>
          <a:noFill/>
          <a:ln/>
        </p:spPr>
        <p:txBody>
          <a:bodyPr wrap="square" rtlCol="0" anchor="t"/>
          <a:lstStyle/>
          <a:p>
            <a:pPr marL="0" indent="0">
              <a:buNone/>
            </a:pPr>
            <a:r>
              <a:rPr lang="es-AR" sz="1300" noProof="0" dirty="0">
                <a:solidFill>
                  <a:srgbClr val="1C1C2A"/>
                </a:solidFill>
                <a:latin typeface="Calibri" pitchFamily="34" charset="0"/>
                <a:ea typeface="Calibri" pitchFamily="34" charset="-122"/>
                <a:cs typeface="Calibri" pitchFamily="34" charset="-120"/>
              </a:rPr>
              <a:t>Permite evaluar distintas formas de resolver el mismo problema y elegir la más eficiente.</a:t>
            </a:r>
          </a:p>
          <a:p>
            <a:endParaRPr lang="es-AR" sz="1300" i="1" noProof="0" dirty="0"/>
          </a:p>
          <a:p>
            <a:endParaRPr lang="es-AR" sz="1300" i="1" noProof="0" dirty="0"/>
          </a:p>
          <a:p>
            <a:r>
              <a:rPr lang="es-AR" sz="1300" i="1" noProof="0" dirty="0"/>
              <a:t>Como el contrato es el mismo, podes tener varias implementaciones compitiendo (array vs. lista) y elegir la más conveniente según el contexto, sin tocar el resto del sistema.</a:t>
            </a:r>
          </a:p>
        </p:txBody>
      </p:sp>
      <p:sp>
        <p:nvSpPr>
          <p:cNvPr id="19" name="Text 1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4</a:t>
            </a:r>
            <a:endParaRPr lang="es-AR" sz="10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4114800"/>
            <a:ext cx="4572000" cy="4572000"/>
          </a:xfrm>
          <a:prstGeom prst="ellipse">
            <a:avLst/>
          </a:prstGeom>
          <a:solidFill>
            <a:srgbClr val="263876"/>
          </a:solidFill>
          <a:ln/>
        </p:spPr>
        <p:txBody>
          <a:bodyPr/>
          <a:lstStyle/>
          <a:p>
            <a:endParaRPr lang="es-AR" noProof="0" dirty="0"/>
          </a:p>
        </p:txBody>
      </p:sp>
      <p:sp>
        <p:nvSpPr>
          <p:cNvPr id="3" name="Text 1"/>
          <p:cNvSpPr/>
          <p:nvPr/>
        </p:nvSpPr>
        <p:spPr>
          <a:xfrm>
            <a:off x="731520" y="2468880"/>
            <a:ext cx="7315200" cy="365760"/>
          </a:xfrm>
          <a:prstGeom prst="rect">
            <a:avLst/>
          </a:prstGeom>
          <a:noFill/>
          <a:ln/>
        </p:spPr>
        <p:txBody>
          <a:bodyPr wrap="square" rtlCol="0" anchor="ctr"/>
          <a:lstStyle/>
          <a:p>
            <a:pPr marL="0" indent="0">
              <a:buNone/>
            </a:pPr>
            <a:r>
              <a:rPr lang="es-AR" sz="1400" b="1" kern="0" spc="200" noProof="0" dirty="0">
                <a:solidFill>
                  <a:srgbClr val="E8A33D"/>
                </a:solidFill>
                <a:latin typeface="Calibri" pitchFamily="34" charset="0"/>
                <a:ea typeface="Calibri" pitchFamily="34" charset="-122"/>
                <a:cs typeface="Calibri" pitchFamily="34" charset="-120"/>
              </a:rPr>
              <a:t>BLOQUE 3</a:t>
            </a:r>
            <a:endParaRPr lang="es-AR" sz="1400" noProof="0" dirty="0"/>
          </a:p>
        </p:txBody>
      </p:sp>
      <p:sp>
        <p:nvSpPr>
          <p:cNvPr id="4" name="Text 2"/>
          <p:cNvSpPr/>
          <p:nvPr/>
        </p:nvSpPr>
        <p:spPr>
          <a:xfrm>
            <a:off x="731520" y="2834640"/>
            <a:ext cx="10058400" cy="1280160"/>
          </a:xfrm>
          <a:prstGeom prst="rect">
            <a:avLst/>
          </a:prstGeom>
          <a:noFill/>
          <a:ln/>
        </p:spPr>
        <p:txBody>
          <a:bodyPr wrap="square" rtlCol="0" anchor="ctr"/>
          <a:lstStyle/>
          <a:p>
            <a:pPr marL="0" indent="0">
              <a:buNone/>
            </a:pPr>
            <a:r>
              <a:rPr lang="es-AR" sz="3800" b="1" noProof="0" dirty="0">
                <a:solidFill>
                  <a:srgbClr val="FFFFFF"/>
                </a:solidFill>
                <a:latin typeface="Cambria" pitchFamily="34" charset="0"/>
                <a:ea typeface="Cambria" pitchFamily="34" charset="-122"/>
                <a:cs typeface="Cambria" pitchFamily="34" charset="-120"/>
              </a:rPr>
              <a:t>Características de un TDA y ejemplos</a:t>
            </a:r>
            <a:endParaRPr lang="es-AR" sz="3800" noProof="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5</a:t>
            </a:r>
            <a:endParaRPr lang="es-AR" sz="10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3</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Los tres componentes de un TDA</a:t>
            </a:r>
            <a:endParaRPr lang="es-AR" sz="3000" noProof="0" dirty="0"/>
          </a:p>
        </p:txBody>
      </p:sp>
      <p:sp>
        <p:nvSpPr>
          <p:cNvPr id="4" name="Shape 2"/>
          <p:cNvSpPr/>
          <p:nvPr/>
        </p:nvSpPr>
        <p:spPr>
          <a:xfrm>
            <a:off x="548640" y="155448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5" name="Shape 3"/>
          <p:cNvSpPr/>
          <p:nvPr/>
        </p:nvSpPr>
        <p:spPr>
          <a:xfrm>
            <a:off x="548640" y="1554480"/>
            <a:ext cx="137160" cy="1234440"/>
          </a:xfrm>
          <a:prstGeom prst="roundRect">
            <a:avLst/>
          </a:prstGeom>
          <a:solidFill>
            <a:srgbClr val="F5F7FC"/>
          </a:solidFill>
          <a:ln/>
        </p:spPr>
        <p:txBody>
          <a:bodyPr/>
          <a:lstStyle/>
          <a:p>
            <a:endParaRPr lang="es-AR" noProof="0" dirty="0"/>
          </a:p>
        </p:txBody>
      </p:sp>
      <p:sp>
        <p:nvSpPr>
          <p:cNvPr id="6" name="Text 4"/>
          <p:cNvSpPr/>
          <p:nvPr/>
        </p:nvSpPr>
        <p:spPr>
          <a:xfrm>
            <a:off x="914400" y="1691640"/>
            <a:ext cx="2743200" cy="914400"/>
          </a:xfrm>
          <a:prstGeom prst="rect">
            <a:avLst/>
          </a:prstGeom>
          <a:noFill/>
          <a:ln/>
        </p:spPr>
        <p:txBody>
          <a:bodyPr wrap="square" rtlCol="0" anchor="ctr"/>
          <a:lstStyle/>
          <a:p>
            <a:pPr marL="0" indent="0">
              <a:buNone/>
            </a:pPr>
            <a:r>
              <a:rPr lang="es-AR" sz="1900" b="1" noProof="0" dirty="0">
                <a:solidFill>
                  <a:srgbClr val="1E2761"/>
                </a:solidFill>
                <a:latin typeface="Cambria" pitchFamily="34" charset="0"/>
                <a:ea typeface="Cambria" pitchFamily="34" charset="-122"/>
                <a:cs typeface="Cambria" pitchFamily="34" charset="-120"/>
              </a:rPr>
              <a:t>Datos</a:t>
            </a:r>
            <a:endParaRPr lang="es-AR" sz="1900" noProof="0" dirty="0"/>
          </a:p>
        </p:txBody>
      </p:sp>
      <p:sp>
        <p:nvSpPr>
          <p:cNvPr id="7" name="Text 5"/>
          <p:cNvSpPr/>
          <p:nvPr/>
        </p:nvSpPr>
        <p:spPr>
          <a:xfrm>
            <a:off x="3840480" y="1691640"/>
            <a:ext cx="7315200" cy="91440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La información que representa el TDA (por ejemplo, una colección de elementos con cierto orden).</a:t>
            </a:r>
            <a:endParaRPr lang="es-AR" sz="1450" noProof="0" dirty="0"/>
          </a:p>
        </p:txBody>
      </p:sp>
      <p:sp>
        <p:nvSpPr>
          <p:cNvPr id="8" name="Shape 6"/>
          <p:cNvSpPr/>
          <p:nvPr/>
        </p:nvSpPr>
        <p:spPr>
          <a:xfrm>
            <a:off x="548640" y="297180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9" name="Shape 7"/>
          <p:cNvSpPr/>
          <p:nvPr/>
        </p:nvSpPr>
        <p:spPr>
          <a:xfrm>
            <a:off x="548640" y="2971800"/>
            <a:ext cx="137160" cy="1234440"/>
          </a:xfrm>
          <a:prstGeom prst="roundRect">
            <a:avLst/>
          </a:prstGeom>
          <a:solidFill>
            <a:srgbClr val="F5F7FC"/>
          </a:solidFill>
          <a:ln/>
        </p:spPr>
        <p:txBody>
          <a:bodyPr/>
          <a:lstStyle/>
          <a:p>
            <a:endParaRPr lang="es-AR" noProof="0" dirty="0"/>
          </a:p>
        </p:txBody>
      </p:sp>
      <p:sp>
        <p:nvSpPr>
          <p:cNvPr id="10" name="Text 8"/>
          <p:cNvSpPr/>
          <p:nvPr/>
        </p:nvSpPr>
        <p:spPr>
          <a:xfrm>
            <a:off x="914400" y="3108960"/>
            <a:ext cx="2743200" cy="914400"/>
          </a:xfrm>
          <a:prstGeom prst="rect">
            <a:avLst/>
          </a:prstGeom>
          <a:noFill/>
          <a:ln/>
        </p:spPr>
        <p:txBody>
          <a:bodyPr wrap="square" rtlCol="0" anchor="ctr"/>
          <a:lstStyle/>
          <a:p>
            <a:pPr marL="0" indent="0">
              <a:buNone/>
            </a:pPr>
            <a:r>
              <a:rPr lang="es-AR" sz="1900" b="1" noProof="0" dirty="0">
                <a:solidFill>
                  <a:srgbClr val="1E2761"/>
                </a:solidFill>
                <a:latin typeface="Cambria" pitchFamily="34" charset="0"/>
                <a:ea typeface="Cambria" pitchFamily="34" charset="-122"/>
                <a:cs typeface="Cambria" pitchFamily="34" charset="-120"/>
              </a:rPr>
              <a:t>Operaciones</a:t>
            </a:r>
            <a:endParaRPr lang="es-AR" sz="1900" noProof="0" dirty="0"/>
          </a:p>
        </p:txBody>
      </p:sp>
      <p:sp>
        <p:nvSpPr>
          <p:cNvPr id="11" name="Text 9"/>
          <p:cNvSpPr/>
          <p:nvPr/>
        </p:nvSpPr>
        <p:spPr>
          <a:xfrm>
            <a:off x="3840480" y="3108960"/>
            <a:ext cx="7315200" cy="91440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Las acciones válidas sobre esos datos: crear, insertar, eliminar, consultar, etc.</a:t>
            </a:r>
            <a:endParaRPr lang="es-AR" sz="1450" noProof="0" dirty="0"/>
          </a:p>
        </p:txBody>
      </p:sp>
      <p:sp>
        <p:nvSpPr>
          <p:cNvPr id="12" name="Shape 10"/>
          <p:cNvSpPr/>
          <p:nvPr/>
        </p:nvSpPr>
        <p:spPr>
          <a:xfrm>
            <a:off x="548640" y="438912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13" name="Shape 11"/>
          <p:cNvSpPr/>
          <p:nvPr/>
        </p:nvSpPr>
        <p:spPr>
          <a:xfrm>
            <a:off x="548640" y="4389120"/>
            <a:ext cx="137160" cy="1234440"/>
          </a:xfrm>
          <a:prstGeom prst="roundRect">
            <a:avLst/>
          </a:prstGeom>
          <a:solidFill>
            <a:srgbClr val="F5F7FC"/>
          </a:solidFill>
          <a:ln/>
        </p:spPr>
        <p:txBody>
          <a:bodyPr/>
          <a:lstStyle/>
          <a:p>
            <a:endParaRPr lang="es-AR" noProof="0" dirty="0"/>
          </a:p>
        </p:txBody>
      </p:sp>
      <p:sp>
        <p:nvSpPr>
          <p:cNvPr id="14" name="Text 12"/>
          <p:cNvSpPr/>
          <p:nvPr/>
        </p:nvSpPr>
        <p:spPr>
          <a:xfrm>
            <a:off x="914400" y="4526280"/>
            <a:ext cx="2743200" cy="914400"/>
          </a:xfrm>
          <a:prstGeom prst="rect">
            <a:avLst/>
          </a:prstGeom>
          <a:noFill/>
          <a:ln/>
        </p:spPr>
        <p:txBody>
          <a:bodyPr wrap="square" rtlCol="0" anchor="ctr"/>
          <a:lstStyle/>
          <a:p>
            <a:pPr marL="0" indent="0">
              <a:buNone/>
            </a:pPr>
            <a:r>
              <a:rPr lang="es-AR" sz="1900" b="1" noProof="0" dirty="0">
                <a:solidFill>
                  <a:srgbClr val="1E2761"/>
                </a:solidFill>
                <a:latin typeface="Cambria" pitchFamily="34" charset="0"/>
                <a:ea typeface="Cambria" pitchFamily="34" charset="-122"/>
                <a:cs typeface="Cambria" pitchFamily="34" charset="-120"/>
              </a:rPr>
              <a:t>Encapsulamiento</a:t>
            </a:r>
            <a:endParaRPr lang="es-AR" sz="1900" noProof="0" dirty="0"/>
          </a:p>
        </p:txBody>
      </p:sp>
      <p:sp>
        <p:nvSpPr>
          <p:cNvPr id="15" name="Text 13"/>
          <p:cNvSpPr/>
          <p:nvPr/>
        </p:nvSpPr>
        <p:spPr>
          <a:xfrm>
            <a:off x="3840480" y="4526280"/>
            <a:ext cx="7315200" cy="91440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El usuario del TDA no conoce (ni necesita conocer) la estructura interna.</a:t>
            </a:r>
            <a:endParaRPr lang="es-AR" sz="1450" noProof="0" dirty="0"/>
          </a:p>
        </p:txBody>
      </p:sp>
      <p:sp>
        <p:nvSpPr>
          <p:cNvPr id="16" name="Text 1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7" name="Text 1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6</a:t>
            </a:r>
            <a:endParaRPr lang="es-AR" sz="10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3</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Los tres componentes de un TDA, en código</a:t>
            </a:r>
            <a:endParaRPr lang="es-AR" sz="3000" noProof="0" dirty="0"/>
          </a:p>
        </p:txBody>
      </p:sp>
      <p:sp>
        <p:nvSpPr>
          <p:cNvPr id="4" name="Shape 2"/>
          <p:cNvSpPr/>
          <p:nvPr/>
        </p:nvSpPr>
        <p:spPr>
          <a:xfrm>
            <a:off x="548640" y="1463040"/>
            <a:ext cx="694944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00200"/>
            <a:ext cx="6492240" cy="4754880"/>
          </a:xfrm>
          <a:prstGeom prst="rect">
            <a:avLst/>
          </a:prstGeom>
          <a:noFill/>
          <a:ln/>
        </p:spPr>
        <p:txBody>
          <a:bodyPr/>
          <a:lstStyle/>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class</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PilaArray</a:t>
            </a: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endParaRPr lang="es-AR" sz="1350" noProof="0" dirty="0">
              <a:solidFill>
                <a:srgbClr val="1C1C2A"/>
              </a:solidFill>
              <a:latin typeface="Courier New" pitchFamily="34" charset="0"/>
              <a:ea typeface="Courier New" pitchFamily="34" charset="-122"/>
              <a:cs typeface="Courier New" pitchFamily="34" charset="-120"/>
            </a:endParaRPr>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private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Object</a:t>
            </a:r>
            <a:r>
              <a:rPr lang="es-AR" sz="1350" noProof="0" dirty="0">
                <a:solidFill>
                  <a:srgbClr val="1C1C2A"/>
                </a:solidFill>
                <a:latin typeface="Courier New" pitchFamily="34" charset="0"/>
                <a:ea typeface="Courier New" pitchFamily="34" charset="-122"/>
                <a:cs typeface="Courier New" pitchFamily="34" charset="-120"/>
              </a:rPr>
              <a:t>[] datos;</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private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int</a:t>
            </a:r>
            <a:r>
              <a:rPr lang="es-AR" sz="1350" noProof="0" dirty="0">
                <a:solidFill>
                  <a:srgbClr val="1C1C2A"/>
                </a:solidFill>
                <a:latin typeface="Courier New" pitchFamily="34" charset="0"/>
                <a:ea typeface="Courier New" pitchFamily="34" charset="-122"/>
                <a:cs typeface="Courier New" pitchFamily="34" charset="-120"/>
              </a:rPr>
              <a:t> tope;</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PilarArray</a:t>
            </a:r>
            <a:r>
              <a:rPr lang="es-AR" sz="1350" noProof="0" dirty="0">
                <a:solidFill>
                  <a:srgbClr val="1C1C2A"/>
                </a:solidFill>
                <a:latin typeface="Courier New" pitchFamily="34" charset="0"/>
                <a:ea typeface="Courier New" pitchFamily="34" charset="-122"/>
                <a:cs typeface="Courier New" pitchFamily="34" charset="-120"/>
              </a:rPr>
              <a:t>(</a:t>
            </a:r>
            <a:r>
              <a:rPr lang="es-AR" sz="1350" noProof="0" dirty="0" err="1">
                <a:solidFill>
                  <a:srgbClr val="1C1C2A"/>
                </a:solidFill>
                <a:latin typeface="Courier New" pitchFamily="34" charset="0"/>
                <a:ea typeface="Courier New" pitchFamily="34" charset="-122"/>
                <a:cs typeface="Courier New" pitchFamily="34" charset="-120"/>
              </a:rPr>
              <a:t>int</a:t>
            </a:r>
            <a:r>
              <a:rPr lang="es-AR" sz="1350" noProof="0" dirty="0">
                <a:solidFill>
                  <a:srgbClr val="1C1C2A"/>
                </a:solidFill>
                <a:latin typeface="Courier New" pitchFamily="34" charset="0"/>
                <a:ea typeface="Courier New" pitchFamily="34" charset="-122"/>
                <a:cs typeface="Courier New" pitchFamily="34" charset="-120"/>
              </a:rPr>
              <a:t> capacidad) {</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datos = new </a:t>
            </a:r>
            <a:r>
              <a:rPr lang="es-AR" sz="1350" noProof="0" dirty="0" err="1">
                <a:solidFill>
                  <a:srgbClr val="1C1C2A"/>
                </a:solidFill>
                <a:latin typeface="Courier New" pitchFamily="34" charset="0"/>
                <a:ea typeface="Courier New" pitchFamily="34" charset="-122"/>
                <a:cs typeface="Courier New" pitchFamily="34" charset="-120"/>
              </a:rPr>
              <a:t>Object</a:t>
            </a:r>
            <a:r>
              <a:rPr lang="es-AR" sz="1350" noProof="0" dirty="0">
                <a:solidFill>
                  <a:srgbClr val="1C1C2A"/>
                </a:solidFill>
                <a:latin typeface="Courier New" pitchFamily="34" charset="0"/>
                <a:ea typeface="Courier New" pitchFamily="34" charset="-122"/>
                <a:cs typeface="Courier New" pitchFamily="34" charset="-120"/>
              </a:rPr>
              <a:t>[capacidad];</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tope = -1;</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void</a:t>
            </a:r>
            <a:r>
              <a:rPr lang="es-AR" sz="1350" noProof="0" dirty="0">
                <a:solidFill>
                  <a:srgbClr val="1C1C2A"/>
                </a:solidFill>
                <a:latin typeface="Courier New" pitchFamily="34" charset="0"/>
                <a:ea typeface="Courier New" pitchFamily="34" charset="-122"/>
                <a:cs typeface="Courier New" pitchFamily="34" charset="-120"/>
              </a:rPr>
              <a:t> apilar(</a:t>
            </a:r>
            <a:r>
              <a:rPr lang="es-AR" sz="1350" noProof="0" dirty="0" err="1">
                <a:solidFill>
                  <a:srgbClr val="1C1C2A"/>
                </a:solidFill>
                <a:latin typeface="Courier New" pitchFamily="34" charset="0"/>
                <a:ea typeface="Courier New" pitchFamily="34" charset="-122"/>
                <a:cs typeface="Courier New" pitchFamily="34" charset="-120"/>
              </a:rPr>
              <a:t>Object</a:t>
            </a:r>
            <a:r>
              <a:rPr lang="es-AR" sz="1350" noProof="0" dirty="0">
                <a:solidFill>
                  <a:srgbClr val="1C1C2A"/>
                </a:solidFill>
                <a:latin typeface="Courier New" pitchFamily="34" charset="0"/>
                <a:ea typeface="Courier New" pitchFamily="34" charset="-122"/>
                <a:cs typeface="Courier New" pitchFamily="34" charset="-120"/>
              </a:rPr>
              <a:t> x) {</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datos[++tope] = x;</a:t>
            </a:r>
            <a:endParaRPr lang="es-AR" sz="1350" noProof="0" dirty="0"/>
          </a:p>
          <a:p>
            <a:pPr>
              <a:lnSpc>
                <a:spcPct val="115000"/>
              </a:lnSpc>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Object</a:t>
            </a:r>
            <a:r>
              <a:rPr lang="es-AR" sz="1350" noProof="0" dirty="0">
                <a:solidFill>
                  <a:srgbClr val="1C1C2A"/>
                </a:solidFill>
                <a:latin typeface="Courier New" pitchFamily="34" charset="0"/>
                <a:ea typeface="Courier New" pitchFamily="34" charset="-122"/>
                <a:cs typeface="Courier New" pitchFamily="34" charset="-120"/>
              </a:rPr>
              <a:t> tope()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return</a:t>
            </a:r>
            <a:r>
              <a:rPr lang="es-AR" sz="1350" noProof="0" dirty="0">
                <a:solidFill>
                  <a:srgbClr val="1C1C2A"/>
                </a:solidFill>
                <a:latin typeface="Courier New" pitchFamily="34" charset="0"/>
                <a:ea typeface="Courier New" pitchFamily="34" charset="-122"/>
                <a:cs typeface="Courier New" pitchFamily="34" charset="-120"/>
              </a:rPr>
              <a:t> datos[tope];</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boolean</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esVacia</a:t>
            </a: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return</a:t>
            </a:r>
            <a:r>
              <a:rPr lang="es-AR" sz="1350" noProof="0" dirty="0">
                <a:solidFill>
                  <a:srgbClr val="1C1C2A"/>
                </a:solidFill>
                <a:latin typeface="Courier New" pitchFamily="34" charset="0"/>
                <a:ea typeface="Courier New" pitchFamily="34" charset="-122"/>
                <a:cs typeface="Courier New" pitchFamily="34" charset="-120"/>
              </a:rPr>
              <a:t> tope == -1;</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p:txBody>
      </p:sp>
      <p:sp>
        <p:nvSpPr>
          <p:cNvPr id="6" name="Shape 4"/>
          <p:cNvSpPr/>
          <p:nvPr/>
        </p:nvSpPr>
        <p:spPr>
          <a:xfrm>
            <a:off x="7680960" y="1463040"/>
            <a:ext cx="3931920" cy="5029200"/>
          </a:xfrm>
          <a:prstGeom prst="roundRect">
            <a:avLst>
              <a:gd name="adj" fmla="val 2326"/>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909560" y="1645920"/>
            <a:ext cx="3474720" cy="365760"/>
          </a:xfrm>
          <a:prstGeom prst="rect">
            <a:avLst/>
          </a:prstGeom>
          <a:noFill/>
          <a:ln/>
        </p:spPr>
        <p:txBody>
          <a:bodyPr wrap="square" rtlCol="0" anchor="ctr"/>
          <a:lstStyle/>
          <a:p>
            <a:pPr marL="0" indent="0">
              <a:buNone/>
            </a:pPr>
            <a:r>
              <a:rPr lang="es-AR" sz="1300" b="1" noProof="0" dirty="0">
                <a:solidFill>
                  <a:srgbClr val="1E2761"/>
                </a:solidFill>
                <a:latin typeface="Calibri" pitchFamily="34" charset="0"/>
                <a:ea typeface="Calibri" pitchFamily="34" charset="-122"/>
                <a:cs typeface="Calibri" pitchFamily="34" charset="-120"/>
              </a:rPr>
              <a:t>Detalle</a:t>
            </a:r>
            <a:endParaRPr lang="es-AR" sz="1300" noProof="0" dirty="0"/>
          </a:p>
        </p:txBody>
      </p:sp>
      <p:sp>
        <p:nvSpPr>
          <p:cNvPr id="8" name="Text 6"/>
          <p:cNvSpPr/>
          <p:nvPr/>
        </p:nvSpPr>
        <p:spPr>
          <a:xfrm>
            <a:off x="7909560" y="2103120"/>
            <a:ext cx="3474720" cy="4206240"/>
          </a:xfrm>
          <a:prstGeom prst="rect">
            <a:avLst/>
          </a:prstGeom>
          <a:noFill/>
          <a:ln/>
        </p:spPr>
        <p:txBody>
          <a:bodyPr/>
          <a:lstStyle/>
          <a:p>
            <a:pPr marL="0" indent="0">
              <a:buNone/>
            </a:pPr>
            <a:r>
              <a:rPr lang="es-AR" sz="1250" b="1" noProof="0" dirty="0">
                <a:solidFill>
                  <a:srgbClr val="1E2761"/>
                </a:solidFill>
                <a:latin typeface="Calibri" pitchFamily="34" charset="0"/>
                <a:ea typeface="Calibri" pitchFamily="34" charset="-122"/>
                <a:cs typeface="Calibri" pitchFamily="34" charset="-120"/>
              </a:rPr>
              <a:t>Datos: </a:t>
            </a:r>
            <a:r>
              <a:rPr lang="es-AR" sz="1250" noProof="0" dirty="0">
                <a:solidFill>
                  <a:srgbClr val="1C1C2A"/>
                </a:solidFill>
                <a:latin typeface="Calibri" pitchFamily="34" charset="0"/>
                <a:ea typeface="Calibri" pitchFamily="34" charset="-122"/>
                <a:cs typeface="Calibri" pitchFamily="34" charset="-120"/>
              </a:rPr>
              <a:t>el array datos y el índice tope guardan la información de la Pila.
</a:t>
            </a:r>
            <a:r>
              <a:rPr lang="es-AR" sz="1250" b="1" noProof="0" dirty="0">
                <a:solidFill>
                  <a:srgbClr val="1E2761"/>
                </a:solidFill>
                <a:latin typeface="Calibri" pitchFamily="34" charset="0"/>
                <a:ea typeface="Calibri" pitchFamily="34" charset="-122"/>
                <a:cs typeface="Calibri" pitchFamily="34" charset="-120"/>
              </a:rPr>
              <a:t>Operaciones: </a:t>
            </a:r>
            <a:r>
              <a:rPr lang="es-AR" sz="1250" noProof="0" dirty="0">
                <a:solidFill>
                  <a:srgbClr val="1C1C2A"/>
                </a:solidFill>
                <a:latin typeface="Calibri" pitchFamily="34" charset="0"/>
                <a:ea typeface="Calibri" pitchFamily="34" charset="-122"/>
                <a:cs typeface="Calibri" pitchFamily="34" charset="-120"/>
              </a:rPr>
              <a:t>apilar(), tope(), </a:t>
            </a:r>
            <a:r>
              <a:rPr lang="es-AR" sz="1250" noProof="0" dirty="0" err="1">
                <a:solidFill>
                  <a:srgbClr val="1C1C2A"/>
                </a:solidFill>
                <a:latin typeface="Calibri" pitchFamily="34" charset="0"/>
                <a:ea typeface="Calibri" pitchFamily="34" charset="-122"/>
                <a:cs typeface="Calibri" pitchFamily="34" charset="-120"/>
              </a:rPr>
              <a:t>esVacia</a:t>
            </a:r>
            <a:r>
              <a:rPr lang="es-AR" sz="1250" noProof="0" dirty="0">
                <a:solidFill>
                  <a:srgbClr val="1C1C2A"/>
                </a:solidFill>
                <a:latin typeface="Calibri" pitchFamily="34" charset="0"/>
                <a:ea typeface="Calibri" pitchFamily="34" charset="-122"/>
                <a:cs typeface="Calibri" pitchFamily="34" charset="-120"/>
              </a:rPr>
              <a:t>() son la única forma válida de tocar esos datos.
</a:t>
            </a:r>
            <a:r>
              <a:rPr lang="es-AR" sz="1250" b="1" noProof="0" dirty="0">
                <a:solidFill>
                  <a:srgbClr val="1E2761"/>
                </a:solidFill>
                <a:latin typeface="Calibri" pitchFamily="34" charset="0"/>
                <a:ea typeface="Calibri" pitchFamily="34" charset="-122"/>
                <a:cs typeface="Calibri" pitchFamily="34" charset="-120"/>
              </a:rPr>
              <a:t>Encapsulamiento: </a:t>
            </a:r>
            <a:r>
              <a:rPr lang="es-AR" sz="1250" noProof="0" dirty="0" err="1">
                <a:solidFill>
                  <a:srgbClr val="1C1C2A"/>
                </a:solidFill>
                <a:latin typeface="Calibri" pitchFamily="34" charset="0"/>
                <a:ea typeface="Calibri" pitchFamily="34" charset="-122"/>
                <a:cs typeface="Calibri" pitchFamily="34" charset="-120"/>
              </a:rPr>
              <a:t>private</a:t>
            </a:r>
            <a:r>
              <a:rPr lang="es-AR" sz="1250" noProof="0" dirty="0">
                <a:solidFill>
                  <a:srgbClr val="1C1C2A"/>
                </a:solidFill>
                <a:latin typeface="Calibri" pitchFamily="34" charset="0"/>
                <a:ea typeface="Calibri" pitchFamily="34" charset="-122"/>
                <a:cs typeface="Calibri" pitchFamily="34" charset="-120"/>
              </a:rPr>
              <a:t> impide escribir </a:t>
            </a:r>
            <a:r>
              <a:rPr lang="es-AR" sz="1250" noProof="0" dirty="0" err="1">
                <a:solidFill>
                  <a:srgbClr val="1C1C2A"/>
                </a:solidFill>
                <a:latin typeface="Calibri" pitchFamily="34" charset="0"/>
                <a:ea typeface="Calibri" pitchFamily="34" charset="-122"/>
                <a:cs typeface="Calibri" pitchFamily="34" charset="-120"/>
              </a:rPr>
              <a:t>pila.datos</a:t>
            </a:r>
            <a:r>
              <a:rPr lang="es-AR" sz="1250" noProof="0" dirty="0">
                <a:solidFill>
                  <a:srgbClr val="1C1C2A"/>
                </a:solidFill>
                <a:latin typeface="Calibri" pitchFamily="34" charset="0"/>
                <a:ea typeface="Calibri" pitchFamily="34" charset="-122"/>
                <a:cs typeface="Calibri" pitchFamily="34" charset="-120"/>
              </a:rPr>
              <a:t>[0] = x desde afuera de la clase.</a:t>
            </a:r>
            <a:endParaRPr lang="es-AR" sz="1250" noProof="0" dirty="0"/>
          </a:p>
        </p:txBody>
      </p:sp>
      <p:sp>
        <p:nvSpPr>
          <p:cNvPr id="9" name="Text 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0" name="Text 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7</a:t>
            </a:r>
            <a:endParaRPr lang="es-AR" sz="10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3</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err="1">
                <a:solidFill>
                  <a:srgbClr val="1E2761"/>
                </a:solidFill>
                <a:latin typeface="Cambria" pitchFamily="34" charset="0"/>
                <a:ea typeface="Cambria" pitchFamily="34" charset="-122"/>
                <a:cs typeface="Cambria" pitchFamily="34" charset="-120"/>
              </a:rPr>
              <a:t>TDAs</a:t>
            </a:r>
            <a:r>
              <a:rPr lang="es-AR" sz="3000" b="1" noProof="0" dirty="0">
                <a:solidFill>
                  <a:srgbClr val="1E2761"/>
                </a:solidFill>
                <a:latin typeface="Cambria" pitchFamily="34" charset="0"/>
                <a:ea typeface="Cambria" pitchFamily="34" charset="-122"/>
                <a:cs typeface="Cambria" pitchFamily="34" charset="-120"/>
              </a:rPr>
              <a:t> que vamos a estudiar en la materia</a:t>
            </a:r>
            <a:endParaRPr lang="es-AR" sz="3000" noProof="0" dirty="0"/>
          </a:p>
        </p:txBody>
      </p:sp>
      <p:sp>
        <p:nvSpPr>
          <p:cNvPr id="4" name="Shape 2"/>
          <p:cNvSpPr/>
          <p:nvPr/>
        </p:nvSpPr>
        <p:spPr>
          <a:xfrm>
            <a:off x="548640" y="1828800"/>
            <a:ext cx="2084832" cy="3291840"/>
          </a:xfrm>
          <a:prstGeom prst="roundRect">
            <a:avLst>
              <a:gd name="adj" fmla="val 5263"/>
            </a:avLst>
          </a:prstGeom>
          <a:solidFill>
            <a:srgbClr val="1E2761"/>
          </a:solidFill>
          <a:ln/>
        </p:spPr>
        <p:txBody>
          <a:bodyPr/>
          <a:lstStyle/>
          <a:p>
            <a:endParaRPr lang="es-AR" noProof="0" dirty="0"/>
          </a:p>
        </p:txBody>
      </p:sp>
      <p:sp>
        <p:nvSpPr>
          <p:cNvPr id="5" name="Shape 3"/>
          <p:cNvSpPr/>
          <p:nvPr/>
        </p:nvSpPr>
        <p:spPr>
          <a:xfrm>
            <a:off x="1225296" y="2148840"/>
            <a:ext cx="731520" cy="731520"/>
          </a:xfrm>
          <a:prstGeom prst="ellipse">
            <a:avLst/>
          </a:prstGeom>
          <a:solidFill>
            <a:srgbClr val="E8A33D"/>
          </a:solidFill>
          <a:ln/>
        </p:spPr>
        <p:txBody>
          <a:bodyPr/>
          <a:lstStyle/>
          <a:p>
            <a:endParaRPr lang="es-AR" noProof="0" dirty="0"/>
          </a:p>
        </p:txBody>
      </p:sp>
      <p:sp>
        <p:nvSpPr>
          <p:cNvPr id="6" name="Text 4"/>
          <p:cNvSpPr/>
          <p:nvPr/>
        </p:nvSpPr>
        <p:spPr>
          <a:xfrm>
            <a:off x="1225296" y="2148840"/>
            <a:ext cx="731520" cy="731520"/>
          </a:xfrm>
          <a:prstGeom prst="rect">
            <a:avLst/>
          </a:prstGeom>
          <a:noFill/>
          <a:ln/>
        </p:spPr>
        <p:txBody>
          <a:bodyPr wrap="square" rtlCol="0" anchor="ctr"/>
          <a:lstStyle/>
          <a:p>
            <a:pPr marL="0" indent="0" algn="ctr">
              <a:buNone/>
            </a:pPr>
            <a:r>
              <a:rPr lang="es-AR" sz="2200" b="1" noProof="0" dirty="0">
                <a:solidFill>
                  <a:srgbClr val="1E2761"/>
                </a:solidFill>
                <a:latin typeface="Cambria" pitchFamily="34" charset="0"/>
                <a:ea typeface="Cambria" pitchFamily="34" charset="-122"/>
                <a:cs typeface="Cambria" pitchFamily="34" charset="-120"/>
              </a:rPr>
              <a:t>1</a:t>
            </a:r>
            <a:endParaRPr lang="es-AR" sz="2200" noProof="0" dirty="0"/>
          </a:p>
        </p:txBody>
      </p:sp>
      <p:sp>
        <p:nvSpPr>
          <p:cNvPr id="7" name="Text 5"/>
          <p:cNvSpPr/>
          <p:nvPr/>
        </p:nvSpPr>
        <p:spPr>
          <a:xfrm>
            <a:off x="685800" y="3063240"/>
            <a:ext cx="1810512" cy="64008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Pila</a:t>
            </a:r>
            <a:endParaRPr lang="es-AR" sz="1500" noProof="0" dirty="0"/>
          </a:p>
        </p:txBody>
      </p:sp>
      <p:sp>
        <p:nvSpPr>
          <p:cNvPr id="8" name="Text 6"/>
          <p:cNvSpPr/>
          <p:nvPr/>
        </p:nvSpPr>
        <p:spPr>
          <a:xfrm>
            <a:off x="685800" y="3703320"/>
            <a:ext cx="1810512" cy="1280160"/>
          </a:xfrm>
          <a:prstGeom prst="rect">
            <a:avLst/>
          </a:prstGeom>
          <a:noFill/>
          <a:ln/>
        </p:spPr>
        <p:txBody>
          <a:bodyPr wrap="square" rtlCol="0" anchor="t"/>
          <a:lstStyle/>
          <a:p>
            <a:pPr marL="0" indent="0" algn="ctr">
              <a:buNone/>
            </a:pPr>
            <a:r>
              <a:rPr lang="es-AR" sz="1150" noProof="0" dirty="0">
                <a:solidFill>
                  <a:srgbClr val="CADCFC"/>
                </a:solidFill>
                <a:latin typeface="Calibri" pitchFamily="34" charset="0"/>
                <a:ea typeface="Calibri" pitchFamily="34" charset="-122"/>
                <a:cs typeface="Calibri" pitchFamily="34" charset="-120"/>
              </a:rPr>
              <a:t>LIFO — último en entrar, primero en salir</a:t>
            </a:r>
            <a:endParaRPr lang="es-AR" sz="1150" noProof="0" dirty="0"/>
          </a:p>
        </p:txBody>
      </p:sp>
      <p:sp>
        <p:nvSpPr>
          <p:cNvPr id="9" name="Shape 7"/>
          <p:cNvSpPr/>
          <p:nvPr/>
        </p:nvSpPr>
        <p:spPr>
          <a:xfrm>
            <a:off x="2770632" y="1828800"/>
            <a:ext cx="2084832" cy="3291840"/>
          </a:xfrm>
          <a:prstGeom prst="roundRect">
            <a:avLst>
              <a:gd name="adj" fmla="val 5263"/>
            </a:avLst>
          </a:prstGeom>
          <a:solidFill>
            <a:srgbClr val="3A4A9E"/>
          </a:solidFill>
          <a:ln/>
        </p:spPr>
        <p:txBody>
          <a:bodyPr/>
          <a:lstStyle/>
          <a:p>
            <a:endParaRPr lang="es-AR" noProof="0" dirty="0"/>
          </a:p>
        </p:txBody>
      </p:sp>
      <p:sp>
        <p:nvSpPr>
          <p:cNvPr id="10" name="Shape 8"/>
          <p:cNvSpPr/>
          <p:nvPr/>
        </p:nvSpPr>
        <p:spPr>
          <a:xfrm>
            <a:off x="3447288" y="2148840"/>
            <a:ext cx="731520" cy="731520"/>
          </a:xfrm>
          <a:prstGeom prst="ellipse">
            <a:avLst/>
          </a:prstGeom>
          <a:solidFill>
            <a:srgbClr val="E8A33D"/>
          </a:solidFill>
          <a:ln/>
        </p:spPr>
        <p:txBody>
          <a:bodyPr/>
          <a:lstStyle/>
          <a:p>
            <a:endParaRPr lang="es-AR" noProof="0" dirty="0"/>
          </a:p>
        </p:txBody>
      </p:sp>
      <p:sp>
        <p:nvSpPr>
          <p:cNvPr id="11" name="Text 9"/>
          <p:cNvSpPr/>
          <p:nvPr/>
        </p:nvSpPr>
        <p:spPr>
          <a:xfrm>
            <a:off x="3447288" y="2148840"/>
            <a:ext cx="731520" cy="731520"/>
          </a:xfrm>
          <a:prstGeom prst="rect">
            <a:avLst/>
          </a:prstGeom>
          <a:noFill/>
          <a:ln/>
        </p:spPr>
        <p:txBody>
          <a:bodyPr wrap="square" rtlCol="0" anchor="ctr"/>
          <a:lstStyle/>
          <a:p>
            <a:pPr marL="0" indent="0" algn="ctr">
              <a:buNone/>
            </a:pPr>
            <a:r>
              <a:rPr lang="es-AR" sz="2200" b="1" noProof="0" dirty="0">
                <a:solidFill>
                  <a:srgbClr val="1E2761"/>
                </a:solidFill>
                <a:latin typeface="Cambria" pitchFamily="34" charset="0"/>
                <a:ea typeface="Cambria" pitchFamily="34" charset="-122"/>
                <a:cs typeface="Cambria" pitchFamily="34" charset="-120"/>
              </a:rPr>
              <a:t>2</a:t>
            </a:r>
            <a:endParaRPr lang="es-AR" sz="2200" noProof="0" dirty="0"/>
          </a:p>
        </p:txBody>
      </p:sp>
      <p:sp>
        <p:nvSpPr>
          <p:cNvPr id="12" name="Text 10"/>
          <p:cNvSpPr/>
          <p:nvPr/>
        </p:nvSpPr>
        <p:spPr>
          <a:xfrm>
            <a:off x="2907792" y="3063240"/>
            <a:ext cx="1810512" cy="64008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Cola</a:t>
            </a:r>
            <a:endParaRPr lang="es-AR" sz="1500" noProof="0" dirty="0"/>
          </a:p>
        </p:txBody>
      </p:sp>
      <p:sp>
        <p:nvSpPr>
          <p:cNvPr id="13" name="Text 11"/>
          <p:cNvSpPr/>
          <p:nvPr/>
        </p:nvSpPr>
        <p:spPr>
          <a:xfrm>
            <a:off x="2907792" y="3703320"/>
            <a:ext cx="1810512" cy="1280160"/>
          </a:xfrm>
          <a:prstGeom prst="rect">
            <a:avLst/>
          </a:prstGeom>
          <a:noFill/>
          <a:ln/>
        </p:spPr>
        <p:txBody>
          <a:bodyPr wrap="square" rtlCol="0" anchor="t"/>
          <a:lstStyle/>
          <a:p>
            <a:pPr marL="0" indent="0" algn="ctr">
              <a:buNone/>
            </a:pPr>
            <a:r>
              <a:rPr lang="es-AR" sz="1150" noProof="0" dirty="0">
                <a:solidFill>
                  <a:srgbClr val="CADCFC"/>
                </a:solidFill>
                <a:latin typeface="Calibri" pitchFamily="34" charset="0"/>
                <a:ea typeface="Calibri" pitchFamily="34" charset="-122"/>
                <a:cs typeface="Calibri" pitchFamily="34" charset="-120"/>
              </a:rPr>
              <a:t>FIFO — primero en entrar, primero en salir</a:t>
            </a:r>
            <a:endParaRPr lang="es-AR" sz="1150" noProof="0" dirty="0"/>
          </a:p>
        </p:txBody>
      </p:sp>
      <p:sp>
        <p:nvSpPr>
          <p:cNvPr id="14" name="Shape 12"/>
          <p:cNvSpPr/>
          <p:nvPr/>
        </p:nvSpPr>
        <p:spPr>
          <a:xfrm>
            <a:off x="4992624" y="1828800"/>
            <a:ext cx="2084832" cy="3291840"/>
          </a:xfrm>
          <a:prstGeom prst="roundRect">
            <a:avLst>
              <a:gd name="adj" fmla="val 5263"/>
            </a:avLst>
          </a:prstGeom>
          <a:solidFill>
            <a:srgbClr val="1E2761"/>
          </a:solidFill>
          <a:ln/>
        </p:spPr>
        <p:txBody>
          <a:bodyPr/>
          <a:lstStyle/>
          <a:p>
            <a:endParaRPr lang="es-AR" noProof="0" dirty="0"/>
          </a:p>
        </p:txBody>
      </p:sp>
      <p:sp>
        <p:nvSpPr>
          <p:cNvPr id="15" name="Shape 13"/>
          <p:cNvSpPr/>
          <p:nvPr/>
        </p:nvSpPr>
        <p:spPr>
          <a:xfrm>
            <a:off x="5669280" y="2148840"/>
            <a:ext cx="731520" cy="731520"/>
          </a:xfrm>
          <a:prstGeom prst="ellipse">
            <a:avLst/>
          </a:prstGeom>
          <a:solidFill>
            <a:srgbClr val="E8A33D"/>
          </a:solidFill>
          <a:ln/>
        </p:spPr>
        <p:txBody>
          <a:bodyPr/>
          <a:lstStyle/>
          <a:p>
            <a:endParaRPr lang="es-AR" noProof="0" dirty="0"/>
          </a:p>
        </p:txBody>
      </p:sp>
      <p:sp>
        <p:nvSpPr>
          <p:cNvPr id="16" name="Text 14"/>
          <p:cNvSpPr/>
          <p:nvPr/>
        </p:nvSpPr>
        <p:spPr>
          <a:xfrm>
            <a:off x="5669280" y="2148840"/>
            <a:ext cx="731520" cy="731520"/>
          </a:xfrm>
          <a:prstGeom prst="rect">
            <a:avLst/>
          </a:prstGeom>
          <a:noFill/>
          <a:ln/>
        </p:spPr>
        <p:txBody>
          <a:bodyPr wrap="square" rtlCol="0" anchor="ctr"/>
          <a:lstStyle/>
          <a:p>
            <a:pPr marL="0" indent="0" algn="ctr">
              <a:buNone/>
            </a:pPr>
            <a:r>
              <a:rPr lang="es-AR" sz="2200" b="1" noProof="0" dirty="0">
                <a:solidFill>
                  <a:srgbClr val="1E2761"/>
                </a:solidFill>
                <a:latin typeface="Cambria" pitchFamily="34" charset="0"/>
                <a:ea typeface="Cambria" pitchFamily="34" charset="-122"/>
                <a:cs typeface="Cambria" pitchFamily="34" charset="-120"/>
              </a:rPr>
              <a:t>3</a:t>
            </a:r>
            <a:endParaRPr lang="es-AR" sz="2200" noProof="0" dirty="0"/>
          </a:p>
        </p:txBody>
      </p:sp>
      <p:sp>
        <p:nvSpPr>
          <p:cNvPr id="17" name="Text 15"/>
          <p:cNvSpPr/>
          <p:nvPr/>
        </p:nvSpPr>
        <p:spPr>
          <a:xfrm>
            <a:off x="5129784" y="3063240"/>
            <a:ext cx="1810512" cy="64008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Cola con Prioridad</a:t>
            </a:r>
            <a:endParaRPr lang="es-AR" sz="1500" noProof="0" dirty="0"/>
          </a:p>
        </p:txBody>
      </p:sp>
      <p:sp>
        <p:nvSpPr>
          <p:cNvPr id="18" name="Text 16"/>
          <p:cNvSpPr/>
          <p:nvPr/>
        </p:nvSpPr>
        <p:spPr>
          <a:xfrm>
            <a:off x="5129784" y="3703320"/>
            <a:ext cx="1810512" cy="1280160"/>
          </a:xfrm>
          <a:prstGeom prst="rect">
            <a:avLst/>
          </a:prstGeom>
          <a:noFill/>
          <a:ln/>
        </p:spPr>
        <p:txBody>
          <a:bodyPr wrap="square" rtlCol="0" anchor="t"/>
          <a:lstStyle/>
          <a:p>
            <a:pPr marL="0" indent="0" algn="ctr">
              <a:buNone/>
            </a:pPr>
            <a:r>
              <a:rPr lang="es-AR" sz="1150" noProof="0" dirty="0">
                <a:solidFill>
                  <a:srgbClr val="CADCFC"/>
                </a:solidFill>
                <a:latin typeface="Calibri" pitchFamily="34" charset="0"/>
                <a:ea typeface="Calibri" pitchFamily="34" charset="-122"/>
                <a:cs typeface="Calibri" pitchFamily="34" charset="-120"/>
              </a:rPr>
              <a:t>Sale primero el elemento de mayor prioridad</a:t>
            </a:r>
            <a:endParaRPr lang="es-AR" sz="1150" noProof="0" dirty="0"/>
          </a:p>
        </p:txBody>
      </p:sp>
      <p:sp>
        <p:nvSpPr>
          <p:cNvPr id="19" name="Shape 17"/>
          <p:cNvSpPr/>
          <p:nvPr/>
        </p:nvSpPr>
        <p:spPr>
          <a:xfrm>
            <a:off x="7214616" y="1828800"/>
            <a:ext cx="2084832" cy="3291840"/>
          </a:xfrm>
          <a:prstGeom prst="roundRect">
            <a:avLst>
              <a:gd name="adj" fmla="val 5263"/>
            </a:avLst>
          </a:prstGeom>
          <a:solidFill>
            <a:srgbClr val="3A4A9E"/>
          </a:solidFill>
          <a:ln/>
        </p:spPr>
        <p:txBody>
          <a:bodyPr/>
          <a:lstStyle/>
          <a:p>
            <a:endParaRPr lang="es-AR" noProof="0" dirty="0"/>
          </a:p>
        </p:txBody>
      </p:sp>
      <p:sp>
        <p:nvSpPr>
          <p:cNvPr id="20" name="Shape 18"/>
          <p:cNvSpPr/>
          <p:nvPr/>
        </p:nvSpPr>
        <p:spPr>
          <a:xfrm>
            <a:off x="7891272" y="2148840"/>
            <a:ext cx="731520" cy="731520"/>
          </a:xfrm>
          <a:prstGeom prst="ellipse">
            <a:avLst/>
          </a:prstGeom>
          <a:solidFill>
            <a:srgbClr val="E8A33D"/>
          </a:solidFill>
          <a:ln/>
        </p:spPr>
        <p:txBody>
          <a:bodyPr/>
          <a:lstStyle/>
          <a:p>
            <a:endParaRPr lang="es-AR" noProof="0" dirty="0"/>
          </a:p>
        </p:txBody>
      </p:sp>
      <p:sp>
        <p:nvSpPr>
          <p:cNvPr id="21" name="Text 19"/>
          <p:cNvSpPr/>
          <p:nvPr/>
        </p:nvSpPr>
        <p:spPr>
          <a:xfrm>
            <a:off x="7891272" y="2148840"/>
            <a:ext cx="731520" cy="731520"/>
          </a:xfrm>
          <a:prstGeom prst="rect">
            <a:avLst/>
          </a:prstGeom>
          <a:noFill/>
          <a:ln/>
        </p:spPr>
        <p:txBody>
          <a:bodyPr wrap="square" rtlCol="0" anchor="ctr"/>
          <a:lstStyle/>
          <a:p>
            <a:pPr marL="0" indent="0" algn="ctr">
              <a:buNone/>
            </a:pPr>
            <a:r>
              <a:rPr lang="es-AR" sz="2200" b="1" noProof="0" dirty="0">
                <a:solidFill>
                  <a:srgbClr val="1E2761"/>
                </a:solidFill>
                <a:latin typeface="Cambria" pitchFamily="34" charset="0"/>
                <a:ea typeface="Cambria" pitchFamily="34" charset="-122"/>
                <a:cs typeface="Cambria" pitchFamily="34" charset="-120"/>
              </a:rPr>
              <a:t>4</a:t>
            </a:r>
            <a:endParaRPr lang="es-AR" sz="2200" noProof="0" dirty="0"/>
          </a:p>
        </p:txBody>
      </p:sp>
      <p:sp>
        <p:nvSpPr>
          <p:cNvPr id="22" name="Text 20"/>
          <p:cNvSpPr/>
          <p:nvPr/>
        </p:nvSpPr>
        <p:spPr>
          <a:xfrm>
            <a:off x="7351776" y="3063240"/>
            <a:ext cx="1810512" cy="64008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Conjunto</a:t>
            </a:r>
            <a:endParaRPr lang="es-AR" sz="1500" noProof="0" dirty="0"/>
          </a:p>
        </p:txBody>
      </p:sp>
      <p:sp>
        <p:nvSpPr>
          <p:cNvPr id="23" name="Text 21"/>
          <p:cNvSpPr/>
          <p:nvPr/>
        </p:nvSpPr>
        <p:spPr>
          <a:xfrm>
            <a:off x="7351776" y="3703320"/>
            <a:ext cx="1810512" cy="1280160"/>
          </a:xfrm>
          <a:prstGeom prst="rect">
            <a:avLst/>
          </a:prstGeom>
          <a:noFill/>
          <a:ln/>
        </p:spPr>
        <p:txBody>
          <a:bodyPr wrap="square" rtlCol="0" anchor="t"/>
          <a:lstStyle/>
          <a:p>
            <a:pPr marL="0" indent="0" algn="ctr">
              <a:buNone/>
            </a:pPr>
            <a:r>
              <a:rPr lang="es-AR" sz="1150" noProof="0" dirty="0">
                <a:solidFill>
                  <a:srgbClr val="CADCFC"/>
                </a:solidFill>
                <a:latin typeface="Calibri" pitchFamily="34" charset="0"/>
                <a:ea typeface="Calibri" pitchFamily="34" charset="-122"/>
                <a:cs typeface="Calibri" pitchFamily="34" charset="-120"/>
              </a:rPr>
              <a:t>Colección sin elementos repetidos, sin orden</a:t>
            </a:r>
            <a:endParaRPr lang="es-AR" sz="1150" noProof="0" dirty="0"/>
          </a:p>
        </p:txBody>
      </p:sp>
      <p:sp>
        <p:nvSpPr>
          <p:cNvPr id="24" name="Shape 22"/>
          <p:cNvSpPr/>
          <p:nvPr/>
        </p:nvSpPr>
        <p:spPr>
          <a:xfrm>
            <a:off x="9436608" y="1828800"/>
            <a:ext cx="2084832" cy="3291840"/>
          </a:xfrm>
          <a:prstGeom prst="roundRect">
            <a:avLst>
              <a:gd name="adj" fmla="val 5263"/>
            </a:avLst>
          </a:prstGeom>
          <a:solidFill>
            <a:srgbClr val="1E2761"/>
          </a:solidFill>
          <a:ln/>
        </p:spPr>
        <p:txBody>
          <a:bodyPr/>
          <a:lstStyle/>
          <a:p>
            <a:endParaRPr lang="es-AR" noProof="0" dirty="0"/>
          </a:p>
        </p:txBody>
      </p:sp>
      <p:sp>
        <p:nvSpPr>
          <p:cNvPr id="25" name="Shape 23"/>
          <p:cNvSpPr/>
          <p:nvPr/>
        </p:nvSpPr>
        <p:spPr>
          <a:xfrm>
            <a:off x="10113264" y="2148840"/>
            <a:ext cx="731520" cy="731520"/>
          </a:xfrm>
          <a:prstGeom prst="ellipse">
            <a:avLst/>
          </a:prstGeom>
          <a:solidFill>
            <a:srgbClr val="E8A33D"/>
          </a:solidFill>
          <a:ln/>
        </p:spPr>
        <p:txBody>
          <a:bodyPr/>
          <a:lstStyle/>
          <a:p>
            <a:endParaRPr lang="es-AR" noProof="0" dirty="0"/>
          </a:p>
        </p:txBody>
      </p:sp>
      <p:sp>
        <p:nvSpPr>
          <p:cNvPr id="26" name="Text 24"/>
          <p:cNvSpPr/>
          <p:nvPr/>
        </p:nvSpPr>
        <p:spPr>
          <a:xfrm>
            <a:off x="10113264" y="2148840"/>
            <a:ext cx="731520" cy="731520"/>
          </a:xfrm>
          <a:prstGeom prst="rect">
            <a:avLst/>
          </a:prstGeom>
          <a:noFill/>
          <a:ln/>
        </p:spPr>
        <p:txBody>
          <a:bodyPr wrap="square" rtlCol="0" anchor="ctr"/>
          <a:lstStyle/>
          <a:p>
            <a:pPr marL="0" indent="0" algn="ctr">
              <a:buNone/>
            </a:pPr>
            <a:r>
              <a:rPr lang="es-AR" sz="2200" b="1" noProof="0" dirty="0">
                <a:solidFill>
                  <a:srgbClr val="1E2761"/>
                </a:solidFill>
                <a:latin typeface="Cambria" pitchFamily="34" charset="0"/>
                <a:ea typeface="Cambria" pitchFamily="34" charset="-122"/>
                <a:cs typeface="Cambria" pitchFamily="34" charset="-120"/>
              </a:rPr>
              <a:t>5</a:t>
            </a:r>
            <a:endParaRPr lang="es-AR" sz="2200" noProof="0" dirty="0"/>
          </a:p>
        </p:txBody>
      </p:sp>
      <p:sp>
        <p:nvSpPr>
          <p:cNvPr id="27" name="Text 25"/>
          <p:cNvSpPr/>
          <p:nvPr/>
        </p:nvSpPr>
        <p:spPr>
          <a:xfrm>
            <a:off x="9573768" y="3063240"/>
            <a:ext cx="1810512" cy="64008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Diccionario</a:t>
            </a:r>
            <a:endParaRPr lang="es-AR" sz="1500" noProof="0" dirty="0"/>
          </a:p>
        </p:txBody>
      </p:sp>
      <p:sp>
        <p:nvSpPr>
          <p:cNvPr id="28" name="Text 26"/>
          <p:cNvSpPr/>
          <p:nvPr/>
        </p:nvSpPr>
        <p:spPr>
          <a:xfrm>
            <a:off x="9573768" y="3703320"/>
            <a:ext cx="1810512" cy="1280160"/>
          </a:xfrm>
          <a:prstGeom prst="rect">
            <a:avLst/>
          </a:prstGeom>
          <a:noFill/>
          <a:ln/>
        </p:spPr>
        <p:txBody>
          <a:bodyPr wrap="square" rtlCol="0" anchor="t"/>
          <a:lstStyle/>
          <a:p>
            <a:pPr marL="0" indent="0" algn="ctr">
              <a:buNone/>
            </a:pPr>
            <a:r>
              <a:rPr lang="es-AR" sz="1150" noProof="0" dirty="0">
                <a:solidFill>
                  <a:srgbClr val="CADCFC"/>
                </a:solidFill>
                <a:latin typeface="Calibri" pitchFamily="34" charset="0"/>
                <a:ea typeface="Calibri" pitchFamily="34" charset="-122"/>
                <a:cs typeface="Calibri" pitchFamily="34" charset="-120"/>
              </a:rPr>
              <a:t>Asociación clave → valor</a:t>
            </a:r>
            <a:endParaRPr lang="es-AR" sz="1150" noProof="0" dirty="0"/>
          </a:p>
        </p:txBody>
      </p:sp>
      <p:sp>
        <p:nvSpPr>
          <p:cNvPr id="29" name="Text 27"/>
          <p:cNvSpPr/>
          <p:nvPr/>
        </p:nvSpPr>
        <p:spPr>
          <a:xfrm>
            <a:off x="548640" y="5394960"/>
            <a:ext cx="10881360" cy="548640"/>
          </a:xfrm>
          <a:prstGeom prst="rect">
            <a:avLst/>
          </a:prstGeom>
          <a:noFill/>
          <a:ln/>
        </p:spPr>
        <p:txBody>
          <a:bodyPr wrap="square" rtlCol="0" anchor="ctr"/>
          <a:lstStyle/>
          <a:p>
            <a:pPr marL="0" indent="0">
              <a:buNone/>
            </a:pPr>
            <a:r>
              <a:rPr lang="es-AR" sz="1250" i="1" noProof="0" dirty="0">
                <a:solidFill>
                  <a:srgbClr val="5B6472"/>
                </a:solidFill>
                <a:latin typeface="Calibri" pitchFamily="34" charset="0"/>
                <a:ea typeface="Calibri" pitchFamily="34" charset="-122"/>
                <a:cs typeface="Calibri" pitchFamily="34" charset="-120"/>
              </a:rPr>
              <a:t>Estos </a:t>
            </a:r>
            <a:r>
              <a:rPr lang="es-AR" sz="1250" i="1" noProof="0" dirty="0" err="1">
                <a:solidFill>
                  <a:srgbClr val="5B6472"/>
                </a:solidFill>
                <a:latin typeface="Calibri" pitchFamily="34" charset="0"/>
                <a:ea typeface="Calibri" pitchFamily="34" charset="-122"/>
                <a:cs typeface="Calibri" pitchFamily="34" charset="-120"/>
              </a:rPr>
              <a:t>TDAs</a:t>
            </a:r>
            <a:r>
              <a:rPr lang="es-AR" sz="1250" i="1" noProof="0" dirty="0">
                <a:solidFill>
                  <a:srgbClr val="5B6472"/>
                </a:solidFill>
                <a:latin typeface="Calibri" pitchFamily="34" charset="0"/>
                <a:ea typeface="Calibri" pitchFamily="34" charset="-122"/>
                <a:cs typeface="Calibri" pitchFamily="34" charset="-120"/>
              </a:rPr>
              <a:t> se presentan hoy como concepto. Su especificación e implementación completa se desarrollan clase a clase durante todo el cuatrimestre.</a:t>
            </a:r>
            <a:endParaRPr lang="es-AR" sz="1250" noProof="0" dirty="0"/>
          </a:p>
        </p:txBody>
      </p:sp>
      <p:sp>
        <p:nvSpPr>
          <p:cNvPr id="30" name="Text 28"/>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31" name="Text 29"/>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7</a:t>
            </a:r>
            <a:endParaRPr lang="es-AR" sz="10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4114800"/>
            <a:ext cx="4572000" cy="4572000"/>
          </a:xfrm>
          <a:prstGeom prst="ellipse">
            <a:avLst/>
          </a:prstGeom>
          <a:solidFill>
            <a:srgbClr val="263876"/>
          </a:solidFill>
          <a:ln/>
        </p:spPr>
        <p:txBody>
          <a:bodyPr/>
          <a:lstStyle/>
          <a:p>
            <a:endParaRPr lang="es-AR" noProof="0" dirty="0"/>
          </a:p>
        </p:txBody>
      </p:sp>
      <p:sp>
        <p:nvSpPr>
          <p:cNvPr id="3" name="Text 1"/>
          <p:cNvSpPr/>
          <p:nvPr/>
        </p:nvSpPr>
        <p:spPr>
          <a:xfrm>
            <a:off x="731520" y="2468880"/>
            <a:ext cx="7315200" cy="365760"/>
          </a:xfrm>
          <a:prstGeom prst="rect">
            <a:avLst/>
          </a:prstGeom>
          <a:noFill/>
          <a:ln/>
        </p:spPr>
        <p:txBody>
          <a:bodyPr wrap="square" rtlCol="0" anchor="ctr"/>
          <a:lstStyle/>
          <a:p>
            <a:pPr marL="0" indent="0">
              <a:buNone/>
            </a:pPr>
            <a:r>
              <a:rPr lang="es-AR" sz="1400" b="1" kern="0" spc="200" noProof="0" dirty="0">
                <a:solidFill>
                  <a:srgbClr val="E8A33D"/>
                </a:solidFill>
                <a:latin typeface="Calibri" pitchFamily="34" charset="0"/>
                <a:ea typeface="Calibri" pitchFamily="34" charset="-122"/>
                <a:cs typeface="Calibri" pitchFamily="34" charset="-120"/>
              </a:rPr>
              <a:t>BLOQUE 4</a:t>
            </a:r>
            <a:endParaRPr lang="es-AR" sz="1400" noProof="0" dirty="0"/>
          </a:p>
        </p:txBody>
      </p:sp>
      <p:sp>
        <p:nvSpPr>
          <p:cNvPr id="4" name="Text 2"/>
          <p:cNvSpPr/>
          <p:nvPr/>
        </p:nvSpPr>
        <p:spPr>
          <a:xfrm>
            <a:off x="731520" y="2834640"/>
            <a:ext cx="10058400" cy="1280160"/>
          </a:xfrm>
          <a:prstGeom prst="rect">
            <a:avLst/>
          </a:prstGeom>
          <a:noFill/>
          <a:ln/>
        </p:spPr>
        <p:txBody>
          <a:bodyPr wrap="square" rtlCol="0" anchor="ctr"/>
          <a:lstStyle/>
          <a:p>
            <a:pPr marL="0" indent="0">
              <a:buNone/>
            </a:pPr>
            <a:r>
              <a:rPr lang="es-AR" sz="3800" b="1" noProof="0" dirty="0">
                <a:solidFill>
                  <a:srgbClr val="FFFFFF"/>
                </a:solidFill>
                <a:latin typeface="Cambria" pitchFamily="34" charset="0"/>
                <a:ea typeface="Cambria" pitchFamily="34" charset="-122"/>
                <a:cs typeface="Cambria" pitchFamily="34" charset="-120"/>
              </a:rPr>
              <a:t>Notación de especificación</a:t>
            </a:r>
            <a:endParaRPr lang="es-AR" sz="3800" noProof="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8</a:t>
            </a:r>
            <a:endParaRPr lang="es-AR" sz="10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4</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¿Cómo especificamos un TDA?</a:t>
            </a:r>
            <a:endParaRPr lang="es-AR" sz="3000" noProof="0" dirty="0"/>
          </a:p>
        </p:txBody>
      </p:sp>
      <p:sp>
        <p:nvSpPr>
          <p:cNvPr id="4" name="Shape 2"/>
          <p:cNvSpPr/>
          <p:nvPr/>
        </p:nvSpPr>
        <p:spPr>
          <a:xfrm>
            <a:off x="548640" y="1554480"/>
            <a:ext cx="5120640" cy="1051560"/>
          </a:xfrm>
          <a:prstGeom prst="roundRect">
            <a:avLst>
              <a:gd name="adj" fmla="val 8696"/>
            </a:avLst>
          </a:prstGeom>
          <a:solidFill>
            <a:srgbClr val="F5F7FC"/>
          </a:solidFill>
          <a:ln w="12700">
            <a:solidFill>
              <a:srgbClr val="CADCFC"/>
            </a:solidFill>
            <a:prstDash val="solid"/>
          </a:ln>
        </p:spPr>
        <p:txBody>
          <a:bodyPr/>
          <a:lstStyle/>
          <a:p>
            <a:endParaRPr lang="es-AR" noProof="0" dirty="0"/>
          </a:p>
        </p:txBody>
      </p:sp>
      <p:sp>
        <p:nvSpPr>
          <p:cNvPr id="5" name="Shape 3"/>
          <p:cNvSpPr/>
          <p:nvPr/>
        </p:nvSpPr>
        <p:spPr>
          <a:xfrm>
            <a:off x="777240" y="1737360"/>
            <a:ext cx="640080" cy="365760"/>
          </a:xfrm>
          <a:prstGeom prst="roundRect">
            <a:avLst>
              <a:gd name="adj" fmla="val 50000"/>
            </a:avLst>
          </a:prstGeom>
          <a:solidFill>
            <a:srgbClr val="1E2761"/>
          </a:solidFill>
          <a:ln/>
        </p:spPr>
        <p:txBody>
          <a:bodyPr/>
          <a:lstStyle/>
          <a:p>
            <a:endParaRPr lang="es-AR" noProof="0" dirty="0"/>
          </a:p>
        </p:txBody>
      </p:sp>
      <p:sp>
        <p:nvSpPr>
          <p:cNvPr id="6" name="Text 4"/>
          <p:cNvSpPr/>
          <p:nvPr/>
        </p:nvSpPr>
        <p:spPr>
          <a:xfrm>
            <a:off x="777240" y="173736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1</a:t>
            </a:r>
            <a:endParaRPr lang="es-AR" sz="1200" noProof="0" dirty="0"/>
          </a:p>
        </p:txBody>
      </p:sp>
      <p:sp>
        <p:nvSpPr>
          <p:cNvPr id="7" name="Text 5"/>
          <p:cNvSpPr/>
          <p:nvPr/>
        </p:nvSpPr>
        <p:spPr>
          <a:xfrm>
            <a:off x="1600200" y="1645920"/>
            <a:ext cx="393192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Dominio</a:t>
            </a:r>
            <a:endParaRPr lang="es-AR" sz="1500" noProof="0" dirty="0"/>
          </a:p>
        </p:txBody>
      </p:sp>
      <p:sp>
        <p:nvSpPr>
          <p:cNvPr id="8" name="Text 6"/>
          <p:cNvSpPr/>
          <p:nvPr/>
        </p:nvSpPr>
        <p:spPr>
          <a:xfrm>
            <a:off x="1600200" y="2011680"/>
            <a:ext cx="3931920" cy="50292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Qué representa el conjunto de valores del TDA.</a:t>
            </a:r>
            <a:endParaRPr lang="es-AR" sz="1150" noProof="0" dirty="0"/>
          </a:p>
        </p:txBody>
      </p:sp>
      <p:sp>
        <p:nvSpPr>
          <p:cNvPr id="9" name="Shape 7"/>
          <p:cNvSpPr/>
          <p:nvPr/>
        </p:nvSpPr>
        <p:spPr>
          <a:xfrm>
            <a:off x="548640" y="2743200"/>
            <a:ext cx="5120640" cy="1051560"/>
          </a:xfrm>
          <a:prstGeom prst="roundRect">
            <a:avLst>
              <a:gd name="adj" fmla="val 8696"/>
            </a:avLst>
          </a:prstGeom>
          <a:solidFill>
            <a:srgbClr val="F5F7FC"/>
          </a:solidFill>
          <a:ln w="12700">
            <a:solidFill>
              <a:srgbClr val="CADCFC"/>
            </a:solidFill>
            <a:prstDash val="solid"/>
          </a:ln>
        </p:spPr>
        <p:txBody>
          <a:bodyPr/>
          <a:lstStyle/>
          <a:p>
            <a:endParaRPr lang="es-AR" noProof="0" dirty="0"/>
          </a:p>
        </p:txBody>
      </p:sp>
      <p:sp>
        <p:nvSpPr>
          <p:cNvPr id="10" name="Shape 8"/>
          <p:cNvSpPr/>
          <p:nvPr/>
        </p:nvSpPr>
        <p:spPr>
          <a:xfrm>
            <a:off x="777240" y="2926080"/>
            <a:ext cx="640080" cy="365760"/>
          </a:xfrm>
          <a:prstGeom prst="roundRect">
            <a:avLst>
              <a:gd name="adj" fmla="val 50000"/>
            </a:avLst>
          </a:prstGeom>
          <a:solidFill>
            <a:srgbClr val="1E2761"/>
          </a:solidFill>
          <a:ln/>
        </p:spPr>
        <p:txBody>
          <a:bodyPr/>
          <a:lstStyle/>
          <a:p>
            <a:endParaRPr lang="es-AR" noProof="0" dirty="0"/>
          </a:p>
        </p:txBody>
      </p:sp>
      <p:sp>
        <p:nvSpPr>
          <p:cNvPr id="11" name="Text 9"/>
          <p:cNvSpPr/>
          <p:nvPr/>
        </p:nvSpPr>
        <p:spPr>
          <a:xfrm>
            <a:off x="777240" y="292608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2</a:t>
            </a:r>
            <a:endParaRPr lang="es-AR" sz="1200" noProof="0" dirty="0"/>
          </a:p>
        </p:txBody>
      </p:sp>
      <p:sp>
        <p:nvSpPr>
          <p:cNvPr id="12" name="Text 10"/>
          <p:cNvSpPr/>
          <p:nvPr/>
        </p:nvSpPr>
        <p:spPr>
          <a:xfrm>
            <a:off x="1600200" y="2834640"/>
            <a:ext cx="393192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Operaciones</a:t>
            </a:r>
            <a:endParaRPr lang="es-AR" sz="1500" noProof="0" dirty="0"/>
          </a:p>
        </p:txBody>
      </p:sp>
      <p:sp>
        <p:nvSpPr>
          <p:cNvPr id="13" name="Text 11"/>
          <p:cNvSpPr/>
          <p:nvPr/>
        </p:nvSpPr>
        <p:spPr>
          <a:xfrm>
            <a:off x="1600200" y="3200400"/>
            <a:ext cx="3931920" cy="50292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Firma: nombre + parámetros + qué devuelve.</a:t>
            </a:r>
            <a:endParaRPr lang="es-AR" sz="1150" noProof="0" dirty="0"/>
          </a:p>
        </p:txBody>
      </p:sp>
      <p:sp>
        <p:nvSpPr>
          <p:cNvPr id="14" name="Shape 12"/>
          <p:cNvSpPr/>
          <p:nvPr/>
        </p:nvSpPr>
        <p:spPr>
          <a:xfrm>
            <a:off x="548640" y="3931920"/>
            <a:ext cx="5120640" cy="1051560"/>
          </a:xfrm>
          <a:prstGeom prst="roundRect">
            <a:avLst>
              <a:gd name="adj" fmla="val 8696"/>
            </a:avLst>
          </a:prstGeom>
          <a:solidFill>
            <a:srgbClr val="F5F7FC"/>
          </a:solidFill>
          <a:ln w="12700">
            <a:solidFill>
              <a:srgbClr val="CADCFC"/>
            </a:solidFill>
            <a:prstDash val="solid"/>
          </a:ln>
        </p:spPr>
        <p:txBody>
          <a:bodyPr/>
          <a:lstStyle/>
          <a:p>
            <a:endParaRPr lang="es-AR" noProof="0" dirty="0"/>
          </a:p>
        </p:txBody>
      </p:sp>
      <p:sp>
        <p:nvSpPr>
          <p:cNvPr id="15" name="Shape 13"/>
          <p:cNvSpPr/>
          <p:nvPr/>
        </p:nvSpPr>
        <p:spPr>
          <a:xfrm>
            <a:off x="777240" y="4114800"/>
            <a:ext cx="640080" cy="365760"/>
          </a:xfrm>
          <a:prstGeom prst="roundRect">
            <a:avLst>
              <a:gd name="adj" fmla="val 50000"/>
            </a:avLst>
          </a:prstGeom>
          <a:solidFill>
            <a:srgbClr val="1E2761"/>
          </a:solidFill>
          <a:ln/>
        </p:spPr>
        <p:txBody>
          <a:bodyPr/>
          <a:lstStyle/>
          <a:p>
            <a:endParaRPr lang="es-AR" noProof="0" dirty="0"/>
          </a:p>
        </p:txBody>
      </p:sp>
      <p:sp>
        <p:nvSpPr>
          <p:cNvPr id="16" name="Text 14"/>
          <p:cNvSpPr/>
          <p:nvPr/>
        </p:nvSpPr>
        <p:spPr>
          <a:xfrm>
            <a:off x="777240" y="411480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3</a:t>
            </a:r>
            <a:endParaRPr lang="es-AR" sz="1200" noProof="0" dirty="0"/>
          </a:p>
        </p:txBody>
      </p:sp>
      <p:sp>
        <p:nvSpPr>
          <p:cNvPr id="17" name="Text 15"/>
          <p:cNvSpPr/>
          <p:nvPr/>
        </p:nvSpPr>
        <p:spPr>
          <a:xfrm>
            <a:off x="1600200" y="4023360"/>
            <a:ext cx="393192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Precondiciones</a:t>
            </a:r>
            <a:endParaRPr lang="es-AR" sz="1500" noProof="0" dirty="0"/>
          </a:p>
        </p:txBody>
      </p:sp>
      <p:sp>
        <p:nvSpPr>
          <p:cNvPr id="18" name="Text 16"/>
          <p:cNvSpPr/>
          <p:nvPr/>
        </p:nvSpPr>
        <p:spPr>
          <a:xfrm>
            <a:off x="1600200" y="4389120"/>
            <a:ext cx="3931920" cy="50292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Qué debe cumplirse ANTES de ejecutar la operación.</a:t>
            </a:r>
            <a:endParaRPr lang="es-AR" sz="1150" noProof="0" dirty="0"/>
          </a:p>
        </p:txBody>
      </p:sp>
      <p:sp>
        <p:nvSpPr>
          <p:cNvPr id="19" name="Shape 17"/>
          <p:cNvSpPr/>
          <p:nvPr/>
        </p:nvSpPr>
        <p:spPr>
          <a:xfrm>
            <a:off x="548640" y="5120640"/>
            <a:ext cx="5120640" cy="1051560"/>
          </a:xfrm>
          <a:prstGeom prst="roundRect">
            <a:avLst>
              <a:gd name="adj" fmla="val 8696"/>
            </a:avLst>
          </a:prstGeom>
          <a:solidFill>
            <a:srgbClr val="F5F7FC"/>
          </a:solidFill>
          <a:ln w="12700">
            <a:solidFill>
              <a:srgbClr val="CADCFC"/>
            </a:solidFill>
            <a:prstDash val="solid"/>
          </a:ln>
        </p:spPr>
        <p:txBody>
          <a:bodyPr/>
          <a:lstStyle/>
          <a:p>
            <a:endParaRPr lang="es-AR" noProof="0" dirty="0"/>
          </a:p>
        </p:txBody>
      </p:sp>
      <p:sp>
        <p:nvSpPr>
          <p:cNvPr id="20" name="Shape 18"/>
          <p:cNvSpPr/>
          <p:nvPr/>
        </p:nvSpPr>
        <p:spPr>
          <a:xfrm>
            <a:off x="777240" y="5303520"/>
            <a:ext cx="640080" cy="365760"/>
          </a:xfrm>
          <a:prstGeom prst="roundRect">
            <a:avLst>
              <a:gd name="adj" fmla="val 50000"/>
            </a:avLst>
          </a:prstGeom>
          <a:solidFill>
            <a:srgbClr val="1E2761"/>
          </a:solidFill>
          <a:ln/>
        </p:spPr>
        <p:txBody>
          <a:bodyPr/>
          <a:lstStyle/>
          <a:p>
            <a:endParaRPr lang="es-AR" noProof="0" dirty="0"/>
          </a:p>
        </p:txBody>
      </p:sp>
      <p:sp>
        <p:nvSpPr>
          <p:cNvPr id="21" name="Text 19"/>
          <p:cNvSpPr/>
          <p:nvPr/>
        </p:nvSpPr>
        <p:spPr>
          <a:xfrm>
            <a:off x="777240" y="530352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4</a:t>
            </a:r>
            <a:endParaRPr lang="es-AR" sz="1200" noProof="0" dirty="0"/>
          </a:p>
        </p:txBody>
      </p:sp>
      <p:sp>
        <p:nvSpPr>
          <p:cNvPr id="22" name="Text 20"/>
          <p:cNvSpPr/>
          <p:nvPr/>
        </p:nvSpPr>
        <p:spPr>
          <a:xfrm>
            <a:off x="1600200" y="5212080"/>
            <a:ext cx="3931920" cy="365760"/>
          </a:xfrm>
          <a:prstGeom prst="rect">
            <a:avLst/>
          </a:prstGeom>
          <a:noFill/>
          <a:ln/>
        </p:spPr>
        <p:txBody>
          <a:bodyPr wrap="square" rtlCol="0" anchor="ctr"/>
          <a:lstStyle/>
          <a:p>
            <a:pPr marL="0" indent="0">
              <a:buNone/>
            </a:pPr>
            <a:r>
              <a:rPr lang="es-AR" sz="1500" b="1" noProof="0" dirty="0">
                <a:solidFill>
                  <a:srgbClr val="1E2761"/>
                </a:solidFill>
                <a:latin typeface="Calibri" pitchFamily="34" charset="0"/>
                <a:ea typeface="Calibri" pitchFamily="34" charset="-122"/>
                <a:cs typeface="Calibri" pitchFamily="34" charset="-120"/>
              </a:rPr>
              <a:t>Postcondiciones</a:t>
            </a:r>
            <a:endParaRPr lang="es-AR" sz="1500" noProof="0" dirty="0"/>
          </a:p>
        </p:txBody>
      </p:sp>
      <p:sp>
        <p:nvSpPr>
          <p:cNvPr id="23" name="Text 21"/>
          <p:cNvSpPr/>
          <p:nvPr/>
        </p:nvSpPr>
        <p:spPr>
          <a:xfrm>
            <a:off x="1600200" y="5577840"/>
            <a:ext cx="3931920" cy="50292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Qué garantiza el TDA DESPUÉS de ejecutar la operación.</a:t>
            </a:r>
            <a:endParaRPr lang="es-AR" sz="1150" noProof="0" dirty="0"/>
          </a:p>
        </p:txBody>
      </p:sp>
      <p:sp>
        <p:nvSpPr>
          <p:cNvPr id="24" name="Text 22"/>
          <p:cNvSpPr/>
          <p:nvPr/>
        </p:nvSpPr>
        <p:spPr>
          <a:xfrm>
            <a:off x="6035040" y="1737360"/>
            <a:ext cx="5577840" cy="1280160"/>
          </a:xfrm>
          <a:prstGeom prst="rect">
            <a:avLst/>
          </a:prstGeom>
          <a:noFill/>
          <a:ln/>
        </p:spPr>
        <p:txBody>
          <a:bodyPr wrap="square" rtlCol="0" anchor="t"/>
          <a:lstStyle/>
          <a:p>
            <a:pPr marL="0" indent="0">
              <a:buNone/>
            </a:pPr>
            <a:r>
              <a:rPr lang="es-AR" sz="1500" noProof="0" dirty="0">
                <a:solidFill>
                  <a:srgbClr val="1C1C2A"/>
                </a:solidFill>
                <a:latin typeface="Calibri" pitchFamily="34" charset="0"/>
                <a:ea typeface="Calibri" pitchFamily="34" charset="-122"/>
                <a:cs typeface="Calibri" pitchFamily="34" charset="-120"/>
              </a:rPr>
              <a:t>Con estos cuatro elementos alcanza para describir COMPLETAMENTE el comportamiento de una operación, sin decir una palabra sobre cómo se implementa.</a:t>
            </a:r>
            <a:endParaRPr lang="es-AR" sz="1500" noProof="0" dirty="0"/>
          </a:p>
        </p:txBody>
      </p:sp>
      <p:sp>
        <p:nvSpPr>
          <p:cNvPr id="25" name="Shape 23"/>
          <p:cNvSpPr/>
          <p:nvPr/>
        </p:nvSpPr>
        <p:spPr>
          <a:xfrm>
            <a:off x="6035040" y="3200400"/>
            <a:ext cx="5577840" cy="2468880"/>
          </a:xfrm>
          <a:prstGeom prst="roundRect">
            <a:avLst>
              <a:gd name="adj" fmla="val 3704"/>
            </a:avLst>
          </a:prstGeom>
          <a:solidFill>
            <a:srgbClr val="1E2761"/>
          </a:solidFill>
          <a:ln/>
        </p:spPr>
        <p:txBody>
          <a:bodyPr/>
          <a:lstStyle/>
          <a:p>
            <a:endParaRPr lang="es-AR" noProof="0" dirty="0"/>
          </a:p>
        </p:txBody>
      </p:sp>
      <p:sp>
        <p:nvSpPr>
          <p:cNvPr id="26" name="Text 24"/>
          <p:cNvSpPr/>
          <p:nvPr/>
        </p:nvSpPr>
        <p:spPr>
          <a:xfrm>
            <a:off x="6309360" y="3383280"/>
            <a:ext cx="5029200" cy="365760"/>
          </a:xfrm>
          <a:prstGeom prst="rect">
            <a:avLst/>
          </a:prstGeom>
          <a:noFill/>
          <a:ln/>
        </p:spPr>
        <p:txBody>
          <a:bodyPr wrap="square" rtlCol="0" anchor="ctr"/>
          <a:lstStyle/>
          <a:p>
            <a:pPr marL="0" indent="0">
              <a:buNone/>
            </a:pPr>
            <a:r>
              <a:rPr lang="es-AR" sz="1300" b="1" noProof="0" dirty="0">
                <a:solidFill>
                  <a:srgbClr val="E8A33D"/>
                </a:solidFill>
                <a:latin typeface="Calibri" pitchFamily="34" charset="0"/>
                <a:ea typeface="Calibri" pitchFamily="34" charset="-122"/>
                <a:cs typeface="Calibri" pitchFamily="34" charset="-120"/>
              </a:rPr>
              <a:t>Formato general</a:t>
            </a:r>
            <a:endParaRPr lang="es-AR" sz="1300" noProof="0" dirty="0"/>
          </a:p>
        </p:txBody>
      </p:sp>
      <p:sp>
        <p:nvSpPr>
          <p:cNvPr id="27" name="Text 25"/>
          <p:cNvSpPr/>
          <p:nvPr/>
        </p:nvSpPr>
        <p:spPr>
          <a:xfrm>
            <a:off x="6309360" y="3794760"/>
            <a:ext cx="5029200" cy="1737360"/>
          </a:xfrm>
          <a:prstGeom prst="rect">
            <a:avLst/>
          </a:prstGeom>
          <a:noFill/>
          <a:ln/>
        </p:spPr>
        <p:txBody>
          <a:bodyPr wrap="square" rtlCol="0" anchor="t"/>
          <a:lstStyle/>
          <a:p>
            <a:pPr marL="0" indent="0">
              <a:buNone/>
            </a:pPr>
            <a:r>
              <a:rPr lang="es-AR" sz="1300" noProof="0" dirty="0" err="1">
                <a:solidFill>
                  <a:srgbClr val="FFFFFF"/>
                </a:solidFill>
                <a:latin typeface="Courier New" pitchFamily="34" charset="0"/>
                <a:ea typeface="Courier New" pitchFamily="34" charset="-122"/>
                <a:cs typeface="Courier New" pitchFamily="34" charset="-120"/>
              </a:rPr>
              <a:t>operacion</a:t>
            </a:r>
            <a:r>
              <a:rPr lang="es-AR" sz="1300" noProof="0" dirty="0">
                <a:solidFill>
                  <a:srgbClr val="FFFFFF"/>
                </a:solidFill>
                <a:latin typeface="Courier New" pitchFamily="34" charset="0"/>
                <a:ea typeface="Courier New" pitchFamily="34" charset="-122"/>
                <a:cs typeface="Courier New" pitchFamily="34" charset="-120"/>
              </a:rPr>
              <a:t>(parámetros) → </a:t>
            </a:r>
            <a:r>
              <a:rPr lang="es-AR" sz="1300" noProof="0" dirty="0" err="1">
                <a:solidFill>
                  <a:srgbClr val="FFFFFF"/>
                </a:solidFill>
                <a:latin typeface="Courier New" pitchFamily="34" charset="0"/>
                <a:ea typeface="Courier New" pitchFamily="34" charset="-122"/>
                <a:cs typeface="Courier New" pitchFamily="34" charset="-120"/>
              </a:rPr>
              <a:t>tipoRetorno</a:t>
            </a:r>
            <a:endParaRPr lang="es-AR" sz="1300" noProof="0" dirty="0"/>
          </a:p>
          <a:p>
            <a:pPr marL="0" indent="0">
              <a:buNone/>
            </a:pPr>
            <a:r>
              <a:rPr lang="es-AR" sz="1300" noProof="0" dirty="0">
                <a:solidFill>
                  <a:srgbClr val="FFFFFF"/>
                </a:solidFill>
                <a:latin typeface="Courier New" pitchFamily="34" charset="0"/>
                <a:ea typeface="Courier New" pitchFamily="34" charset="-122"/>
                <a:cs typeface="Courier New" pitchFamily="34" charset="-120"/>
              </a:rPr>
              <a:t>  pre: &lt;condición requerida&gt;</a:t>
            </a:r>
            <a:endParaRPr lang="es-AR" sz="1300" noProof="0" dirty="0"/>
          </a:p>
          <a:p>
            <a:pPr marL="0" indent="0">
              <a:buNone/>
            </a:pPr>
            <a:r>
              <a:rPr lang="es-AR" sz="1300" noProof="0" dirty="0">
                <a:solidFill>
                  <a:srgbClr val="FFFFFF"/>
                </a:solidFill>
                <a:latin typeface="Courier New" pitchFamily="34" charset="0"/>
                <a:ea typeface="Courier New" pitchFamily="34" charset="-122"/>
                <a:cs typeface="Courier New" pitchFamily="34" charset="-120"/>
              </a:rPr>
              <a:t>  post: &lt;qué garantiza el resultado&gt;</a:t>
            </a:r>
            <a:endParaRPr lang="es-AR" sz="1300" noProof="0" dirty="0"/>
          </a:p>
        </p:txBody>
      </p:sp>
      <p:sp>
        <p:nvSpPr>
          <p:cNvPr id="28" name="Text 26"/>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9" name="Text 27"/>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9</a:t>
            </a:r>
            <a:endParaRPr lang="es-AR" sz="10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4</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Ejemplo completo: especificación del TDA Pila</a:t>
            </a:r>
            <a:endParaRPr lang="es-AR" sz="3000" noProof="0" dirty="0"/>
          </a:p>
        </p:txBody>
      </p:sp>
      <p:sp>
        <p:nvSpPr>
          <p:cNvPr id="4" name="Shape 2"/>
          <p:cNvSpPr/>
          <p:nvPr/>
        </p:nvSpPr>
        <p:spPr>
          <a:xfrm>
            <a:off x="548640" y="1463040"/>
            <a:ext cx="694944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00200"/>
            <a:ext cx="6492240" cy="4754880"/>
          </a:xfrm>
          <a:prstGeom prst="rect">
            <a:avLst/>
          </a:prstGeom>
          <a:noFill/>
          <a:ln/>
        </p:spPr>
        <p:txBody>
          <a:bodyPr wrap="square" rtlCol="0" anchor="t"/>
          <a:lstStyle/>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TDA Pila</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Operaciones:</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crear() -&gt; Pila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devuelve una pila </a:t>
            </a:r>
            <a:r>
              <a:rPr lang="es-AR" sz="1350" noProof="0" dirty="0" err="1">
                <a:solidFill>
                  <a:srgbClr val="1C1C2A"/>
                </a:solidFill>
                <a:latin typeface="Courier New" pitchFamily="34" charset="0"/>
                <a:ea typeface="Courier New" pitchFamily="34" charset="-122"/>
                <a:cs typeface="Courier New" pitchFamily="34" charset="-120"/>
              </a:rPr>
              <a:t>vacia</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apilar(p: Pila, x: elemento) -&gt; Pila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x queda en el tope de p</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desapilar</a:t>
            </a:r>
            <a:r>
              <a:rPr lang="es-AR" sz="1350" noProof="0" dirty="0">
                <a:solidFill>
                  <a:srgbClr val="1C1C2A"/>
                </a:solidFill>
                <a:latin typeface="Courier New" pitchFamily="34" charset="0"/>
                <a:ea typeface="Courier New" pitchFamily="34" charset="-122"/>
                <a:cs typeface="Courier New" pitchFamily="34" charset="-120"/>
              </a:rPr>
              <a:t>(p: Pila) -&gt; Pila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pre:  p no esta </a:t>
            </a:r>
            <a:r>
              <a:rPr lang="es-AR" sz="1350" noProof="0" dirty="0" err="1">
                <a:solidFill>
                  <a:srgbClr val="1C1C2A"/>
                </a:solidFill>
                <a:latin typeface="Courier New" pitchFamily="34" charset="0"/>
                <a:ea typeface="Courier New" pitchFamily="34" charset="-122"/>
                <a:cs typeface="Courier New" pitchFamily="34" charset="-120"/>
              </a:rPr>
              <a:t>vacia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se elimina el elemento del tope de p</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tope(p: Pila) -&gt; elemento</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pre:  p no esta </a:t>
            </a:r>
            <a:r>
              <a:rPr lang="es-AR" sz="1350" noProof="0" dirty="0" err="1">
                <a:solidFill>
                  <a:srgbClr val="1C1C2A"/>
                </a:solidFill>
                <a:latin typeface="Courier New" pitchFamily="34" charset="0"/>
                <a:ea typeface="Courier New" pitchFamily="34" charset="-122"/>
                <a:cs typeface="Courier New" pitchFamily="34" charset="-120"/>
              </a:rPr>
              <a:t>vacia</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devuelve el elemento del tope sin eliminarlo</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esVacia</a:t>
            </a:r>
            <a:r>
              <a:rPr lang="es-AR" sz="1350" noProof="0" dirty="0">
                <a:solidFill>
                  <a:srgbClr val="1C1C2A"/>
                </a:solidFill>
                <a:latin typeface="Courier New" pitchFamily="34" charset="0"/>
                <a:ea typeface="Courier New" pitchFamily="34" charset="-122"/>
                <a:cs typeface="Courier New" pitchFamily="34" charset="-120"/>
              </a:rPr>
              <a:t>(p: Pila) -&gt; </a:t>
            </a:r>
            <a:r>
              <a:rPr lang="es-AR" sz="1350" noProof="0" dirty="0" err="1">
                <a:solidFill>
                  <a:srgbClr val="1C1C2A"/>
                </a:solidFill>
                <a:latin typeface="Courier New" pitchFamily="34" charset="0"/>
                <a:ea typeface="Courier New" pitchFamily="34" charset="-122"/>
                <a:cs typeface="Courier New" pitchFamily="34" charset="-120"/>
              </a:rPr>
              <a:t>boolean</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post: devuelve true si p no tiene elementos</a:t>
            </a:r>
            <a:endParaRPr lang="es-AR" sz="1350" noProof="0" dirty="0"/>
          </a:p>
        </p:txBody>
      </p:sp>
      <p:sp>
        <p:nvSpPr>
          <p:cNvPr id="6" name="Shape 4"/>
          <p:cNvSpPr/>
          <p:nvPr/>
        </p:nvSpPr>
        <p:spPr>
          <a:xfrm>
            <a:off x="7680960" y="1463040"/>
            <a:ext cx="3931920" cy="5029200"/>
          </a:xfrm>
          <a:prstGeom prst="roundRect">
            <a:avLst>
              <a:gd name="adj" fmla="val 2326"/>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909560" y="1645920"/>
            <a:ext cx="3474720" cy="365760"/>
          </a:xfrm>
          <a:prstGeom prst="rect">
            <a:avLst/>
          </a:prstGeom>
          <a:noFill/>
          <a:ln/>
        </p:spPr>
        <p:txBody>
          <a:bodyPr wrap="square" rtlCol="0" anchor="ctr"/>
          <a:lstStyle/>
          <a:p>
            <a:pPr marL="0" indent="0">
              <a:buNone/>
            </a:pPr>
            <a:r>
              <a:rPr lang="es-AR" sz="1300" b="1" noProof="0" dirty="0">
                <a:solidFill>
                  <a:srgbClr val="1E2761"/>
                </a:solidFill>
                <a:latin typeface="Calibri" pitchFamily="34" charset="0"/>
                <a:ea typeface="Calibri" pitchFamily="34" charset="-122"/>
                <a:cs typeface="Calibri" pitchFamily="34" charset="-120"/>
              </a:rPr>
              <a:t>Detalle</a:t>
            </a:r>
            <a:endParaRPr lang="es-AR" sz="1300" noProof="0" dirty="0"/>
          </a:p>
        </p:txBody>
      </p:sp>
      <p:sp>
        <p:nvSpPr>
          <p:cNvPr id="8" name="Text 6"/>
          <p:cNvSpPr/>
          <p:nvPr/>
        </p:nvSpPr>
        <p:spPr>
          <a:xfrm>
            <a:off x="7909560" y="2103120"/>
            <a:ext cx="3474720" cy="4206240"/>
          </a:xfrm>
          <a:prstGeom prst="rect">
            <a:avLst/>
          </a:prstGeom>
          <a:noFill/>
          <a:ln/>
        </p:spPr>
        <p:txBody>
          <a:bodyPr wrap="square" rtlCol="0" anchor="t"/>
          <a:lstStyle/>
          <a:p>
            <a:r>
              <a:rPr lang="es-AR" sz="1250" b="1" noProof="0" dirty="0">
                <a:solidFill>
                  <a:srgbClr val="1E2761"/>
                </a:solidFill>
                <a:latin typeface="Calibri" pitchFamily="34" charset="0"/>
                <a:ea typeface="Calibri" pitchFamily="34" charset="-122"/>
                <a:cs typeface="Calibri" pitchFamily="34" charset="-120"/>
              </a:rPr>
              <a:t>Dominio: Pila = </a:t>
            </a:r>
            <a:r>
              <a:rPr lang="es-AR" sz="1250" noProof="0" dirty="0" err="1">
                <a:solidFill>
                  <a:srgbClr val="1C1C2A"/>
                </a:solidFill>
                <a:latin typeface="Calibri" pitchFamily="34" charset="0"/>
                <a:ea typeface="Calibri" pitchFamily="34" charset="-122"/>
                <a:cs typeface="Calibri" pitchFamily="34" charset="-120"/>
              </a:rPr>
              <a:t>Secuenciaf</a:t>
            </a:r>
            <a:r>
              <a:rPr lang="es-AR" sz="1250" noProof="0" dirty="0">
                <a:solidFill>
                  <a:srgbClr val="1C1C2A"/>
                </a:solidFill>
                <a:latin typeface="Calibri" pitchFamily="34" charset="0"/>
                <a:ea typeface="Calibri" pitchFamily="34" charset="-122"/>
                <a:cs typeface="Calibri" pitchFamily="34" charset="-120"/>
              </a:rPr>
              <a:t> finita y ordenada de elementos, donde el último agregado es accesible primero (LIFO).</a:t>
            </a:r>
          </a:p>
          <a:p>
            <a:endParaRPr lang="es-AR" sz="1250" b="1" noProof="0" dirty="0">
              <a:solidFill>
                <a:srgbClr val="1E2761"/>
              </a:solidFill>
              <a:latin typeface="Calibri" pitchFamily="34" charset="0"/>
              <a:ea typeface="Calibri" pitchFamily="34" charset="-122"/>
              <a:cs typeface="Calibri" pitchFamily="34" charset="-120"/>
            </a:endParaRPr>
          </a:p>
          <a:p>
            <a:endParaRPr lang="es-AR" sz="1250" b="1" noProof="0" dirty="0">
              <a:solidFill>
                <a:srgbClr val="1E2761"/>
              </a:solidFill>
              <a:latin typeface="Calibri" pitchFamily="34" charset="0"/>
              <a:ea typeface="Calibri" pitchFamily="34" charset="-122"/>
              <a:cs typeface="Calibri" pitchFamily="34" charset="-120"/>
            </a:endParaRPr>
          </a:p>
          <a:p>
            <a:pPr marL="0" indent="0">
              <a:buNone/>
            </a:pPr>
            <a:r>
              <a:rPr lang="es-AR" sz="1250" b="1" noProof="0" dirty="0">
                <a:solidFill>
                  <a:srgbClr val="1E2761"/>
                </a:solidFill>
                <a:latin typeface="Calibri" pitchFamily="34" charset="0"/>
                <a:ea typeface="Calibri" pitchFamily="34" charset="-122"/>
                <a:cs typeface="Calibri" pitchFamily="34" charset="-120"/>
              </a:rPr>
              <a:t>apilar: </a:t>
            </a:r>
            <a:r>
              <a:rPr lang="es-AR" sz="1250" noProof="0" dirty="0">
                <a:solidFill>
                  <a:srgbClr val="1C1C2A"/>
                </a:solidFill>
                <a:latin typeface="Calibri" pitchFamily="34" charset="0"/>
                <a:ea typeface="Calibri" pitchFamily="34" charset="-122"/>
                <a:cs typeface="Calibri" pitchFamily="34" charset="-120"/>
              </a:rPr>
              <a:t>"agregar x hace que x sea el nuevo tope"
</a:t>
            </a:r>
          </a:p>
          <a:p>
            <a:pPr marL="0" indent="0">
              <a:buNone/>
            </a:pPr>
            <a:r>
              <a:rPr lang="es-AR" sz="1250" b="1" noProof="0" dirty="0" err="1">
                <a:solidFill>
                  <a:srgbClr val="1E2761"/>
                </a:solidFill>
                <a:latin typeface="Calibri" pitchFamily="34" charset="0"/>
                <a:ea typeface="Calibri" pitchFamily="34" charset="-122"/>
                <a:cs typeface="Calibri" pitchFamily="34" charset="-120"/>
              </a:rPr>
              <a:t>desapilar</a:t>
            </a:r>
            <a:r>
              <a:rPr lang="es-AR" sz="1250" b="1" noProof="0" dirty="0">
                <a:solidFill>
                  <a:srgbClr val="1E2761"/>
                </a:solidFill>
                <a:latin typeface="Calibri" pitchFamily="34" charset="0"/>
                <a:ea typeface="Calibri" pitchFamily="34" charset="-122"/>
                <a:cs typeface="Calibri" pitchFamily="34" charset="-120"/>
              </a:rPr>
              <a:t>: </a:t>
            </a:r>
            <a:r>
              <a:rPr lang="es-AR" sz="1250" noProof="0" dirty="0">
                <a:solidFill>
                  <a:srgbClr val="1C1C2A"/>
                </a:solidFill>
                <a:latin typeface="Calibri" pitchFamily="34" charset="0"/>
                <a:ea typeface="Calibri" pitchFamily="34" charset="-122"/>
                <a:cs typeface="Calibri" pitchFamily="34" charset="-120"/>
              </a:rPr>
              <a:t>"solo tiene sentido si hay algo para sacar" → de ahí la precondición
</a:t>
            </a:r>
            <a:endParaRPr lang="es-AR" sz="1250" b="1" noProof="0" dirty="0">
              <a:solidFill>
                <a:srgbClr val="1C1C2A"/>
              </a:solidFill>
              <a:latin typeface="Calibri" pitchFamily="34" charset="0"/>
              <a:ea typeface="Calibri" pitchFamily="34" charset="-122"/>
              <a:cs typeface="Calibri" pitchFamily="34" charset="-120"/>
            </a:endParaRPr>
          </a:p>
          <a:p>
            <a:pPr marL="0" indent="0">
              <a:buNone/>
            </a:pPr>
            <a:endParaRPr lang="es-AR" sz="1250" b="1" noProof="0" dirty="0">
              <a:solidFill>
                <a:srgbClr val="1C1C2A"/>
              </a:solidFill>
              <a:latin typeface="Calibri" pitchFamily="34" charset="0"/>
              <a:ea typeface="Calibri" pitchFamily="34" charset="-122"/>
              <a:cs typeface="Calibri" pitchFamily="34" charset="-120"/>
            </a:endParaRPr>
          </a:p>
          <a:p>
            <a:pPr marL="0" indent="0">
              <a:buNone/>
            </a:pPr>
            <a:r>
              <a:rPr lang="es-AR" sz="1250" b="1" noProof="0" dirty="0">
                <a:solidFill>
                  <a:srgbClr val="1E2761"/>
                </a:solidFill>
                <a:latin typeface="Calibri" pitchFamily="34" charset="0"/>
                <a:ea typeface="Calibri" pitchFamily="34" charset="-122"/>
                <a:cs typeface="Calibri" pitchFamily="34" charset="-120"/>
              </a:rPr>
              <a:t>tope: </a:t>
            </a:r>
            <a:r>
              <a:rPr lang="es-AR" sz="1250" noProof="0" dirty="0">
                <a:solidFill>
                  <a:srgbClr val="1C1C2A"/>
                </a:solidFill>
                <a:latin typeface="Calibri" pitchFamily="34" charset="0"/>
                <a:ea typeface="Calibri" pitchFamily="34" charset="-122"/>
                <a:cs typeface="Calibri" pitchFamily="34" charset="-120"/>
              </a:rPr>
              <a:t>"mirar sin sacar" — no modifica la pila</a:t>
            </a:r>
            <a:endParaRPr lang="es-AR" sz="1250" noProof="0" dirty="0"/>
          </a:p>
        </p:txBody>
      </p:sp>
      <p:sp>
        <p:nvSpPr>
          <p:cNvPr id="9" name="Text 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0" name="Text 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10</a:t>
            </a:r>
            <a:endParaRPr lang="es-AR" sz="10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8E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E8A33D"/>
          </a:solidFill>
          <a:ln/>
        </p:spPr>
        <p:txBody>
          <a:bodyPr/>
          <a:lstStyle/>
          <a:p>
            <a:endParaRPr lang="es-AR" noProof="0" dirty="0"/>
          </a:p>
        </p:txBody>
      </p:sp>
      <p:sp>
        <p:nvSpPr>
          <p:cNvPr id="3" name="Text 1"/>
          <p:cNvSpPr/>
          <p:nvPr/>
        </p:nvSpPr>
        <p:spPr>
          <a:xfrm>
            <a:off x="548640" y="228600"/>
            <a:ext cx="7315200" cy="365760"/>
          </a:xfrm>
          <a:prstGeom prst="rect">
            <a:avLst/>
          </a:prstGeom>
          <a:noFill/>
          <a:ln/>
        </p:spPr>
        <p:txBody>
          <a:bodyPr wrap="square" rtlCol="0" anchor="ctr"/>
          <a:lstStyle/>
          <a:p>
            <a:pPr marL="0" indent="0">
              <a:buNone/>
            </a:pPr>
            <a:r>
              <a:rPr lang="es-AR" sz="1400" b="1" kern="0" spc="200" noProof="0" dirty="0">
                <a:solidFill>
                  <a:srgbClr val="FFFFFF"/>
                </a:solidFill>
                <a:latin typeface="Calibri" pitchFamily="34" charset="0"/>
                <a:ea typeface="Calibri" pitchFamily="34" charset="-122"/>
                <a:cs typeface="Calibri" pitchFamily="34" charset="-120"/>
              </a:rPr>
              <a:t>EJERCICIO 1</a:t>
            </a:r>
            <a:endParaRPr lang="es-AR" sz="1400" noProof="0" dirty="0"/>
          </a:p>
        </p:txBody>
      </p:sp>
      <p:sp>
        <p:nvSpPr>
          <p:cNvPr id="4" name="Text 2"/>
          <p:cNvSpPr/>
          <p:nvPr/>
        </p:nvSpPr>
        <p:spPr>
          <a:xfrm>
            <a:off x="548640" y="548640"/>
            <a:ext cx="8229600" cy="548640"/>
          </a:xfrm>
          <a:prstGeom prst="rect">
            <a:avLst/>
          </a:prstGeom>
          <a:noFill/>
          <a:ln/>
        </p:spPr>
        <p:txBody>
          <a:bodyPr wrap="square" rtlCol="0" anchor="ctr"/>
          <a:lstStyle/>
          <a:p>
            <a:pPr marL="0" indent="0">
              <a:buNone/>
            </a:pPr>
            <a:r>
              <a:rPr lang="es-AR" sz="2400" b="1" noProof="0" dirty="0">
                <a:solidFill>
                  <a:srgbClr val="FFFFFF"/>
                </a:solidFill>
                <a:latin typeface="Cambria" pitchFamily="34" charset="0"/>
                <a:ea typeface="Cambria" pitchFamily="34" charset="-122"/>
                <a:cs typeface="Cambria" pitchFamily="34" charset="-120"/>
              </a:rPr>
              <a:t>Especificar el TDA Cola</a:t>
            </a:r>
            <a:endParaRPr lang="es-AR" sz="2400" noProof="0" dirty="0"/>
          </a:p>
        </p:txBody>
      </p:sp>
      <p:sp>
        <p:nvSpPr>
          <p:cNvPr id="5" name="Shape 3"/>
          <p:cNvSpPr/>
          <p:nvPr/>
        </p:nvSpPr>
        <p:spPr>
          <a:xfrm>
            <a:off x="10332720" y="320040"/>
            <a:ext cx="1280160" cy="365760"/>
          </a:xfrm>
          <a:prstGeom prst="roundRect">
            <a:avLst>
              <a:gd name="adj" fmla="val 50000"/>
            </a:avLst>
          </a:prstGeom>
          <a:solidFill>
            <a:srgbClr val="1E2761"/>
          </a:solidFill>
          <a:ln/>
        </p:spPr>
        <p:txBody>
          <a:bodyPr/>
          <a:lstStyle/>
          <a:p>
            <a:endParaRPr lang="es-AR" noProof="0" dirty="0"/>
          </a:p>
        </p:txBody>
      </p:sp>
      <p:sp>
        <p:nvSpPr>
          <p:cNvPr id="6" name="Text 4"/>
          <p:cNvSpPr/>
          <p:nvPr/>
        </p:nvSpPr>
        <p:spPr>
          <a:xfrm>
            <a:off x="10332720" y="320040"/>
            <a:ext cx="128016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30 min</a:t>
            </a:r>
            <a:endParaRPr lang="es-AR" sz="1200" noProof="0" dirty="0"/>
          </a:p>
        </p:txBody>
      </p:sp>
      <p:sp>
        <p:nvSpPr>
          <p:cNvPr id="7" name="Shape 5"/>
          <p:cNvSpPr/>
          <p:nvPr/>
        </p:nvSpPr>
        <p:spPr>
          <a:xfrm>
            <a:off x="548640" y="1463040"/>
            <a:ext cx="11064240" cy="1005840"/>
          </a:xfrm>
          <a:prstGeom prst="roundRect">
            <a:avLst>
              <a:gd name="adj" fmla="val 9091"/>
            </a:avLst>
          </a:prstGeom>
          <a:solidFill>
            <a:srgbClr val="FFFFFF"/>
          </a:solidFill>
          <a:ln w="19050">
            <a:solidFill>
              <a:srgbClr val="E8A33D"/>
            </a:solidFill>
            <a:prstDash val="solid"/>
          </a:ln>
        </p:spPr>
        <p:txBody>
          <a:bodyPr/>
          <a:lstStyle/>
          <a:p>
            <a:endParaRPr lang="es-AR" noProof="0" dirty="0"/>
          </a:p>
        </p:txBody>
      </p:sp>
      <p:sp>
        <p:nvSpPr>
          <p:cNvPr id="8" name="Text 6"/>
          <p:cNvSpPr/>
          <p:nvPr/>
        </p:nvSpPr>
        <p:spPr>
          <a:xfrm>
            <a:off x="822960" y="1600200"/>
            <a:ext cx="10515600" cy="77724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Trabajando en grupo, escriban la especificación formal del TDA Cola (FIFO) siguiendo exactamente el mismo formato usado para la Pila.</a:t>
            </a:r>
            <a:endParaRPr lang="es-AR" sz="1450" noProof="0" dirty="0"/>
          </a:p>
        </p:txBody>
      </p:sp>
      <p:sp>
        <p:nvSpPr>
          <p:cNvPr id="9" name="Shape 7"/>
          <p:cNvSpPr/>
          <p:nvPr/>
        </p:nvSpPr>
        <p:spPr>
          <a:xfrm>
            <a:off x="640080" y="2834640"/>
            <a:ext cx="128016" cy="128016"/>
          </a:xfrm>
          <a:prstGeom prst="ellipse">
            <a:avLst/>
          </a:prstGeom>
          <a:solidFill>
            <a:srgbClr val="E8A33D"/>
          </a:solidFill>
          <a:ln/>
        </p:spPr>
        <p:txBody>
          <a:bodyPr/>
          <a:lstStyle/>
          <a:p>
            <a:endParaRPr lang="es-AR" noProof="0" dirty="0"/>
          </a:p>
        </p:txBody>
      </p:sp>
      <p:sp>
        <p:nvSpPr>
          <p:cNvPr id="10" name="Text 8"/>
          <p:cNvSpPr/>
          <p:nvPr/>
        </p:nvSpPr>
        <p:spPr>
          <a:xfrm>
            <a:off x="914400" y="274320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Definan las operaciones: crear, encolar, desencolar, primero, </a:t>
            </a:r>
            <a:r>
              <a:rPr lang="es-AR" sz="1350" noProof="0" dirty="0" err="1">
                <a:solidFill>
                  <a:srgbClr val="1C1C2A"/>
                </a:solidFill>
                <a:latin typeface="Calibri" pitchFamily="34" charset="0"/>
                <a:ea typeface="Calibri" pitchFamily="34" charset="-122"/>
                <a:cs typeface="Calibri" pitchFamily="34" charset="-120"/>
              </a:rPr>
              <a:t>esVacia</a:t>
            </a:r>
            <a:r>
              <a:rPr lang="es-AR" sz="1350" noProof="0" dirty="0">
                <a:solidFill>
                  <a:srgbClr val="1C1C2A"/>
                </a:solidFill>
                <a:latin typeface="Calibri" pitchFamily="34" charset="0"/>
                <a:ea typeface="Calibri" pitchFamily="34" charset="-122"/>
                <a:cs typeface="Calibri" pitchFamily="34" charset="-120"/>
              </a:rPr>
              <a:t>.</a:t>
            </a:r>
            <a:endParaRPr lang="es-AR" sz="1350" noProof="0" dirty="0"/>
          </a:p>
        </p:txBody>
      </p:sp>
      <p:sp>
        <p:nvSpPr>
          <p:cNvPr id="11" name="Shape 9"/>
          <p:cNvSpPr/>
          <p:nvPr/>
        </p:nvSpPr>
        <p:spPr>
          <a:xfrm>
            <a:off x="640080" y="3337560"/>
            <a:ext cx="128016" cy="128016"/>
          </a:xfrm>
          <a:prstGeom prst="ellipse">
            <a:avLst/>
          </a:prstGeom>
          <a:solidFill>
            <a:srgbClr val="E8A33D"/>
          </a:solidFill>
          <a:ln/>
        </p:spPr>
        <p:txBody>
          <a:bodyPr/>
          <a:lstStyle/>
          <a:p>
            <a:endParaRPr lang="es-AR" noProof="0" dirty="0"/>
          </a:p>
        </p:txBody>
      </p:sp>
      <p:sp>
        <p:nvSpPr>
          <p:cNvPr id="12" name="Text 10"/>
          <p:cNvSpPr/>
          <p:nvPr/>
        </p:nvSpPr>
        <p:spPr>
          <a:xfrm>
            <a:off x="914400" y="324612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Para cada operación: firma completa (parámetros y tipo de retorno).</a:t>
            </a:r>
            <a:endParaRPr lang="es-AR" sz="1350" noProof="0" dirty="0"/>
          </a:p>
        </p:txBody>
      </p:sp>
      <p:sp>
        <p:nvSpPr>
          <p:cNvPr id="13" name="Shape 11"/>
          <p:cNvSpPr/>
          <p:nvPr/>
        </p:nvSpPr>
        <p:spPr>
          <a:xfrm>
            <a:off x="640080" y="3840480"/>
            <a:ext cx="128016" cy="128016"/>
          </a:xfrm>
          <a:prstGeom prst="ellipse">
            <a:avLst/>
          </a:prstGeom>
          <a:solidFill>
            <a:srgbClr val="E8A33D"/>
          </a:solidFill>
          <a:ln/>
        </p:spPr>
        <p:txBody>
          <a:bodyPr/>
          <a:lstStyle/>
          <a:p>
            <a:endParaRPr lang="es-AR" noProof="0" dirty="0"/>
          </a:p>
        </p:txBody>
      </p:sp>
      <p:sp>
        <p:nvSpPr>
          <p:cNvPr id="14" name="Text 12"/>
          <p:cNvSpPr/>
          <p:nvPr/>
        </p:nvSpPr>
        <p:spPr>
          <a:xfrm>
            <a:off x="914400" y="374904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Escriban precondición y postcondición cuando corresponda.</a:t>
            </a:r>
            <a:endParaRPr lang="es-AR" sz="1350" noProof="0" dirty="0"/>
          </a:p>
        </p:txBody>
      </p:sp>
      <p:sp>
        <p:nvSpPr>
          <p:cNvPr id="15" name="Shape 13"/>
          <p:cNvSpPr/>
          <p:nvPr/>
        </p:nvSpPr>
        <p:spPr>
          <a:xfrm>
            <a:off x="640080" y="4343400"/>
            <a:ext cx="128016" cy="128016"/>
          </a:xfrm>
          <a:prstGeom prst="ellipse">
            <a:avLst/>
          </a:prstGeom>
          <a:solidFill>
            <a:srgbClr val="E8A33D"/>
          </a:solidFill>
          <a:ln/>
        </p:spPr>
        <p:txBody>
          <a:bodyPr/>
          <a:lstStyle/>
          <a:p>
            <a:endParaRPr lang="es-AR" noProof="0" dirty="0"/>
          </a:p>
        </p:txBody>
      </p:sp>
      <p:sp>
        <p:nvSpPr>
          <p:cNvPr id="16" name="Text 14"/>
          <p:cNvSpPr/>
          <p:nvPr/>
        </p:nvSpPr>
        <p:spPr>
          <a:xfrm>
            <a:off x="914400" y="425196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Piensen: ¿qué operación de Cola es análoga a "tope" de la Pila? ¿Cuál a "</a:t>
            </a:r>
            <a:r>
              <a:rPr lang="es-AR" sz="1350" noProof="0" dirty="0" err="1">
                <a:solidFill>
                  <a:srgbClr val="1C1C2A"/>
                </a:solidFill>
                <a:latin typeface="Calibri" pitchFamily="34" charset="0"/>
                <a:ea typeface="Calibri" pitchFamily="34" charset="-122"/>
                <a:cs typeface="Calibri" pitchFamily="34" charset="-120"/>
              </a:rPr>
              <a:t>desapilar</a:t>
            </a:r>
            <a:r>
              <a:rPr lang="es-AR" sz="1350" noProof="0" dirty="0">
                <a:solidFill>
                  <a:srgbClr val="1C1C2A"/>
                </a:solidFill>
                <a:latin typeface="Calibri" pitchFamily="34" charset="0"/>
                <a:ea typeface="Calibri" pitchFamily="34" charset="-122"/>
                <a:cs typeface="Calibri" pitchFamily="34" charset="-120"/>
              </a:rPr>
              <a:t>"?</a:t>
            </a:r>
            <a:endParaRPr lang="es-AR" sz="1350" noProof="0" dirty="0"/>
          </a:p>
        </p:txBody>
      </p:sp>
      <p:sp>
        <p:nvSpPr>
          <p:cNvPr id="19" name="Text 1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11</a:t>
            </a:r>
            <a:endParaRPr lang="es-AR" sz="10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4114800"/>
            <a:ext cx="4572000" cy="4572000"/>
          </a:xfrm>
          <a:prstGeom prst="ellipse">
            <a:avLst/>
          </a:prstGeom>
          <a:solidFill>
            <a:srgbClr val="263876"/>
          </a:solidFill>
          <a:ln/>
        </p:spPr>
        <p:txBody>
          <a:bodyPr/>
          <a:lstStyle/>
          <a:p>
            <a:endParaRPr lang="es-AR" noProof="0" dirty="0"/>
          </a:p>
        </p:txBody>
      </p:sp>
      <p:sp>
        <p:nvSpPr>
          <p:cNvPr id="3" name="Text 1"/>
          <p:cNvSpPr/>
          <p:nvPr/>
        </p:nvSpPr>
        <p:spPr>
          <a:xfrm>
            <a:off x="731520" y="2468880"/>
            <a:ext cx="7315200" cy="365760"/>
          </a:xfrm>
          <a:prstGeom prst="rect">
            <a:avLst/>
          </a:prstGeom>
          <a:noFill/>
          <a:ln/>
        </p:spPr>
        <p:txBody>
          <a:bodyPr wrap="square" rtlCol="0" anchor="ctr"/>
          <a:lstStyle/>
          <a:p>
            <a:pPr marL="0" indent="0">
              <a:buNone/>
            </a:pPr>
            <a:r>
              <a:rPr lang="es-AR" sz="1400" b="1" kern="0" spc="200" noProof="0" dirty="0">
                <a:solidFill>
                  <a:srgbClr val="E8A33D"/>
                </a:solidFill>
                <a:latin typeface="Calibri" pitchFamily="34" charset="0"/>
                <a:ea typeface="Calibri" pitchFamily="34" charset="-122"/>
                <a:cs typeface="Calibri" pitchFamily="34" charset="-120"/>
              </a:rPr>
              <a:t>BLOQUE 7</a:t>
            </a:r>
            <a:endParaRPr lang="es-AR" sz="1400" noProof="0" dirty="0"/>
          </a:p>
        </p:txBody>
      </p:sp>
      <p:sp>
        <p:nvSpPr>
          <p:cNvPr id="4" name="Text 2"/>
          <p:cNvSpPr/>
          <p:nvPr/>
        </p:nvSpPr>
        <p:spPr>
          <a:xfrm>
            <a:off x="731520" y="2834640"/>
            <a:ext cx="10058400" cy="1280160"/>
          </a:xfrm>
          <a:prstGeom prst="rect">
            <a:avLst/>
          </a:prstGeom>
          <a:noFill/>
          <a:ln/>
        </p:spPr>
        <p:txBody>
          <a:bodyPr wrap="square" rtlCol="0" anchor="ctr"/>
          <a:lstStyle/>
          <a:p>
            <a:pPr marL="0" indent="0">
              <a:buNone/>
            </a:pPr>
            <a:r>
              <a:rPr lang="es-AR" sz="3800" b="1" noProof="0" dirty="0">
                <a:solidFill>
                  <a:srgbClr val="FFFFFF"/>
                </a:solidFill>
                <a:latin typeface="Cambria" pitchFamily="34" charset="0"/>
                <a:ea typeface="Cambria" pitchFamily="34" charset="-122"/>
                <a:cs typeface="Cambria" pitchFamily="34" charset="-120"/>
              </a:rPr>
              <a:t>Fundamentos de Java: clases y tipos</a:t>
            </a:r>
            <a:endParaRPr lang="es-AR" sz="3800" noProof="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12</a:t>
            </a:r>
            <a:endParaRPr lang="es-AR" sz="10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7</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Estructura básica de una clase en Java</a:t>
            </a:r>
            <a:endParaRPr lang="es-AR" sz="3000" noProof="0" dirty="0"/>
          </a:p>
        </p:txBody>
      </p:sp>
      <p:sp>
        <p:nvSpPr>
          <p:cNvPr id="4" name="Shape 2"/>
          <p:cNvSpPr/>
          <p:nvPr/>
        </p:nvSpPr>
        <p:spPr>
          <a:xfrm>
            <a:off x="548640" y="1463040"/>
            <a:ext cx="630936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00200"/>
            <a:ext cx="5852160" cy="4754880"/>
          </a:xfrm>
          <a:prstGeom prst="rect">
            <a:avLst/>
          </a:prstGeom>
          <a:noFill/>
          <a:ln/>
        </p:spPr>
        <p:txBody>
          <a:bodyPr wrap="square" rtlCol="0" anchor="t"/>
          <a:lstStyle/>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class</a:t>
            </a:r>
            <a:r>
              <a:rPr lang="es-AR" sz="1300" noProof="0" dirty="0">
                <a:solidFill>
                  <a:srgbClr val="1C1C2A"/>
                </a:solidFill>
                <a:latin typeface="Courier New" pitchFamily="34" charset="0"/>
                <a:ea typeface="Courier New" pitchFamily="34" charset="-122"/>
                <a:cs typeface="Courier New" pitchFamily="34" charset="-120"/>
              </a:rPr>
              <a:t> Persona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private</a:t>
            </a:r>
            <a:r>
              <a:rPr lang="es-AR" sz="1300" noProof="0" dirty="0">
                <a:solidFill>
                  <a:srgbClr val="1C1C2A"/>
                </a:solidFill>
                <a:latin typeface="Courier New" pitchFamily="34" charset="0"/>
                <a:ea typeface="Courier New" pitchFamily="34" charset="-122"/>
                <a:cs typeface="Courier New" pitchFamily="34" charset="-120"/>
              </a:rPr>
              <a:t> String nombre;   // atributo privado</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private</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edad;</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Persona(String nombre,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edad)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this.nombre</a:t>
            </a:r>
            <a:r>
              <a:rPr lang="es-AR" sz="1300" noProof="0" dirty="0">
                <a:solidFill>
                  <a:srgbClr val="1C1C2A"/>
                </a:solidFill>
                <a:latin typeface="Courier New" pitchFamily="34" charset="0"/>
                <a:ea typeface="Courier New" pitchFamily="34" charset="-122"/>
                <a:cs typeface="Courier New" pitchFamily="34" charset="-120"/>
              </a:rPr>
              <a:t> = nombre;</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this.edad</a:t>
            </a:r>
            <a:r>
              <a:rPr lang="es-AR" sz="1300" noProof="0" dirty="0">
                <a:solidFill>
                  <a:srgbClr val="1C1C2A"/>
                </a:solidFill>
                <a:latin typeface="Courier New" pitchFamily="34" charset="0"/>
                <a:ea typeface="Courier New" pitchFamily="34" charset="-122"/>
                <a:cs typeface="Courier New" pitchFamily="34" charset="-120"/>
              </a:rPr>
              <a:t> = edad;</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String </a:t>
            </a:r>
            <a:r>
              <a:rPr lang="es-AR" sz="1300" noProof="0" dirty="0" err="1">
                <a:solidFill>
                  <a:srgbClr val="1C1C2A"/>
                </a:solidFill>
                <a:latin typeface="Courier New" pitchFamily="34" charset="0"/>
                <a:ea typeface="Courier New" pitchFamily="34" charset="-122"/>
                <a:cs typeface="Courier New" pitchFamily="34" charset="-120"/>
              </a:rPr>
              <a:t>getNombre</a:t>
            </a: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return</a:t>
            </a:r>
            <a:r>
              <a:rPr lang="es-AR" sz="1300" noProof="0" dirty="0">
                <a:solidFill>
                  <a:srgbClr val="1C1C2A"/>
                </a:solidFill>
                <a:latin typeface="Courier New" pitchFamily="34" charset="0"/>
                <a:ea typeface="Courier New" pitchFamily="34" charset="-122"/>
                <a:cs typeface="Courier New" pitchFamily="34" charset="-120"/>
              </a:rPr>
              <a:t> nombre;</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void</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cumplirAnios</a:t>
            </a: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edad++;</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a:t>
            </a:r>
            <a:endParaRPr lang="es-AR" sz="1300" noProof="0" dirty="0"/>
          </a:p>
        </p:txBody>
      </p:sp>
      <p:sp>
        <p:nvSpPr>
          <p:cNvPr id="6" name="Shape 4"/>
          <p:cNvSpPr/>
          <p:nvPr/>
        </p:nvSpPr>
        <p:spPr>
          <a:xfrm>
            <a:off x="7086600" y="1554480"/>
            <a:ext cx="4526280" cy="1051560"/>
          </a:xfrm>
          <a:prstGeom prst="roundRect">
            <a:avLst>
              <a:gd name="adj" fmla="val 6957"/>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315200" y="1627632"/>
            <a:ext cx="4023360" cy="320040"/>
          </a:xfrm>
          <a:prstGeom prst="rect">
            <a:avLst/>
          </a:prstGeom>
          <a:noFill/>
          <a:ln/>
        </p:spPr>
        <p:txBody>
          <a:bodyPr wrap="square" rtlCol="0" anchor="ctr"/>
          <a:lstStyle/>
          <a:p>
            <a:pPr marL="0" indent="0">
              <a:buNone/>
            </a:pPr>
            <a:r>
              <a:rPr lang="es-AR" sz="1300" b="1" noProof="0" dirty="0" err="1">
                <a:solidFill>
                  <a:srgbClr val="1E2761"/>
                </a:solidFill>
                <a:latin typeface="Courier New" pitchFamily="34" charset="0"/>
                <a:ea typeface="Courier New" pitchFamily="34" charset="-122"/>
                <a:cs typeface="Courier New" pitchFamily="34" charset="-120"/>
              </a:rPr>
              <a:t>class</a:t>
            </a:r>
            <a:endParaRPr lang="es-AR" sz="1300" noProof="0" dirty="0"/>
          </a:p>
        </p:txBody>
      </p:sp>
      <p:sp>
        <p:nvSpPr>
          <p:cNvPr id="8" name="Text 6"/>
          <p:cNvSpPr/>
          <p:nvPr/>
        </p:nvSpPr>
        <p:spPr>
          <a:xfrm>
            <a:off x="7315200" y="1938528"/>
            <a:ext cx="4023360" cy="59436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Define un nuevo tipo. El TDA se traduce en una clase Java.</a:t>
            </a:r>
            <a:endParaRPr lang="es-AR" sz="1150" noProof="0" dirty="0"/>
          </a:p>
        </p:txBody>
      </p:sp>
      <p:sp>
        <p:nvSpPr>
          <p:cNvPr id="9" name="Shape 7"/>
          <p:cNvSpPr/>
          <p:nvPr/>
        </p:nvSpPr>
        <p:spPr>
          <a:xfrm>
            <a:off x="7086600" y="2761488"/>
            <a:ext cx="4526280" cy="1051560"/>
          </a:xfrm>
          <a:prstGeom prst="roundRect">
            <a:avLst>
              <a:gd name="adj" fmla="val 6957"/>
            </a:avLst>
          </a:prstGeom>
          <a:solidFill>
            <a:srgbClr val="F5F7FC"/>
          </a:solidFill>
          <a:ln w="12700">
            <a:solidFill>
              <a:srgbClr val="CADCFC"/>
            </a:solidFill>
            <a:prstDash val="solid"/>
          </a:ln>
        </p:spPr>
        <p:txBody>
          <a:bodyPr/>
          <a:lstStyle/>
          <a:p>
            <a:endParaRPr lang="es-AR" noProof="0" dirty="0"/>
          </a:p>
        </p:txBody>
      </p:sp>
      <p:sp>
        <p:nvSpPr>
          <p:cNvPr id="10" name="Text 8"/>
          <p:cNvSpPr/>
          <p:nvPr/>
        </p:nvSpPr>
        <p:spPr>
          <a:xfrm>
            <a:off x="7315200" y="2834640"/>
            <a:ext cx="4023360" cy="320040"/>
          </a:xfrm>
          <a:prstGeom prst="rect">
            <a:avLst/>
          </a:prstGeom>
          <a:noFill/>
          <a:ln/>
        </p:spPr>
        <p:txBody>
          <a:bodyPr wrap="square" rtlCol="0" anchor="ctr"/>
          <a:lstStyle/>
          <a:p>
            <a:pPr marL="0" indent="0">
              <a:buNone/>
            </a:pPr>
            <a:r>
              <a:rPr lang="es-AR" sz="1300" b="1" noProof="0" dirty="0" err="1">
                <a:solidFill>
                  <a:srgbClr val="1E2761"/>
                </a:solidFill>
                <a:latin typeface="Courier New" pitchFamily="34" charset="0"/>
                <a:ea typeface="Courier New" pitchFamily="34" charset="-122"/>
                <a:cs typeface="Courier New" pitchFamily="34" charset="-120"/>
              </a:rPr>
              <a:t>private</a:t>
            </a:r>
            <a:endParaRPr lang="es-AR" sz="1300" noProof="0" dirty="0"/>
          </a:p>
        </p:txBody>
      </p:sp>
      <p:sp>
        <p:nvSpPr>
          <p:cNvPr id="11" name="Text 9"/>
          <p:cNvSpPr/>
          <p:nvPr/>
        </p:nvSpPr>
        <p:spPr>
          <a:xfrm>
            <a:off x="7315200" y="3145536"/>
            <a:ext cx="4023360" cy="59436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Encapsula el atributo — nadie de afuera lo toca directo.</a:t>
            </a:r>
            <a:endParaRPr lang="es-AR" sz="1150" noProof="0" dirty="0"/>
          </a:p>
        </p:txBody>
      </p:sp>
      <p:sp>
        <p:nvSpPr>
          <p:cNvPr id="12" name="Shape 10"/>
          <p:cNvSpPr/>
          <p:nvPr/>
        </p:nvSpPr>
        <p:spPr>
          <a:xfrm>
            <a:off x="7086600" y="3968496"/>
            <a:ext cx="4526280" cy="1051560"/>
          </a:xfrm>
          <a:prstGeom prst="roundRect">
            <a:avLst>
              <a:gd name="adj" fmla="val 6957"/>
            </a:avLst>
          </a:prstGeom>
          <a:solidFill>
            <a:srgbClr val="F5F7FC"/>
          </a:solidFill>
          <a:ln w="12700">
            <a:solidFill>
              <a:srgbClr val="CADCFC"/>
            </a:solidFill>
            <a:prstDash val="solid"/>
          </a:ln>
        </p:spPr>
        <p:txBody>
          <a:bodyPr/>
          <a:lstStyle/>
          <a:p>
            <a:endParaRPr lang="es-AR" noProof="0" dirty="0"/>
          </a:p>
        </p:txBody>
      </p:sp>
      <p:sp>
        <p:nvSpPr>
          <p:cNvPr id="13" name="Text 11"/>
          <p:cNvSpPr/>
          <p:nvPr/>
        </p:nvSpPr>
        <p:spPr>
          <a:xfrm>
            <a:off x="7315200" y="4041648"/>
            <a:ext cx="4023360" cy="32004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constructor</a:t>
            </a:r>
            <a:endParaRPr lang="es-AR" sz="1300" noProof="0" dirty="0"/>
          </a:p>
        </p:txBody>
      </p:sp>
      <p:sp>
        <p:nvSpPr>
          <p:cNvPr id="14" name="Text 12"/>
          <p:cNvSpPr/>
          <p:nvPr/>
        </p:nvSpPr>
        <p:spPr>
          <a:xfrm>
            <a:off x="7315200" y="4352544"/>
            <a:ext cx="4023360" cy="59436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Mismo nombre que la clase, sin tipo de retorno.</a:t>
            </a:r>
            <a:endParaRPr lang="es-AR" sz="1150" noProof="0" dirty="0"/>
          </a:p>
        </p:txBody>
      </p:sp>
      <p:sp>
        <p:nvSpPr>
          <p:cNvPr id="15" name="Shape 13"/>
          <p:cNvSpPr/>
          <p:nvPr/>
        </p:nvSpPr>
        <p:spPr>
          <a:xfrm>
            <a:off x="7086600" y="5175504"/>
            <a:ext cx="4526280" cy="1051560"/>
          </a:xfrm>
          <a:prstGeom prst="roundRect">
            <a:avLst>
              <a:gd name="adj" fmla="val 6957"/>
            </a:avLst>
          </a:prstGeom>
          <a:solidFill>
            <a:srgbClr val="F5F7FC"/>
          </a:solidFill>
          <a:ln w="12700">
            <a:solidFill>
              <a:srgbClr val="CADCFC"/>
            </a:solidFill>
            <a:prstDash val="solid"/>
          </a:ln>
        </p:spPr>
        <p:txBody>
          <a:bodyPr/>
          <a:lstStyle/>
          <a:p>
            <a:endParaRPr lang="es-AR" noProof="0" dirty="0"/>
          </a:p>
        </p:txBody>
      </p:sp>
      <p:sp>
        <p:nvSpPr>
          <p:cNvPr id="16" name="Text 14"/>
          <p:cNvSpPr/>
          <p:nvPr/>
        </p:nvSpPr>
        <p:spPr>
          <a:xfrm>
            <a:off x="7315200" y="5248656"/>
            <a:ext cx="4023360" cy="320040"/>
          </a:xfrm>
          <a:prstGeom prst="rect">
            <a:avLst/>
          </a:prstGeom>
          <a:noFill/>
          <a:ln/>
        </p:spPr>
        <p:txBody>
          <a:bodyPr wrap="square" rtlCol="0" anchor="ctr"/>
          <a:lstStyle/>
          <a:p>
            <a:pPr marL="0" indent="0">
              <a:buNone/>
            </a:pPr>
            <a:r>
              <a:rPr lang="es-AR" sz="1300" b="1" noProof="0" dirty="0" err="1">
                <a:solidFill>
                  <a:srgbClr val="1E2761"/>
                </a:solidFill>
                <a:latin typeface="Courier New" pitchFamily="34" charset="0"/>
                <a:ea typeface="Courier New" pitchFamily="34" charset="-122"/>
                <a:cs typeface="Courier New" pitchFamily="34" charset="-120"/>
              </a:rPr>
              <a:t>getNombre</a:t>
            </a:r>
            <a:r>
              <a:rPr lang="es-AR" sz="1300" b="1" noProof="0" dirty="0">
                <a:solidFill>
                  <a:srgbClr val="1E2761"/>
                </a:solidFill>
                <a:latin typeface="Courier New" pitchFamily="34" charset="0"/>
                <a:ea typeface="Courier New" pitchFamily="34" charset="-122"/>
                <a:cs typeface="Courier New" pitchFamily="34" charset="-120"/>
              </a:rPr>
              <a:t>()</a:t>
            </a:r>
            <a:endParaRPr lang="es-AR" sz="1300" noProof="0" dirty="0"/>
          </a:p>
        </p:txBody>
      </p:sp>
      <p:sp>
        <p:nvSpPr>
          <p:cNvPr id="17" name="Text 15"/>
          <p:cNvSpPr/>
          <p:nvPr/>
        </p:nvSpPr>
        <p:spPr>
          <a:xfrm>
            <a:off x="7315200" y="5559552"/>
            <a:ext cx="4023360" cy="594360"/>
          </a:xfrm>
          <a:prstGeom prst="rect">
            <a:avLst/>
          </a:prstGeom>
          <a:noFill/>
          <a:ln/>
        </p:spPr>
        <p:txBody>
          <a:bodyPr wrap="square" rtlCol="0" anchor="t"/>
          <a:lstStyle/>
          <a:p>
            <a:pPr marL="0" indent="0">
              <a:buNone/>
            </a:pPr>
            <a:r>
              <a:rPr lang="es-AR" sz="1150" noProof="0" dirty="0">
                <a:solidFill>
                  <a:srgbClr val="1C1C2A"/>
                </a:solidFill>
                <a:latin typeface="Calibri" pitchFamily="34" charset="0"/>
                <a:ea typeface="Calibri" pitchFamily="34" charset="-122"/>
                <a:cs typeface="Calibri" pitchFamily="34" charset="-120"/>
              </a:rPr>
              <a:t>Método público: la única forma de leer el atributo desde afuera.</a:t>
            </a:r>
            <a:endParaRPr lang="es-AR" sz="1150" noProof="0" dirty="0"/>
          </a:p>
        </p:txBody>
      </p:sp>
      <p:sp>
        <p:nvSpPr>
          <p:cNvPr id="18" name="Text 16"/>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9" name="Text 17"/>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13</a:t>
            </a:r>
            <a:endParaRPr lang="es-AR" sz="10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7</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Tipos primitivos vs. objetos</a:t>
            </a:r>
            <a:endParaRPr lang="es-AR" sz="3000" noProof="0" dirty="0"/>
          </a:p>
        </p:txBody>
      </p:sp>
      <p:sp>
        <p:nvSpPr>
          <p:cNvPr id="4" name="Shape 2"/>
          <p:cNvSpPr/>
          <p:nvPr/>
        </p:nvSpPr>
        <p:spPr>
          <a:xfrm>
            <a:off x="548640" y="1554480"/>
            <a:ext cx="5394960" cy="4206240"/>
          </a:xfrm>
          <a:prstGeom prst="roundRect">
            <a:avLst>
              <a:gd name="adj" fmla="val 2174"/>
            </a:avLst>
          </a:prstGeom>
          <a:solidFill>
            <a:srgbClr val="1E2761"/>
          </a:solidFill>
          <a:ln/>
        </p:spPr>
        <p:txBody>
          <a:bodyPr/>
          <a:lstStyle/>
          <a:p>
            <a:endParaRPr lang="es-AR" noProof="0" dirty="0"/>
          </a:p>
        </p:txBody>
      </p:sp>
      <p:sp>
        <p:nvSpPr>
          <p:cNvPr id="5" name="Text 3"/>
          <p:cNvSpPr/>
          <p:nvPr/>
        </p:nvSpPr>
        <p:spPr>
          <a:xfrm>
            <a:off x="822960" y="1783080"/>
            <a:ext cx="4846320" cy="457200"/>
          </a:xfrm>
          <a:prstGeom prst="rect">
            <a:avLst/>
          </a:prstGeom>
          <a:noFill/>
          <a:ln/>
        </p:spPr>
        <p:txBody>
          <a:bodyPr wrap="square" rtlCol="0" anchor="ctr"/>
          <a:lstStyle/>
          <a:p>
            <a:pPr marL="0" indent="0">
              <a:buNone/>
            </a:pPr>
            <a:r>
              <a:rPr lang="es-AR" sz="2000" b="1" noProof="0" dirty="0">
                <a:solidFill>
                  <a:srgbClr val="FFFFFF"/>
                </a:solidFill>
                <a:latin typeface="Cambria" pitchFamily="34" charset="0"/>
                <a:ea typeface="Cambria" pitchFamily="34" charset="-122"/>
                <a:cs typeface="Cambria" pitchFamily="34" charset="-120"/>
              </a:rPr>
              <a:t>Primitivos</a:t>
            </a:r>
            <a:endParaRPr lang="es-AR" sz="2000" noProof="0" dirty="0"/>
          </a:p>
        </p:txBody>
      </p:sp>
      <p:sp>
        <p:nvSpPr>
          <p:cNvPr id="6" name="Text 4"/>
          <p:cNvSpPr/>
          <p:nvPr/>
        </p:nvSpPr>
        <p:spPr>
          <a:xfrm>
            <a:off x="822960" y="2286000"/>
            <a:ext cx="4846320" cy="1371600"/>
          </a:xfrm>
          <a:prstGeom prst="rect">
            <a:avLst/>
          </a:prstGeom>
          <a:noFill/>
          <a:ln/>
        </p:spPr>
        <p:txBody>
          <a:bodyPr wrap="square" rtlCol="0" anchor="t"/>
          <a:lstStyle/>
          <a:p>
            <a:pPr marL="0" indent="0">
              <a:buNone/>
            </a:pPr>
            <a:r>
              <a:rPr lang="es-AR" sz="1400" noProof="0" dirty="0" err="1">
                <a:solidFill>
                  <a:srgbClr val="CADCFC"/>
                </a:solidFill>
                <a:latin typeface="Calibri" pitchFamily="34" charset="0"/>
                <a:ea typeface="Calibri" pitchFamily="34" charset="-122"/>
                <a:cs typeface="Calibri" pitchFamily="34" charset="-120"/>
              </a:rPr>
              <a:t>int</a:t>
            </a:r>
            <a:r>
              <a:rPr lang="es-AR" sz="1400" noProof="0" dirty="0">
                <a:solidFill>
                  <a:srgbClr val="CADCFC"/>
                </a:solidFill>
                <a:latin typeface="Calibri" pitchFamily="34" charset="0"/>
                <a:ea typeface="Calibri" pitchFamily="34" charset="-122"/>
                <a:cs typeface="Calibri" pitchFamily="34" charset="-120"/>
              </a:rPr>
              <a:t>, </a:t>
            </a:r>
            <a:r>
              <a:rPr lang="es-AR" sz="1400" noProof="0" dirty="0" err="1">
                <a:solidFill>
                  <a:srgbClr val="CADCFC"/>
                </a:solidFill>
                <a:latin typeface="Calibri" pitchFamily="34" charset="0"/>
                <a:ea typeface="Calibri" pitchFamily="34" charset="-122"/>
                <a:cs typeface="Calibri" pitchFamily="34" charset="-120"/>
              </a:rPr>
              <a:t>double</a:t>
            </a:r>
            <a:r>
              <a:rPr lang="es-AR" sz="1400" noProof="0" dirty="0">
                <a:solidFill>
                  <a:srgbClr val="CADCFC"/>
                </a:solidFill>
                <a:latin typeface="Calibri" pitchFamily="34" charset="0"/>
                <a:ea typeface="Calibri" pitchFamily="34" charset="-122"/>
                <a:cs typeface="Calibri" pitchFamily="34" charset="-120"/>
              </a:rPr>
              <a:t>, </a:t>
            </a:r>
            <a:r>
              <a:rPr lang="es-AR" sz="1400" noProof="0" dirty="0" err="1">
                <a:solidFill>
                  <a:srgbClr val="CADCFC"/>
                </a:solidFill>
                <a:latin typeface="Calibri" pitchFamily="34" charset="0"/>
                <a:ea typeface="Calibri" pitchFamily="34" charset="-122"/>
                <a:cs typeface="Calibri" pitchFamily="34" charset="-120"/>
              </a:rPr>
              <a:t>boolean</a:t>
            </a:r>
            <a:r>
              <a:rPr lang="es-AR" sz="1400" noProof="0" dirty="0">
                <a:solidFill>
                  <a:srgbClr val="CADCFC"/>
                </a:solidFill>
                <a:latin typeface="Calibri" pitchFamily="34" charset="0"/>
                <a:ea typeface="Calibri" pitchFamily="34" charset="-122"/>
                <a:cs typeface="Calibri" pitchFamily="34" charset="-120"/>
              </a:rPr>
              <a:t>, </a:t>
            </a:r>
            <a:r>
              <a:rPr lang="es-AR" sz="1400" noProof="0" dirty="0" err="1">
                <a:solidFill>
                  <a:srgbClr val="CADCFC"/>
                </a:solidFill>
                <a:latin typeface="Calibri" pitchFamily="34" charset="0"/>
                <a:ea typeface="Calibri" pitchFamily="34" charset="-122"/>
                <a:cs typeface="Calibri" pitchFamily="34" charset="-120"/>
              </a:rPr>
              <a:t>char</a:t>
            </a:r>
            <a:r>
              <a:rPr lang="es-AR" sz="1400" noProof="0" dirty="0">
                <a:solidFill>
                  <a:srgbClr val="CADCFC"/>
                </a:solidFill>
                <a:latin typeface="Calibri" pitchFamily="34" charset="0"/>
                <a:ea typeface="Calibri" pitchFamily="34" charset="-122"/>
                <a:cs typeface="Calibri" pitchFamily="34" charset="-120"/>
              </a:rPr>
              <a:t>, </a:t>
            </a:r>
            <a:r>
              <a:rPr lang="es-AR" sz="1400" noProof="0" dirty="0" err="1">
                <a:solidFill>
                  <a:srgbClr val="CADCFC"/>
                </a:solidFill>
                <a:latin typeface="Calibri" pitchFamily="34" charset="0"/>
                <a:ea typeface="Calibri" pitchFamily="34" charset="-122"/>
                <a:cs typeface="Calibri" pitchFamily="34" charset="-120"/>
              </a:rPr>
              <a:t>long</a:t>
            </a:r>
            <a:r>
              <a:rPr lang="es-AR" sz="1400" noProof="0" dirty="0">
                <a:solidFill>
                  <a:srgbClr val="CADCFC"/>
                </a:solidFill>
                <a:latin typeface="Calibri" pitchFamily="34" charset="0"/>
                <a:ea typeface="Calibri" pitchFamily="34" charset="-122"/>
                <a:cs typeface="Calibri" pitchFamily="34" charset="-120"/>
              </a:rPr>
              <a:t>, </a:t>
            </a:r>
            <a:r>
              <a:rPr lang="es-AR" sz="1400" noProof="0" dirty="0" err="1">
                <a:solidFill>
                  <a:srgbClr val="CADCFC"/>
                </a:solidFill>
                <a:latin typeface="Calibri" pitchFamily="34" charset="0"/>
                <a:ea typeface="Calibri" pitchFamily="34" charset="-122"/>
                <a:cs typeface="Calibri" pitchFamily="34" charset="-120"/>
              </a:rPr>
              <a:t>float</a:t>
            </a:r>
            <a:endParaRPr lang="es-AR" sz="1400" noProof="0" dirty="0"/>
          </a:p>
          <a:p>
            <a:pPr marL="0" indent="0">
              <a:buNone/>
            </a:pPr>
            <a:endParaRPr lang="es-AR" sz="1400" noProof="0" dirty="0"/>
          </a:p>
          <a:p>
            <a:pPr marL="0" indent="0">
              <a:buNone/>
            </a:pPr>
            <a:r>
              <a:rPr lang="es-AR" sz="1400" noProof="0" dirty="0">
                <a:solidFill>
                  <a:srgbClr val="CADCFC"/>
                </a:solidFill>
                <a:latin typeface="Calibri" pitchFamily="34" charset="0"/>
                <a:ea typeface="Calibri" pitchFamily="34" charset="-122"/>
                <a:cs typeface="Calibri" pitchFamily="34" charset="-120"/>
              </a:rPr>
              <a:t>Se guardan por valor: la variable contiene el dato en sí, no una dirección.</a:t>
            </a:r>
            <a:endParaRPr lang="es-AR" sz="1400" noProof="0" dirty="0"/>
          </a:p>
        </p:txBody>
      </p:sp>
      <p:sp>
        <p:nvSpPr>
          <p:cNvPr id="7" name="Shape 5"/>
          <p:cNvSpPr/>
          <p:nvPr/>
        </p:nvSpPr>
        <p:spPr>
          <a:xfrm>
            <a:off x="822960" y="3840480"/>
            <a:ext cx="4846320" cy="1737360"/>
          </a:xfrm>
          <a:prstGeom prst="roundRect">
            <a:avLst>
              <a:gd name="adj" fmla="val 4211"/>
            </a:avLst>
          </a:prstGeom>
          <a:solidFill>
            <a:srgbClr val="F4F6FB"/>
          </a:solidFill>
          <a:ln w="12700">
            <a:solidFill>
              <a:srgbClr val="CADCFC"/>
            </a:solidFill>
            <a:prstDash val="solid"/>
          </a:ln>
        </p:spPr>
        <p:txBody>
          <a:bodyPr/>
          <a:lstStyle/>
          <a:p>
            <a:endParaRPr lang="es-AR" noProof="0" dirty="0"/>
          </a:p>
        </p:txBody>
      </p:sp>
      <p:sp>
        <p:nvSpPr>
          <p:cNvPr id="8" name="Text 6"/>
          <p:cNvSpPr/>
          <p:nvPr/>
        </p:nvSpPr>
        <p:spPr>
          <a:xfrm>
            <a:off x="1051560" y="3977640"/>
            <a:ext cx="4389120" cy="1463040"/>
          </a:xfrm>
          <a:prstGeom prst="rect">
            <a:avLst/>
          </a:prstGeom>
          <a:noFill/>
          <a:ln/>
        </p:spPr>
        <p:txBody>
          <a:bodyPr wrap="square" rtlCol="0" anchor="t"/>
          <a:lstStyle/>
          <a:p>
            <a:pPr marL="0" indent="0">
              <a:lnSpc>
                <a:spcPct val="115000"/>
              </a:lnSpc>
              <a:buNone/>
            </a:pPr>
            <a:r>
              <a:rPr lang="es-AR" sz="1250" noProof="0" dirty="0" err="1">
                <a:solidFill>
                  <a:srgbClr val="1C1C2A"/>
                </a:solidFill>
                <a:latin typeface="Courier New" pitchFamily="34" charset="0"/>
                <a:ea typeface="Courier New" pitchFamily="34" charset="-122"/>
                <a:cs typeface="Courier New" pitchFamily="34" charset="-120"/>
              </a:rPr>
              <a:t>int</a:t>
            </a:r>
            <a:r>
              <a:rPr lang="es-AR" sz="1250" noProof="0" dirty="0">
                <a:solidFill>
                  <a:srgbClr val="1C1C2A"/>
                </a:solidFill>
                <a:latin typeface="Courier New" pitchFamily="34" charset="0"/>
                <a:ea typeface="Courier New" pitchFamily="34" charset="-122"/>
                <a:cs typeface="Courier New" pitchFamily="34" charset="-120"/>
              </a:rPr>
              <a:t> x = 5;</a:t>
            </a:r>
            <a:endParaRPr lang="es-AR" sz="1250" noProof="0" dirty="0"/>
          </a:p>
          <a:p>
            <a:pPr marL="0" indent="0">
              <a:lnSpc>
                <a:spcPct val="115000"/>
              </a:lnSpc>
              <a:buNone/>
            </a:pPr>
            <a:r>
              <a:rPr lang="es-AR" sz="1250" noProof="0" dirty="0" err="1">
                <a:solidFill>
                  <a:srgbClr val="1C1C2A"/>
                </a:solidFill>
                <a:latin typeface="Courier New" pitchFamily="34" charset="0"/>
                <a:ea typeface="Courier New" pitchFamily="34" charset="-122"/>
                <a:cs typeface="Courier New" pitchFamily="34" charset="-120"/>
              </a:rPr>
              <a:t>int</a:t>
            </a:r>
            <a:r>
              <a:rPr lang="es-AR" sz="1250" noProof="0" dirty="0">
                <a:solidFill>
                  <a:srgbClr val="1C1C2A"/>
                </a:solidFill>
                <a:latin typeface="Courier New" pitchFamily="34" charset="0"/>
                <a:ea typeface="Courier New" pitchFamily="34" charset="-122"/>
                <a:cs typeface="Courier New" pitchFamily="34" charset="-120"/>
              </a:rPr>
              <a:t> y = x;   // y es una copia</a:t>
            </a:r>
            <a:endParaRPr lang="es-AR" sz="1250" noProof="0" dirty="0"/>
          </a:p>
          <a:p>
            <a:pPr marL="0" indent="0">
              <a:lnSpc>
                <a:spcPct val="115000"/>
              </a:lnSpc>
              <a:buNone/>
            </a:pPr>
            <a:r>
              <a:rPr lang="es-AR" sz="1250" noProof="0" dirty="0">
                <a:solidFill>
                  <a:srgbClr val="1C1C2A"/>
                </a:solidFill>
                <a:latin typeface="Courier New" pitchFamily="34" charset="0"/>
                <a:ea typeface="Courier New" pitchFamily="34" charset="-122"/>
                <a:cs typeface="Courier New" pitchFamily="34" charset="-120"/>
              </a:rPr>
              <a:t>y = 10;      // x sigue siendo 5</a:t>
            </a:r>
            <a:endParaRPr lang="es-AR" sz="1250" noProof="0" dirty="0"/>
          </a:p>
        </p:txBody>
      </p:sp>
      <p:sp>
        <p:nvSpPr>
          <p:cNvPr id="9" name="Shape 7"/>
          <p:cNvSpPr/>
          <p:nvPr/>
        </p:nvSpPr>
        <p:spPr>
          <a:xfrm>
            <a:off x="6172200" y="1554480"/>
            <a:ext cx="5440680" cy="4206240"/>
          </a:xfrm>
          <a:prstGeom prst="roundRect">
            <a:avLst>
              <a:gd name="adj" fmla="val 2174"/>
            </a:avLst>
          </a:prstGeom>
          <a:solidFill>
            <a:srgbClr val="3A4A9E"/>
          </a:solidFill>
          <a:ln/>
        </p:spPr>
        <p:txBody>
          <a:bodyPr/>
          <a:lstStyle/>
          <a:p>
            <a:endParaRPr lang="es-AR" noProof="0" dirty="0"/>
          </a:p>
        </p:txBody>
      </p:sp>
      <p:sp>
        <p:nvSpPr>
          <p:cNvPr id="10" name="Text 8"/>
          <p:cNvSpPr/>
          <p:nvPr/>
        </p:nvSpPr>
        <p:spPr>
          <a:xfrm>
            <a:off x="6446520" y="1783080"/>
            <a:ext cx="4846320" cy="457200"/>
          </a:xfrm>
          <a:prstGeom prst="rect">
            <a:avLst/>
          </a:prstGeom>
          <a:noFill/>
          <a:ln/>
        </p:spPr>
        <p:txBody>
          <a:bodyPr wrap="square" rtlCol="0" anchor="ctr"/>
          <a:lstStyle/>
          <a:p>
            <a:pPr marL="0" indent="0">
              <a:buNone/>
            </a:pPr>
            <a:r>
              <a:rPr lang="es-AR" sz="2000" b="1" noProof="0" dirty="0">
                <a:solidFill>
                  <a:srgbClr val="FFFFFF"/>
                </a:solidFill>
                <a:latin typeface="Cambria" pitchFamily="34" charset="0"/>
                <a:ea typeface="Cambria" pitchFamily="34" charset="-122"/>
                <a:cs typeface="Cambria" pitchFamily="34" charset="-120"/>
              </a:rPr>
              <a:t>Objetos</a:t>
            </a:r>
            <a:endParaRPr lang="es-AR" sz="2000" noProof="0" dirty="0"/>
          </a:p>
        </p:txBody>
      </p:sp>
      <p:sp>
        <p:nvSpPr>
          <p:cNvPr id="11" name="Text 9"/>
          <p:cNvSpPr/>
          <p:nvPr/>
        </p:nvSpPr>
        <p:spPr>
          <a:xfrm>
            <a:off x="6446520" y="2286000"/>
            <a:ext cx="4846320" cy="1371600"/>
          </a:xfrm>
          <a:prstGeom prst="rect">
            <a:avLst/>
          </a:prstGeom>
          <a:noFill/>
          <a:ln/>
        </p:spPr>
        <p:txBody>
          <a:bodyPr wrap="square" rtlCol="0" anchor="t"/>
          <a:lstStyle/>
          <a:p>
            <a:pPr marL="0" indent="0">
              <a:buNone/>
            </a:pPr>
            <a:r>
              <a:rPr lang="es-AR" sz="1400" noProof="0" dirty="0">
                <a:solidFill>
                  <a:srgbClr val="CADCFC"/>
                </a:solidFill>
                <a:latin typeface="Calibri" pitchFamily="34" charset="0"/>
                <a:ea typeface="Calibri" pitchFamily="34" charset="-122"/>
                <a:cs typeface="Calibri" pitchFamily="34" charset="-120"/>
              </a:rPr>
              <a:t>String, </a:t>
            </a:r>
            <a:r>
              <a:rPr lang="es-AR" sz="1400" noProof="0" dirty="0" err="1">
                <a:solidFill>
                  <a:srgbClr val="CADCFC"/>
                </a:solidFill>
                <a:latin typeface="Calibri" pitchFamily="34" charset="0"/>
                <a:ea typeface="Calibri" pitchFamily="34" charset="-122"/>
                <a:cs typeface="Calibri" pitchFamily="34" charset="-120"/>
              </a:rPr>
              <a:t>ArrayList</a:t>
            </a:r>
            <a:r>
              <a:rPr lang="es-AR" sz="1400" noProof="0" dirty="0">
                <a:solidFill>
                  <a:srgbClr val="CADCFC"/>
                </a:solidFill>
                <a:latin typeface="Calibri" pitchFamily="34" charset="0"/>
                <a:ea typeface="Calibri" pitchFamily="34" charset="-122"/>
                <a:cs typeface="Calibri" pitchFamily="34" charset="-120"/>
              </a:rPr>
              <a:t>, </a:t>
            </a:r>
            <a:r>
              <a:rPr lang="es-AR" sz="1400" noProof="0" dirty="0" err="1">
                <a:solidFill>
                  <a:srgbClr val="CADCFC"/>
                </a:solidFill>
                <a:latin typeface="Calibri" pitchFamily="34" charset="0"/>
                <a:ea typeface="Calibri" pitchFamily="34" charset="-122"/>
                <a:cs typeface="Calibri" pitchFamily="34" charset="-120"/>
              </a:rPr>
              <a:t>arrays</a:t>
            </a:r>
            <a:r>
              <a:rPr lang="es-AR" sz="1400" noProof="0" dirty="0">
                <a:solidFill>
                  <a:srgbClr val="CADCFC"/>
                </a:solidFill>
                <a:latin typeface="Calibri" pitchFamily="34" charset="0"/>
                <a:ea typeface="Calibri" pitchFamily="34" charset="-122"/>
                <a:cs typeface="Calibri" pitchFamily="34" charset="-120"/>
              </a:rPr>
              <a:t>, clases propias (Persona, Pila...)</a:t>
            </a:r>
            <a:endParaRPr lang="es-AR" sz="1400" noProof="0" dirty="0"/>
          </a:p>
          <a:p>
            <a:pPr marL="0" indent="0">
              <a:buNone/>
            </a:pPr>
            <a:endParaRPr lang="es-AR" sz="1400" noProof="0" dirty="0"/>
          </a:p>
          <a:p>
            <a:pPr marL="0" indent="0">
              <a:buNone/>
            </a:pPr>
            <a:r>
              <a:rPr lang="es-AR" sz="1400" noProof="0" dirty="0">
                <a:solidFill>
                  <a:srgbClr val="CADCFC"/>
                </a:solidFill>
                <a:latin typeface="Calibri" pitchFamily="34" charset="0"/>
                <a:ea typeface="Calibri" pitchFamily="34" charset="-122"/>
                <a:cs typeface="Calibri" pitchFamily="34" charset="-120"/>
              </a:rPr>
              <a:t>La variable guarda una referencia (dirección) al objeto real en memoria.</a:t>
            </a:r>
            <a:endParaRPr lang="es-AR" sz="1400" noProof="0" dirty="0"/>
          </a:p>
        </p:txBody>
      </p:sp>
      <p:sp>
        <p:nvSpPr>
          <p:cNvPr id="12" name="Shape 10"/>
          <p:cNvSpPr/>
          <p:nvPr/>
        </p:nvSpPr>
        <p:spPr>
          <a:xfrm>
            <a:off x="6446520" y="3840480"/>
            <a:ext cx="4846320" cy="1737360"/>
          </a:xfrm>
          <a:prstGeom prst="roundRect">
            <a:avLst>
              <a:gd name="adj" fmla="val 4211"/>
            </a:avLst>
          </a:prstGeom>
          <a:solidFill>
            <a:srgbClr val="F4F6FB"/>
          </a:solidFill>
          <a:ln w="12700">
            <a:solidFill>
              <a:srgbClr val="CADCFC"/>
            </a:solidFill>
            <a:prstDash val="solid"/>
          </a:ln>
        </p:spPr>
        <p:txBody>
          <a:bodyPr/>
          <a:lstStyle/>
          <a:p>
            <a:endParaRPr lang="es-AR" noProof="0" dirty="0"/>
          </a:p>
        </p:txBody>
      </p:sp>
      <p:sp>
        <p:nvSpPr>
          <p:cNvPr id="13" name="Text 11"/>
          <p:cNvSpPr/>
          <p:nvPr/>
        </p:nvSpPr>
        <p:spPr>
          <a:xfrm>
            <a:off x="6675120" y="3977640"/>
            <a:ext cx="4536962" cy="1463040"/>
          </a:xfrm>
          <a:prstGeom prst="rect">
            <a:avLst/>
          </a:prstGeom>
          <a:noFill/>
          <a:ln/>
        </p:spPr>
        <p:txBody>
          <a:bodyPr wrap="square" rtlCol="0" anchor="t"/>
          <a:lstStyle/>
          <a:p>
            <a:pPr marL="0" indent="0">
              <a:lnSpc>
                <a:spcPct val="115000"/>
              </a:lnSpc>
              <a:buNone/>
            </a:pPr>
            <a:r>
              <a:rPr lang="es-AR" sz="1250" noProof="0" dirty="0">
                <a:solidFill>
                  <a:srgbClr val="1C1C2A"/>
                </a:solidFill>
                <a:latin typeface="Courier New" pitchFamily="34" charset="0"/>
                <a:ea typeface="Courier New" pitchFamily="34" charset="-122"/>
                <a:cs typeface="Courier New" pitchFamily="34" charset="-120"/>
              </a:rPr>
              <a:t>Persona a = new Persona("Ana",20);</a:t>
            </a:r>
            <a:endParaRPr lang="es-AR" sz="1250" noProof="0" dirty="0"/>
          </a:p>
          <a:p>
            <a:pPr marL="0" indent="0">
              <a:lnSpc>
                <a:spcPct val="115000"/>
              </a:lnSpc>
              <a:buNone/>
            </a:pPr>
            <a:r>
              <a:rPr lang="es-AR" sz="1250" noProof="0" dirty="0">
                <a:solidFill>
                  <a:srgbClr val="1C1C2A"/>
                </a:solidFill>
                <a:latin typeface="Courier New" pitchFamily="34" charset="0"/>
                <a:ea typeface="Courier New" pitchFamily="34" charset="-122"/>
                <a:cs typeface="Courier New" pitchFamily="34" charset="-120"/>
              </a:rPr>
              <a:t>Persona b = a;      // b apunta al mismo </a:t>
            </a:r>
            <a:r>
              <a:rPr lang="es-AR" sz="1250" noProof="0" dirty="0" err="1">
                <a:solidFill>
                  <a:srgbClr val="1C1C2A"/>
                </a:solidFill>
                <a:latin typeface="Courier New" pitchFamily="34" charset="0"/>
                <a:ea typeface="Courier New" pitchFamily="34" charset="-122"/>
                <a:cs typeface="Courier New" pitchFamily="34" charset="-120"/>
              </a:rPr>
              <a:t>obj</a:t>
            </a:r>
            <a:r>
              <a:rPr lang="es-AR" sz="1250" noProof="0" dirty="0">
                <a:solidFill>
                  <a:srgbClr val="1C1C2A"/>
                </a:solidFill>
                <a:latin typeface="Courier New" pitchFamily="34" charset="0"/>
                <a:ea typeface="Courier New" pitchFamily="34" charset="-122"/>
                <a:cs typeface="Courier New" pitchFamily="34" charset="-120"/>
              </a:rPr>
              <a:t>.</a:t>
            </a:r>
            <a:endParaRPr lang="es-AR" sz="1250" noProof="0" dirty="0"/>
          </a:p>
          <a:p>
            <a:pPr marL="0" indent="0">
              <a:lnSpc>
                <a:spcPct val="115000"/>
              </a:lnSpc>
              <a:buNone/>
            </a:pPr>
            <a:r>
              <a:rPr lang="es-AR" sz="1250" noProof="0" dirty="0" err="1">
                <a:solidFill>
                  <a:srgbClr val="1C1C2A"/>
                </a:solidFill>
                <a:latin typeface="Courier New" pitchFamily="34" charset="0"/>
                <a:ea typeface="Courier New" pitchFamily="34" charset="-122"/>
                <a:cs typeface="Courier New" pitchFamily="34" charset="-120"/>
              </a:rPr>
              <a:t>b.cumplirAnios</a:t>
            </a:r>
            <a:r>
              <a:rPr lang="es-AR" sz="1250" noProof="0" dirty="0">
                <a:solidFill>
                  <a:srgbClr val="1C1C2A"/>
                </a:solidFill>
                <a:latin typeface="Courier New" pitchFamily="34" charset="0"/>
                <a:ea typeface="Courier New" pitchFamily="34" charset="-122"/>
                <a:cs typeface="Courier New" pitchFamily="34" charset="-120"/>
              </a:rPr>
              <a:t>();   // afecta tambien a 'a'</a:t>
            </a:r>
            <a:endParaRPr lang="es-AR" sz="1250" noProof="0" dirty="0"/>
          </a:p>
        </p:txBody>
      </p:sp>
      <p:sp>
        <p:nvSpPr>
          <p:cNvPr id="14" name="Text 12"/>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5" name="Text 13"/>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14</a:t>
            </a:r>
            <a:endParaRPr lang="es-AR" sz="10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7</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Modificadores de acceso</a:t>
            </a:r>
            <a:endParaRPr lang="es-AR" sz="3000" noProof="0" dirty="0"/>
          </a:p>
        </p:txBody>
      </p:sp>
      <p:sp>
        <p:nvSpPr>
          <p:cNvPr id="4" name="Shape 2"/>
          <p:cNvSpPr/>
          <p:nvPr/>
        </p:nvSpPr>
        <p:spPr>
          <a:xfrm>
            <a:off x="548640" y="1737360"/>
            <a:ext cx="3611880" cy="3840480"/>
          </a:xfrm>
          <a:prstGeom prst="roundRect">
            <a:avLst>
              <a:gd name="adj" fmla="val 2532"/>
            </a:avLst>
          </a:prstGeom>
          <a:solidFill>
            <a:srgbClr val="F5F7FC"/>
          </a:solidFill>
          <a:ln w="12700">
            <a:solidFill>
              <a:srgbClr val="CADCFC"/>
            </a:solidFill>
            <a:prstDash val="solid"/>
          </a:ln>
        </p:spPr>
        <p:txBody>
          <a:bodyPr/>
          <a:lstStyle/>
          <a:p>
            <a:endParaRPr lang="es-AR" noProof="0" dirty="0"/>
          </a:p>
        </p:txBody>
      </p:sp>
      <p:sp>
        <p:nvSpPr>
          <p:cNvPr id="5" name="Shape 3"/>
          <p:cNvSpPr/>
          <p:nvPr/>
        </p:nvSpPr>
        <p:spPr>
          <a:xfrm>
            <a:off x="822960" y="1965960"/>
            <a:ext cx="3063240" cy="502920"/>
          </a:xfrm>
          <a:prstGeom prst="roundRect">
            <a:avLst>
              <a:gd name="adj" fmla="val 10909"/>
            </a:avLst>
          </a:prstGeom>
          <a:solidFill>
            <a:srgbClr val="1E2761"/>
          </a:solidFill>
          <a:ln/>
        </p:spPr>
        <p:txBody>
          <a:bodyPr/>
          <a:lstStyle/>
          <a:p>
            <a:endParaRPr lang="es-AR" noProof="0" dirty="0"/>
          </a:p>
        </p:txBody>
      </p:sp>
      <p:sp>
        <p:nvSpPr>
          <p:cNvPr id="6" name="Text 4"/>
          <p:cNvSpPr/>
          <p:nvPr/>
        </p:nvSpPr>
        <p:spPr>
          <a:xfrm>
            <a:off x="822960" y="1965960"/>
            <a:ext cx="3063240" cy="502920"/>
          </a:xfrm>
          <a:prstGeom prst="rect">
            <a:avLst/>
          </a:prstGeom>
          <a:noFill/>
          <a:ln/>
        </p:spPr>
        <p:txBody>
          <a:bodyPr wrap="square" rtlCol="0" anchor="ctr"/>
          <a:lstStyle/>
          <a:p>
            <a:pPr marL="0" indent="0" algn="ctr">
              <a:buNone/>
            </a:pPr>
            <a:r>
              <a:rPr lang="es-AR" sz="1500" b="1" noProof="0" dirty="0" err="1">
                <a:solidFill>
                  <a:srgbClr val="FFFFFF"/>
                </a:solidFill>
                <a:latin typeface="Courier New" pitchFamily="34" charset="0"/>
                <a:ea typeface="Courier New" pitchFamily="34" charset="-122"/>
                <a:cs typeface="Courier New" pitchFamily="34" charset="-120"/>
              </a:rPr>
              <a:t>private</a:t>
            </a:r>
            <a:endParaRPr lang="es-AR" sz="1500" noProof="0" dirty="0"/>
          </a:p>
        </p:txBody>
      </p:sp>
      <p:sp>
        <p:nvSpPr>
          <p:cNvPr id="7" name="Text 5"/>
          <p:cNvSpPr/>
          <p:nvPr/>
        </p:nvSpPr>
        <p:spPr>
          <a:xfrm>
            <a:off x="822960" y="2651760"/>
            <a:ext cx="3063240" cy="914400"/>
          </a:xfrm>
          <a:prstGeom prst="rect">
            <a:avLst/>
          </a:prstGeom>
          <a:noFill/>
          <a:ln/>
        </p:spPr>
        <p:txBody>
          <a:bodyPr wrap="square" rtlCol="0" anchor="t"/>
          <a:lstStyle/>
          <a:p>
            <a:pPr marL="0" indent="0">
              <a:buNone/>
            </a:pPr>
            <a:r>
              <a:rPr lang="es-AR" sz="1300" noProof="0" dirty="0">
                <a:solidFill>
                  <a:srgbClr val="1C1C2A"/>
                </a:solidFill>
                <a:latin typeface="Calibri" pitchFamily="34" charset="0"/>
                <a:ea typeface="Calibri" pitchFamily="34" charset="-122"/>
                <a:cs typeface="Calibri" pitchFamily="34" charset="-120"/>
              </a:rPr>
              <a:t>Solo visible dentro de la misma clase.</a:t>
            </a:r>
            <a:endParaRPr lang="es-AR" sz="1300" noProof="0" dirty="0"/>
          </a:p>
        </p:txBody>
      </p:sp>
      <p:sp>
        <p:nvSpPr>
          <p:cNvPr id="8" name="Text 6"/>
          <p:cNvSpPr/>
          <p:nvPr/>
        </p:nvSpPr>
        <p:spPr>
          <a:xfrm>
            <a:off x="822960" y="4480560"/>
            <a:ext cx="3063240" cy="914400"/>
          </a:xfrm>
          <a:prstGeom prst="rect">
            <a:avLst/>
          </a:prstGeom>
          <a:noFill/>
          <a:ln/>
        </p:spPr>
        <p:txBody>
          <a:bodyPr wrap="square" rtlCol="0" anchor="t"/>
          <a:lstStyle/>
          <a:p>
            <a:pPr marL="0" indent="0">
              <a:buNone/>
            </a:pPr>
            <a:r>
              <a:rPr lang="es-AR" sz="1200" i="1" noProof="0" dirty="0">
                <a:solidFill>
                  <a:srgbClr val="5B6472"/>
                </a:solidFill>
                <a:latin typeface="Calibri" pitchFamily="34" charset="0"/>
                <a:ea typeface="Calibri" pitchFamily="34" charset="-122"/>
                <a:cs typeface="Calibri" pitchFamily="34" charset="-120"/>
              </a:rPr>
              <a:t>Clave para encapsular los datos de un TDA.</a:t>
            </a:r>
            <a:endParaRPr lang="es-AR" sz="1200" noProof="0" dirty="0"/>
          </a:p>
        </p:txBody>
      </p:sp>
      <p:sp>
        <p:nvSpPr>
          <p:cNvPr id="9" name="Shape 7"/>
          <p:cNvSpPr/>
          <p:nvPr/>
        </p:nvSpPr>
        <p:spPr>
          <a:xfrm>
            <a:off x="4343400" y="1737360"/>
            <a:ext cx="3611880" cy="3840480"/>
          </a:xfrm>
          <a:prstGeom prst="roundRect">
            <a:avLst>
              <a:gd name="adj" fmla="val 2532"/>
            </a:avLst>
          </a:prstGeom>
          <a:solidFill>
            <a:srgbClr val="F5F7FC"/>
          </a:solidFill>
          <a:ln w="12700">
            <a:solidFill>
              <a:srgbClr val="CADCFC"/>
            </a:solidFill>
            <a:prstDash val="solid"/>
          </a:ln>
        </p:spPr>
        <p:txBody>
          <a:bodyPr/>
          <a:lstStyle/>
          <a:p>
            <a:endParaRPr lang="es-AR" noProof="0" dirty="0"/>
          </a:p>
        </p:txBody>
      </p:sp>
      <p:sp>
        <p:nvSpPr>
          <p:cNvPr id="10" name="Shape 8"/>
          <p:cNvSpPr/>
          <p:nvPr/>
        </p:nvSpPr>
        <p:spPr>
          <a:xfrm>
            <a:off x="4617720" y="1965960"/>
            <a:ext cx="3063240" cy="502920"/>
          </a:xfrm>
          <a:prstGeom prst="roundRect">
            <a:avLst>
              <a:gd name="adj" fmla="val 10909"/>
            </a:avLst>
          </a:prstGeom>
          <a:solidFill>
            <a:srgbClr val="1E2761"/>
          </a:solidFill>
          <a:ln/>
        </p:spPr>
        <p:txBody>
          <a:bodyPr/>
          <a:lstStyle/>
          <a:p>
            <a:endParaRPr lang="es-AR" noProof="0" dirty="0"/>
          </a:p>
        </p:txBody>
      </p:sp>
      <p:sp>
        <p:nvSpPr>
          <p:cNvPr id="11" name="Text 9"/>
          <p:cNvSpPr/>
          <p:nvPr/>
        </p:nvSpPr>
        <p:spPr>
          <a:xfrm>
            <a:off x="4617720" y="1965960"/>
            <a:ext cx="3063240" cy="502920"/>
          </a:xfrm>
          <a:prstGeom prst="rect">
            <a:avLst/>
          </a:prstGeom>
          <a:noFill/>
          <a:ln/>
        </p:spPr>
        <p:txBody>
          <a:bodyPr wrap="square" rtlCol="0" anchor="ctr"/>
          <a:lstStyle/>
          <a:p>
            <a:pPr marL="0" indent="0" algn="ctr">
              <a:buNone/>
            </a:pPr>
            <a:r>
              <a:rPr lang="es-AR" sz="1500" b="1" noProof="0" dirty="0" err="1">
                <a:solidFill>
                  <a:srgbClr val="FFFFFF"/>
                </a:solidFill>
                <a:latin typeface="Courier New" pitchFamily="34" charset="0"/>
                <a:ea typeface="Courier New" pitchFamily="34" charset="-122"/>
                <a:cs typeface="Courier New" pitchFamily="34" charset="-120"/>
              </a:rPr>
              <a:t>public</a:t>
            </a:r>
            <a:endParaRPr lang="es-AR" sz="1500" noProof="0" dirty="0"/>
          </a:p>
        </p:txBody>
      </p:sp>
      <p:sp>
        <p:nvSpPr>
          <p:cNvPr id="12" name="Text 10"/>
          <p:cNvSpPr/>
          <p:nvPr/>
        </p:nvSpPr>
        <p:spPr>
          <a:xfrm>
            <a:off x="4617720" y="2651760"/>
            <a:ext cx="3063240" cy="914400"/>
          </a:xfrm>
          <a:prstGeom prst="rect">
            <a:avLst/>
          </a:prstGeom>
          <a:noFill/>
          <a:ln/>
        </p:spPr>
        <p:txBody>
          <a:bodyPr wrap="square" rtlCol="0" anchor="t"/>
          <a:lstStyle/>
          <a:p>
            <a:pPr marL="0" indent="0">
              <a:buNone/>
            </a:pPr>
            <a:r>
              <a:rPr lang="es-AR" sz="1300" noProof="0" dirty="0">
                <a:solidFill>
                  <a:srgbClr val="1C1C2A"/>
                </a:solidFill>
                <a:latin typeface="Calibri" pitchFamily="34" charset="0"/>
                <a:ea typeface="Calibri" pitchFamily="34" charset="-122"/>
                <a:cs typeface="Calibri" pitchFamily="34" charset="-120"/>
              </a:rPr>
              <a:t>Visible desde cualquier lugar.</a:t>
            </a:r>
            <a:endParaRPr lang="es-AR" sz="1300" noProof="0" dirty="0"/>
          </a:p>
        </p:txBody>
      </p:sp>
      <p:sp>
        <p:nvSpPr>
          <p:cNvPr id="13" name="Text 11"/>
          <p:cNvSpPr/>
          <p:nvPr/>
        </p:nvSpPr>
        <p:spPr>
          <a:xfrm>
            <a:off x="4617720" y="4480560"/>
            <a:ext cx="3063240" cy="914400"/>
          </a:xfrm>
          <a:prstGeom prst="rect">
            <a:avLst/>
          </a:prstGeom>
          <a:noFill/>
          <a:ln/>
        </p:spPr>
        <p:txBody>
          <a:bodyPr wrap="square" rtlCol="0" anchor="t"/>
          <a:lstStyle/>
          <a:p>
            <a:pPr marL="0" indent="0">
              <a:buNone/>
            </a:pPr>
            <a:r>
              <a:rPr lang="es-AR" sz="1200" i="1" noProof="0" dirty="0">
                <a:solidFill>
                  <a:srgbClr val="5B6472"/>
                </a:solidFill>
                <a:latin typeface="Calibri" pitchFamily="34" charset="0"/>
                <a:ea typeface="Calibri" pitchFamily="34" charset="-122"/>
                <a:cs typeface="Calibri" pitchFamily="34" charset="-120"/>
              </a:rPr>
              <a:t>Se usa en la interfaz pública: las operaciones del TDA.</a:t>
            </a:r>
            <a:endParaRPr lang="es-AR" sz="1200" noProof="0" dirty="0"/>
          </a:p>
        </p:txBody>
      </p:sp>
      <p:sp>
        <p:nvSpPr>
          <p:cNvPr id="14" name="Shape 12"/>
          <p:cNvSpPr/>
          <p:nvPr/>
        </p:nvSpPr>
        <p:spPr>
          <a:xfrm>
            <a:off x="8138160" y="1737360"/>
            <a:ext cx="3611880" cy="3840480"/>
          </a:xfrm>
          <a:prstGeom prst="roundRect">
            <a:avLst>
              <a:gd name="adj" fmla="val 2532"/>
            </a:avLst>
          </a:prstGeom>
          <a:solidFill>
            <a:srgbClr val="F5F7FC"/>
          </a:solidFill>
          <a:ln w="12700">
            <a:solidFill>
              <a:srgbClr val="CADCFC"/>
            </a:solidFill>
            <a:prstDash val="solid"/>
          </a:ln>
        </p:spPr>
        <p:txBody>
          <a:bodyPr/>
          <a:lstStyle/>
          <a:p>
            <a:endParaRPr lang="es-AR" noProof="0" dirty="0"/>
          </a:p>
        </p:txBody>
      </p:sp>
      <p:sp>
        <p:nvSpPr>
          <p:cNvPr id="15" name="Shape 13"/>
          <p:cNvSpPr/>
          <p:nvPr/>
        </p:nvSpPr>
        <p:spPr>
          <a:xfrm>
            <a:off x="8412480" y="1965960"/>
            <a:ext cx="3063240" cy="502920"/>
          </a:xfrm>
          <a:prstGeom prst="roundRect">
            <a:avLst>
              <a:gd name="adj" fmla="val 10909"/>
            </a:avLst>
          </a:prstGeom>
          <a:solidFill>
            <a:srgbClr val="1E2761"/>
          </a:solidFill>
          <a:ln/>
        </p:spPr>
        <p:txBody>
          <a:bodyPr/>
          <a:lstStyle/>
          <a:p>
            <a:endParaRPr lang="es-AR" noProof="0" dirty="0"/>
          </a:p>
        </p:txBody>
      </p:sp>
      <p:sp>
        <p:nvSpPr>
          <p:cNvPr id="16" name="Text 14"/>
          <p:cNvSpPr/>
          <p:nvPr/>
        </p:nvSpPr>
        <p:spPr>
          <a:xfrm>
            <a:off x="8412480" y="1965960"/>
            <a:ext cx="3063240" cy="502920"/>
          </a:xfrm>
          <a:prstGeom prst="rect">
            <a:avLst/>
          </a:prstGeom>
          <a:noFill/>
          <a:ln/>
        </p:spPr>
        <p:txBody>
          <a:bodyPr wrap="square" rtlCol="0" anchor="ctr"/>
          <a:lstStyle/>
          <a:p>
            <a:pPr marL="0" indent="0" algn="ctr">
              <a:buNone/>
            </a:pPr>
            <a:r>
              <a:rPr lang="es-AR" sz="1500" b="1" noProof="0" dirty="0" err="1">
                <a:solidFill>
                  <a:srgbClr val="FFFFFF"/>
                </a:solidFill>
                <a:latin typeface="Courier New" pitchFamily="34" charset="0"/>
                <a:ea typeface="Courier New" pitchFamily="34" charset="-122"/>
                <a:cs typeface="Courier New" pitchFamily="34" charset="-120"/>
              </a:rPr>
              <a:t>protected</a:t>
            </a:r>
            <a:endParaRPr lang="es-AR" sz="1500" noProof="0" dirty="0"/>
          </a:p>
        </p:txBody>
      </p:sp>
      <p:sp>
        <p:nvSpPr>
          <p:cNvPr id="17" name="Text 15"/>
          <p:cNvSpPr/>
          <p:nvPr/>
        </p:nvSpPr>
        <p:spPr>
          <a:xfrm>
            <a:off x="8412480" y="2651760"/>
            <a:ext cx="3063240" cy="914400"/>
          </a:xfrm>
          <a:prstGeom prst="rect">
            <a:avLst/>
          </a:prstGeom>
          <a:noFill/>
          <a:ln/>
        </p:spPr>
        <p:txBody>
          <a:bodyPr wrap="square" rtlCol="0" anchor="t"/>
          <a:lstStyle/>
          <a:p>
            <a:pPr marL="0" indent="0">
              <a:buNone/>
            </a:pPr>
            <a:r>
              <a:rPr lang="es-AR" sz="1300" noProof="0" dirty="0">
                <a:solidFill>
                  <a:srgbClr val="1C1C2A"/>
                </a:solidFill>
                <a:latin typeface="Calibri" pitchFamily="34" charset="0"/>
                <a:ea typeface="Calibri" pitchFamily="34" charset="-122"/>
                <a:cs typeface="Calibri" pitchFamily="34" charset="-120"/>
              </a:rPr>
              <a:t>Visible en la clase, subclases y mismo paquete.</a:t>
            </a:r>
            <a:endParaRPr lang="es-AR" sz="1300" noProof="0" dirty="0"/>
          </a:p>
        </p:txBody>
      </p:sp>
      <p:sp>
        <p:nvSpPr>
          <p:cNvPr id="18" name="Text 16"/>
          <p:cNvSpPr/>
          <p:nvPr/>
        </p:nvSpPr>
        <p:spPr>
          <a:xfrm>
            <a:off x="8412480" y="4480560"/>
            <a:ext cx="3063240" cy="914400"/>
          </a:xfrm>
          <a:prstGeom prst="rect">
            <a:avLst/>
          </a:prstGeom>
          <a:noFill/>
          <a:ln/>
        </p:spPr>
        <p:txBody>
          <a:bodyPr wrap="square" rtlCol="0" anchor="t"/>
          <a:lstStyle/>
          <a:p>
            <a:pPr marL="0" indent="0">
              <a:buNone/>
            </a:pPr>
            <a:r>
              <a:rPr lang="es-AR" sz="1200" i="1" noProof="0" dirty="0">
                <a:solidFill>
                  <a:srgbClr val="5B6472"/>
                </a:solidFill>
                <a:latin typeface="Calibri" pitchFamily="34" charset="0"/>
                <a:ea typeface="Calibri" pitchFamily="34" charset="-122"/>
                <a:cs typeface="Calibri" pitchFamily="34" charset="-120"/>
              </a:rPr>
              <a:t>Se usa cuando hay herencia (más adelante en la carrera).</a:t>
            </a:r>
            <a:endParaRPr lang="es-AR" sz="1200" noProof="0" dirty="0"/>
          </a:p>
        </p:txBody>
      </p:sp>
      <p:sp>
        <p:nvSpPr>
          <p:cNvPr id="19" name="Text 1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15</a:t>
            </a:r>
            <a:endParaRPr lang="es-AR" sz="10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7</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err="1">
                <a:solidFill>
                  <a:srgbClr val="1E2761"/>
                </a:solidFill>
                <a:latin typeface="Cambria" pitchFamily="34" charset="0"/>
                <a:ea typeface="Cambria" pitchFamily="34" charset="-122"/>
                <a:cs typeface="Cambria" pitchFamily="34" charset="-120"/>
              </a:rPr>
              <a:t>protected</a:t>
            </a:r>
            <a:r>
              <a:rPr lang="es-AR" sz="3000" b="1" noProof="0" dirty="0">
                <a:solidFill>
                  <a:srgbClr val="1E2761"/>
                </a:solidFill>
                <a:latin typeface="Cambria" pitchFamily="34" charset="0"/>
                <a:ea typeface="Cambria" pitchFamily="34" charset="-122"/>
                <a:cs typeface="Cambria" pitchFamily="34" charset="-120"/>
              </a:rPr>
              <a:t>: acceso desde una subclase</a:t>
            </a:r>
            <a:endParaRPr lang="es-AR" sz="3000" noProof="0" dirty="0"/>
          </a:p>
        </p:txBody>
      </p:sp>
      <p:sp>
        <p:nvSpPr>
          <p:cNvPr id="4" name="Shape 2"/>
          <p:cNvSpPr/>
          <p:nvPr/>
        </p:nvSpPr>
        <p:spPr>
          <a:xfrm>
            <a:off x="548640" y="1463040"/>
            <a:ext cx="694944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00200"/>
            <a:ext cx="6492240" cy="4754880"/>
          </a:xfrm>
          <a:prstGeom prst="rect">
            <a:avLst/>
          </a:prstGeom>
          <a:noFill/>
          <a:ln/>
        </p:spPr>
        <p:txBody>
          <a:bodyPr/>
          <a:lstStyle/>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class</a:t>
            </a:r>
            <a:r>
              <a:rPr lang="es-AR" sz="1350" noProof="0" dirty="0">
                <a:solidFill>
                  <a:srgbClr val="1C1C2A"/>
                </a:solidFill>
                <a:latin typeface="Courier New" pitchFamily="34" charset="0"/>
                <a:ea typeface="Courier New" pitchFamily="34" charset="-122"/>
                <a:cs typeface="Courier New" pitchFamily="34" charset="-120"/>
              </a:rPr>
              <a:t> Empleado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protected</a:t>
            </a:r>
            <a:r>
              <a:rPr lang="es-AR" sz="1350" noProof="0" dirty="0">
                <a:solidFill>
                  <a:srgbClr val="1C1C2A"/>
                </a:solidFill>
                <a:latin typeface="Courier New" pitchFamily="34" charset="0"/>
                <a:ea typeface="Courier New" pitchFamily="34" charset="-122"/>
                <a:cs typeface="Courier New" pitchFamily="34" charset="-120"/>
              </a:rPr>
              <a:t> String nombre;</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protected</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double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sueldoBase</a:t>
            </a: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Empleado(String nombre, </a:t>
            </a:r>
            <a:r>
              <a:rPr lang="es-AR" sz="1350" noProof="0" dirty="0" err="1">
                <a:solidFill>
                  <a:srgbClr val="1C1C2A"/>
                </a:solidFill>
                <a:latin typeface="Courier New" pitchFamily="34" charset="0"/>
                <a:ea typeface="Courier New" pitchFamily="34" charset="-122"/>
                <a:cs typeface="Courier New" pitchFamily="34" charset="-120"/>
              </a:rPr>
              <a:t>double</a:t>
            </a:r>
            <a:r>
              <a:rPr lang="es-AR" sz="1350" noProof="0" dirty="0">
                <a:solidFill>
                  <a:srgbClr val="1C1C2A"/>
                </a:solidFill>
                <a:latin typeface="Courier New" pitchFamily="34" charset="0"/>
                <a:ea typeface="Courier New" pitchFamily="34" charset="-122"/>
                <a:cs typeface="Courier New" pitchFamily="34" charset="-120"/>
              </a:rPr>
              <a:t> base)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this.nombre</a:t>
            </a:r>
            <a:r>
              <a:rPr lang="es-AR" sz="1350" noProof="0" dirty="0">
                <a:solidFill>
                  <a:srgbClr val="1C1C2A"/>
                </a:solidFill>
                <a:latin typeface="Courier New" pitchFamily="34" charset="0"/>
                <a:ea typeface="Courier New" pitchFamily="34" charset="-122"/>
                <a:cs typeface="Courier New" pitchFamily="34" charset="-120"/>
              </a:rPr>
              <a:t> = nombre;</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this.sueldoBase</a:t>
            </a:r>
            <a:r>
              <a:rPr lang="es-AR" sz="1350" noProof="0" dirty="0">
                <a:solidFill>
                  <a:srgbClr val="1C1C2A"/>
                </a:solidFill>
                <a:latin typeface="Courier New" pitchFamily="34" charset="0"/>
                <a:ea typeface="Courier New" pitchFamily="34" charset="-122"/>
                <a:cs typeface="Courier New" pitchFamily="34" charset="-120"/>
              </a:rPr>
              <a:t> = base;</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a:p>
            <a:pPr marL="0" indent="0">
              <a:lnSpc>
                <a:spcPct val="115000"/>
              </a:lnSpc>
              <a:buNone/>
            </a:pPr>
            <a:endParaRPr lang="es-AR" sz="1350" noProof="0" dirty="0"/>
          </a:p>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class</a:t>
            </a:r>
            <a:r>
              <a:rPr lang="es-AR" sz="1350" noProof="0" dirty="0">
                <a:solidFill>
                  <a:srgbClr val="1C1C2A"/>
                </a:solidFill>
                <a:latin typeface="Courier New" pitchFamily="34" charset="0"/>
                <a:ea typeface="Courier New" pitchFamily="34" charset="-122"/>
                <a:cs typeface="Courier New" pitchFamily="34" charset="-120"/>
              </a:rPr>
              <a:t> Gerente </a:t>
            </a:r>
            <a:r>
              <a:rPr lang="es-AR" sz="1350" noProof="0" dirty="0" err="1">
                <a:solidFill>
                  <a:srgbClr val="1C1C2A"/>
                </a:solidFill>
                <a:latin typeface="Courier New" pitchFamily="34" charset="0"/>
                <a:ea typeface="Courier New" pitchFamily="34" charset="-122"/>
                <a:cs typeface="Courier New" pitchFamily="34" charset="-120"/>
              </a:rPr>
              <a:t>extends</a:t>
            </a:r>
            <a:r>
              <a:rPr lang="es-AR" sz="1350" noProof="0" dirty="0">
                <a:solidFill>
                  <a:srgbClr val="1C1C2A"/>
                </a:solidFill>
                <a:latin typeface="Courier New" pitchFamily="34" charset="0"/>
                <a:ea typeface="Courier New" pitchFamily="34" charset="-122"/>
                <a:cs typeface="Courier New" pitchFamily="34" charset="-120"/>
              </a:rPr>
              <a:t> Empleado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private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double</a:t>
            </a:r>
            <a:r>
              <a:rPr lang="es-AR" sz="1350" noProof="0" dirty="0">
                <a:solidFill>
                  <a:srgbClr val="1C1C2A"/>
                </a:solidFill>
                <a:latin typeface="Courier New" pitchFamily="34" charset="0"/>
                <a:ea typeface="Courier New" pitchFamily="34" charset="-122"/>
                <a:cs typeface="Courier New" pitchFamily="34" charset="-120"/>
              </a:rPr>
              <a:t> bono;</a:t>
            </a:r>
            <a:endParaRPr lang="es-AR" sz="1350" noProof="0" dirty="0"/>
          </a:p>
          <a:p>
            <a:pPr marL="0" indent="0">
              <a:lnSpc>
                <a:spcPct val="115000"/>
              </a:lnSpc>
              <a:buNone/>
            </a:pP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public</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double</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calcularSueldo</a:t>
            </a: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return</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sueldoBase</a:t>
            </a:r>
            <a:r>
              <a:rPr lang="es-AR" sz="1350" noProof="0" dirty="0">
                <a:solidFill>
                  <a:srgbClr val="1C1C2A"/>
                </a:solidFill>
                <a:latin typeface="Courier New" pitchFamily="34" charset="0"/>
                <a:ea typeface="Courier New" pitchFamily="34" charset="-122"/>
                <a:cs typeface="Courier New" pitchFamily="34" charset="-120"/>
              </a:rPr>
              <a:t> + bono;</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p:txBody>
      </p:sp>
      <p:sp>
        <p:nvSpPr>
          <p:cNvPr id="6" name="Shape 4"/>
          <p:cNvSpPr/>
          <p:nvPr/>
        </p:nvSpPr>
        <p:spPr>
          <a:xfrm>
            <a:off x="7680960" y="1463040"/>
            <a:ext cx="3931920" cy="5029200"/>
          </a:xfrm>
          <a:prstGeom prst="roundRect">
            <a:avLst>
              <a:gd name="adj" fmla="val 2326"/>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909560" y="1645920"/>
            <a:ext cx="3474720" cy="365760"/>
          </a:xfrm>
          <a:prstGeom prst="rect">
            <a:avLst/>
          </a:prstGeom>
          <a:noFill/>
          <a:ln/>
        </p:spPr>
        <p:txBody>
          <a:bodyPr wrap="square" rtlCol="0" anchor="ctr"/>
          <a:lstStyle/>
          <a:p>
            <a:pPr marL="0" indent="0">
              <a:buNone/>
            </a:pPr>
            <a:r>
              <a:rPr lang="es-AR" sz="1300" b="1" noProof="0" dirty="0">
                <a:solidFill>
                  <a:srgbClr val="1E2761"/>
                </a:solidFill>
                <a:latin typeface="Calibri" pitchFamily="34" charset="0"/>
                <a:ea typeface="Calibri" pitchFamily="34" charset="-122"/>
                <a:cs typeface="Calibri" pitchFamily="34" charset="-120"/>
              </a:rPr>
              <a:t>Detalle</a:t>
            </a:r>
            <a:endParaRPr lang="es-AR" sz="1300" noProof="0" dirty="0"/>
          </a:p>
        </p:txBody>
      </p:sp>
      <p:sp>
        <p:nvSpPr>
          <p:cNvPr id="8" name="Text 6"/>
          <p:cNvSpPr/>
          <p:nvPr/>
        </p:nvSpPr>
        <p:spPr>
          <a:xfrm>
            <a:off x="7909560" y="2103120"/>
            <a:ext cx="3474720" cy="4206240"/>
          </a:xfrm>
          <a:prstGeom prst="rect">
            <a:avLst/>
          </a:prstGeom>
          <a:noFill/>
          <a:ln/>
        </p:spPr>
        <p:txBody>
          <a:bodyPr/>
          <a:lstStyle/>
          <a:p>
            <a:pPr marL="0" indent="0">
              <a:buNone/>
            </a:pPr>
            <a:r>
              <a:rPr lang="es-AR" sz="1250" b="1" noProof="0" dirty="0" err="1">
                <a:solidFill>
                  <a:srgbClr val="1E2761"/>
                </a:solidFill>
                <a:latin typeface="Calibri" pitchFamily="34" charset="0"/>
                <a:ea typeface="Calibri" pitchFamily="34" charset="-122"/>
                <a:cs typeface="Calibri" pitchFamily="34" charset="-120"/>
              </a:rPr>
              <a:t>protected</a:t>
            </a:r>
            <a:r>
              <a:rPr lang="es-AR" sz="1250" b="1" noProof="0" dirty="0">
                <a:solidFill>
                  <a:srgbClr val="1E2761"/>
                </a:solidFill>
                <a:latin typeface="Calibri" pitchFamily="34" charset="0"/>
                <a:ea typeface="Calibri" pitchFamily="34" charset="-122"/>
                <a:cs typeface="Calibri" pitchFamily="34" charset="-120"/>
              </a:rPr>
              <a:t>: </a:t>
            </a:r>
            <a:r>
              <a:rPr lang="es-AR" sz="1250" noProof="0" dirty="0" err="1">
                <a:solidFill>
                  <a:srgbClr val="1C1C2A"/>
                </a:solidFill>
                <a:latin typeface="Calibri" pitchFamily="34" charset="0"/>
                <a:ea typeface="Calibri" pitchFamily="34" charset="-122"/>
                <a:cs typeface="Calibri" pitchFamily="34" charset="-120"/>
              </a:rPr>
              <a:t>sueldoBase</a:t>
            </a:r>
            <a:r>
              <a:rPr lang="es-AR" sz="1250" noProof="0" dirty="0">
                <a:solidFill>
                  <a:srgbClr val="1C1C2A"/>
                </a:solidFill>
                <a:latin typeface="Calibri" pitchFamily="34" charset="0"/>
                <a:ea typeface="Calibri" pitchFamily="34" charset="-122"/>
                <a:cs typeface="Calibri" pitchFamily="34" charset="-120"/>
              </a:rPr>
              <a:t> es visible en Empleado, en Gerente (subclase) y en el mismo paquete.
</a:t>
            </a:r>
            <a:r>
              <a:rPr lang="es-AR" sz="1250" b="1" noProof="0" dirty="0" err="1">
                <a:solidFill>
                  <a:srgbClr val="1E2761"/>
                </a:solidFill>
                <a:latin typeface="Calibri" pitchFamily="34" charset="0"/>
                <a:ea typeface="Calibri" pitchFamily="34" charset="-122"/>
                <a:cs typeface="Calibri" pitchFamily="34" charset="-120"/>
              </a:rPr>
              <a:t>Gerente.calcularSueldo</a:t>
            </a:r>
            <a:r>
              <a:rPr lang="es-AR" sz="1250" b="1" noProof="0" dirty="0">
                <a:solidFill>
                  <a:srgbClr val="1E2761"/>
                </a:solidFill>
                <a:latin typeface="Calibri" pitchFamily="34" charset="0"/>
                <a:ea typeface="Calibri" pitchFamily="34" charset="-122"/>
                <a:cs typeface="Calibri" pitchFamily="34" charset="-120"/>
              </a:rPr>
              <a:t>(): </a:t>
            </a:r>
            <a:r>
              <a:rPr lang="es-AR" sz="1250" noProof="0" dirty="0">
                <a:solidFill>
                  <a:srgbClr val="1C1C2A"/>
                </a:solidFill>
                <a:latin typeface="Calibri" pitchFamily="34" charset="0"/>
                <a:ea typeface="Calibri" pitchFamily="34" charset="-122"/>
                <a:cs typeface="Calibri" pitchFamily="34" charset="-120"/>
              </a:rPr>
              <a:t>usa </a:t>
            </a:r>
            <a:r>
              <a:rPr lang="es-AR" sz="1250" noProof="0" dirty="0" err="1">
                <a:solidFill>
                  <a:srgbClr val="1C1C2A"/>
                </a:solidFill>
                <a:latin typeface="Calibri" pitchFamily="34" charset="0"/>
                <a:ea typeface="Calibri" pitchFamily="34" charset="-122"/>
                <a:cs typeface="Calibri" pitchFamily="34" charset="-120"/>
              </a:rPr>
              <a:t>sueldoBase</a:t>
            </a:r>
            <a:r>
              <a:rPr lang="es-AR" sz="1250" noProof="0" dirty="0">
                <a:solidFill>
                  <a:srgbClr val="1C1C2A"/>
                </a:solidFill>
                <a:latin typeface="Calibri" pitchFamily="34" charset="0"/>
                <a:ea typeface="Calibri" pitchFamily="34" charset="-122"/>
                <a:cs typeface="Calibri" pitchFamily="34" charset="-120"/>
              </a:rPr>
              <a:t> directamente porque lo heredó — con </a:t>
            </a:r>
            <a:r>
              <a:rPr lang="es-AR" sz="1250" noProof="0" dirty="0" err="1">
                <a:solidFill>
                  <a:srgbClr val="1C1C2A"/>
                </a:solidFill>
                <a:latin typeface="Calibri" pitchFamily="34" charset="0"/>
                <a:ea typeface="Calibri" pitchFamily="34" charset="-122"/>
                <a:cs typeface="Calibri" pitchFamily="34" charset="-120"/>
              </a:rPr>
              <a:t>private</a:t>
            </a:r>
            <a:r>
              <a:rPr lang="es-AR" sz="1250" noProof="0" dirty="0">
                <a:solidFill>
                  <a:srgbClr val="1C1C2A"/>
                </a:solidFill>
                <a:latin typeface="Calibri" pitchFamily="34" charset="0"/>
                <a:ea typeface="Calibri" pitchFamily="34" charset="-122"/>
                <a:cs typeface="Calibri" pitchFamily="34" charset="-120"/>
              </a:rPr>
              <a:t> no compilaría.
</a:t>
            </a:r>
            <a:r>
              <a:rPr lang="es-AR" sz="1250" b="1" noProof="0" dirty="0">
                <a:solidFill>
                  <a:srgbClr val="1E2761"/>
                </a:solidFill>
                <a:latin typeface="Calibri" pitchFamily="34" charset="0"/>
                <a:ea typeface="Calibri" pitchFamily="34" charset="-122"/>
                <a:cs typeface="Calibri" pitchFamily="34" charset="-120"/>
              </a:rPr>
              <a:t>Desde afuera: </a:t>
            </a:r>
            <a:r>
              <a:rPr lang="es-AR" sz="1250" noProof="0" dirty="0">
                <a:solidFill>
                  <a:srgbClr val="1C1C2A"/>
                </a:solidFill>
                <a:latin typeface="Calibri" pitchFamily="34" charset="0"/>
                <a:ea typeface="Calibri" pitchFamily="34" charset="-122"/>
                <a:cs typeface="Calibri" pitchFamily="34" charset="-120"/>
              </a:rPr>
              <a:t>Alguien externo no puede escribir </a:t>
            </a:r>
            <a:r>
              <a:rPr lang="es-AR" sz="1250" noProof="0" dirty="0" err="1">
                <a:solidFill>
                  <a:srgbClr val="1C1C2A"/>
                </a:solidFill>
                <a:latin typeface="Calibri" pitchFamily="34" charset="0"/>
                <a:ea typeface="Calibri" pitchFamily="34" charset="-122"/>
                <a:cs typeface="Calibri" pitchFamily="34" charset="-120"/>
              </a:rPr>
              <a:t>gerente.sueldoBase</a:t>
            </a:r>
            <a:r>
              <a:rPr lang="es-AR" sz="1250" noProof="0" dirty="0">
                <a:solidFill>
                  <a:srgbClr val="1C1C2A"/>
                </a:solidFill>
                <a:latin typeface="Calibri" pitchFamily="34" charset="0"/>
                <a:ea typeface="Calibri" pitchFamily="34" charset="-122"/>
                <a:cs typeface="Calibri" pitchFamily="34" charset="-120"/>
              </a:rPr>
              <a:t> = x; eso sigue prohibido, igual que con </a:t>
            </a:r>
            <a:r>
              <a:rPr lang="es-AR" sz="1250" noProof="0" dirty="0" err="1">
                <a:solidFill>
                  <a:srgbClr val="1C1C2A"/>
                </a:solidFill>
                <a:latin typeface="Calibri" pitchFamily="34" charset="0"/>
                <a:ea typeface="Calibri" pitchFamily="34" charset="-122"/>
                <a:cs typeface="Calibri" pitchFamily="34" charset="-120"/>
              </a:rPr>
              <a:t>private</a:t>
            </a:r>
            <a:r>
              <a:rPr lang="es-AR" sz="1250" noProof="0" dirty="0">
                <a:solidFill>
                  <a:srgbClr val="1C1C2A"/>
                </a:solidFill>
                <a:latin typeface="Calibri" pitchFamily="34" charset="0"/>
                <a:ea typeface="Calibri" pitchFamily="34" charset="-122"/>
                <a:cs typeface="Calibri" pitchFamily="34" charset="-120"/>
              </a:rPr>
              <a:t>.</a:t>
            </a:r>
            <a:endParaRPr lang="es-AR" sz="1250" noProof="0" dirty="0"/>
          </a:p>
        </p:txBody>
      </p:sp>
      <p:sp>
        <p:nvSpPr>
          <p:cNvPr id="9" name="Text 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0" name="Text 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17</a:t>
            </a:r>
            <a:endParaRPr lang="es-AR" sz="10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4114800"/>
            <a:ext cx="4572000" cy="4572000"/>
          </a:xfrm>
          <a:prstGeom prst="ellipse">
            <a:avLst/>
          </a:prstGeom>
          <a:solidFill>
            <a:srgbClr val="263876"/>
          </a:solidFill>
          <a:ln/>
        </p:spPr>
        <p:txBody>
          <a:bodyPr/>
          <a:lstStyle/>
          <a:p>
            <a:endParaRPr lang="es-AR" noProof="0" dirty="0"/>
          </a:p>
        </p:txBody>
      </p:sp>
      <p:sp>
        <p:nvSpPr>
          <p:cNvPr id="3" name="Text 1"/>
          <p:cNvSpPr/>
          <p:nvPr/>
        </p:nvSpPr>
        <p:spPr>
          <a:xfrm>
            <a:off x="731520" y="2468880"/>
            <a:ext cx="7315200" cy="365760"/>
          </a:xfrm>
          <a:prstGeom prst="rect">
            <a:avLst/>
          </a:prstGeom>
          <a:noFill/>
          <a:ln/>
        </p:spPr>
        <p:txBody>
          <a:bodyPr wrap="square" rtlCol="0" anchor="ctr"/>
          <a:lstStyle/>
          <a:p>
            <a:pPr marL="0" indent="0">
              <a:buNone/>
            </a:pPr>
            <a:r>
              <a:rPr lang="es-AR" sz="1400" b="1" kern="0" spc="200" noProof="0" dirty="0">
                <a:solidFill>
                  <a:srgbClr val="E8A33D"/>
                </a:solidFill>
                <a:latin typeface="Calibri" pitchFamily="34" charset="0"/>
                <a:ea typeface="Calibri" pitchFamily="34" charset="-122"/>
                <a:cs typeface="Calibri" pitchFamily="34" charset="-120"/>
              </a:rPr>
              <a:t>BLOQUE 8</a:t>
            </a:r>
            <a:endParaRPr lang="es-AR" sz="1400" noProof="0" dirty="0"/>
          </a:p>
        </p:txBody>
      </p:sp>
      <p:sp>
        <p:nvSpPr>
          <p:cNvPr id="4" name="Text 2"/>
          <p:cNvSpPr/>
          <p:nvPr/>
        </p:nvSpPr>
        <p:spPr>
          <a:xfrm>
            <a:off x="731520" y="2834640"/>
            <a:ext cx="10058400" cy="1280160"/>
          </a:xfrm>
          <a:prstGeom prst="rect">
            <a:avLst/>
          </a:prstGeom>
          <a:noFill/>
          <a:ln/>
        </p:spPr>
        <p:txBody>
          <a:bodyPr wrap="square" rtlCol="0" anchor="ctr"/>
          <a:lstStyle/>
          <a:p>
            <a:pPr marL="0" indent="0">
              <a:buNone/>
            </a:pPr>
            <a:r>
              <a:rPr lang="es-AR" sz="3800" b="1" noProof="0" dirty="0" err="1">
                <a:solidFill>
                  <a:srgbClr val="FFFFFF"/>
                </a:solidFill>
                <a:latin typeface="Cambria" pitchFamily="34" charset="0"/>
                <a:ea typeface="Cambria" pitchFamily="34" charset="-122"/>
                <a:cs typeface="Cambria" pitchFamily="34" charset="-120"/>
              </a:rPr>
              <a:t>this</a:t>
            </a:r>
            <a:r>
              <a:rPr lang="es-AR" sz="3800" b="1" noProof="0" dirty="0">
                <a:solidFill>
                  <a:srgbClr val="FFFFFF"/>
                </a:solidFill>
                <a:latin typeface="Cambria" pitchFamily="34" charset="0"/>
                <a:ea typeface="Cambria" pitchFamily="34" charset="-122"/>
                <a:cs typeface="Cambria" pitchFamily="34" charset="-120"/>
              </a:rPr>
              <a:t>, constructores y paso de parámetros</a:t>
            </a:r>
            <a:endParaRPr lang="es-AR" sz="3800" noProof="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16</a:t>
            </a:r>
            <a:endParaRPr lang="es-AR" sz="10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8</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err="1">
                <a:solidFill>
                  <a:srgbClr val="1E2761"/>
                </a:solidFill>
                <a:latin typeface="Cambria" pitchFamily="34" charset="0"/>
                <a:ea typeface="Cambria" pitchFamily="34" charset="-122"/>
                <a:cs typeface="Cambria" pitchFamily="34" charset="-120"/>
              </a:rPr>
              <a:t>this</a:t>
            </a:r>
            <a:r>
              <a:rPr lang="es-AR" sz="3000" b="1" noProof="0" dirty="0">
                <a:solidFill>
                  <a:srgbClr val="1E2761"/>
                </a:solidFill>
                <a:latin typeface="Cambria" pitchFamily="34" charset="0"/>
                <a:ea typeface="Cambria" pitchFamily="34" charset="-122"/>
                <a:cs typeface="Cambria" pitchFamily="34" charset="-120"/>
              </a:rPr>
              <a:t> y constructores</a:t>
            </a:r>
            <a:endParaRPr lang="es-AR" sz="3000" noProof="0" dirty="0"/>
          </a:p>
        </p:txBody>
      </p:sp>
      <p:sp>
        <p:nvSpPr>
          <p:cNvPr id="4" name="Shape 2"/>
          <p:cNvSpPr/>
          <p:nvPr/>
        </p:nvSpPr>
        <p:spPr>
          <a:xfrm>
            <a:off x="548640" y="1554480"/>
            <a:ext cx="5486400" cy="4206240"/>
          </a:xfrm>
          <a:prstGeom prst="roundRect">
            <a:avLst>
              <a:gd name="adj" fmla="val 1739"/>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91640"/>
            <a:ext cx="5029200" cy="3931920"/>
          </a:xfrm>
          <a:prstGeom prst="rect">
            <a:avLst/>
          </a:prstGeom>
          <a:noFill/>
          <a:ln/>
        </p:spPr>
        <p:txBody>
          <a:bodyPr wrap="square" rtlCol="0" anchor="t"/>
          <a:lstStyle/>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class</a:t>
            </a:r>
            <a:r>
              <a:rPr lang="es-AR" sz="1300" noProof="0" dirty="0">
                <a:solidFill>
                  <a:srgbClr val="1C1C2A"/>
                </a:solidFill>
                <a:latin typeface="Courier New" pitchFamily="34" charset="0"/>
                <a:ea typeface="Courier New" pitchFamily="34" charset="-122"/>
                <a:cs typeface="Courier New" pitchFamily="34" charset="-120"/>
              </a:rPr>
              <a:t> Punto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private</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x, y;</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Punto(</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x,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y)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 sin '</a:t>
            </a:r>
            <a:r>
              <a:rPr lang="es-AR" sz="1300" noProof="0" dirty="0" err="1">
                <a:solidFill>
                  <a:srgbClr val="1C1C2A"/>
                </a:solidFill>
                <a:latin typeface="Courier New" pitchFamily="34" charset="0"/>
                <a:ea typeface="Courier New" pitchFamily="34" charset="-122"/>
                <a:cs typeface="Courier New" pitchFamily="34" charset="-120"/>
              </a:rPr>
              <a:t>this</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habria</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ambiguedad</a:t>
            </a:r>
            <a:r>
              <a:rPr lang="es-AR" sz="1300" noProof="0" dirty="0">
                <a:solidFill>
                  <a:srgbClr val="1C1C2A"/>
                </a:solidFill>
                <a:latin typeface="Courier New" pitchFamily="34" charset="0"/>
                <a:ea typeface="Courier New" pitchFamily="34" charset="-122"/>
                <a:cs typeface="Courier New" pitchFamily="34" charset="-120"/>
              </a:rPr>
              <a:t>:</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 el </a:t>
            </a:r>
            <a:r>
              <a:rPr lang="es-AR" sz="1300" noProof="0" dirty="0" err="1">
                <a:solidFill>
                  <a:srgbClr val="1C1C2A"/>
                </a:solidFill>
                <a:latin typeface="Courier New" pitchFamily="34" charset="0"/>
                <a:ea typeface="Courier New" pitchFamily="34" charset="-122"/>
                <a:cs typeface="Courier New" pitchFamily="34" charset="-120"/>
              </a:rPr>
              <a:t>parametro</a:t>
            </a:r>
            <a:r>
              <a:rPr lang="es-AR" sz="1300" noProof="0" dirty="0">
                <a:solidFill>
                  <a:srgbClr val="1C1C2A"/>
                </a:solidFill>
                <a:latin typeface="Courier New" pitchFamily="34" charset="0"/>
                <a:ea typeface="Courier New" pitchFamily="34" charset="-122"/>
                <a:cs typeface="Courier New" pitchFamily="34" charset="-120"/>
              </a:rPr>
              <a:t> y el atributo</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 se llaman igual</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this.x</a:t>
            </a:r>
            <a:r>
              <a:rPr lang="es-AR" sz="1300" noProof="0" dirty="0">
                <a:solidFill>
                  <a:srgbClr val="1C1C2A"/>
                </a:solidFill>
                <a:latin typeface="Courier New" pitchFamily="34" charset="0"/>
                <a:ea typeface="Courier New" pitchFamily="34" charset="-122"/>
                <a:cs typeface="Courier New" pitchFamily="34" charset="-120"/>
              </a:rPr>
              <a:t> = x;</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this.y</a:t>
            </a:r>
            <a:r>
              <a:rPr lang="es-AR" sz="1300" noProof="0" dirty="0">
                <a:solidFill>
                  <a:srgbClr val="1C1C2A"/>
                </a:solidFill>
                <a:latin typeface="Courier New" pitchFamily="34" charset="0"/>
                <a:ea typeface="Courier New" pitchFamily="34" charset="-122"/>
                <a:cs typeface="Courier New" pitchFamily="34" charset="-120"/>
              </a:rPr>
              <a:t> = y;</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a:t>
            </a:r>
            <a:endParaRPr lang="es-AR" sz="1300" noProof="0" dirty="0"/>
          </a:p>
        </p:txBody>
      </p:sp>
      <p:sp>
        <p:nvSpPr>
          <p:cNvPr id="6" name="Text 4"/>
          <p:cNvSpPr/>
          <p:nvPr/>
        </p:nvSpPr>
        <p:spPr>
          <a:xfrm>
            <a:off x="6309360" y="1645920"/>
            <a:ext cx="5303520" cy="411480"/>
          </a:xfrm>
          <a:prstGeom prst="rect">
            <a:avLst/>
          </a:prstGeom>
          <a:noFill/>
          <a:ln/>
        </p:spPr>
        <p:txBody>
          <a:bodyPr wrap="square" rtlCol="0" anchor="ctr"/>
          <a:lstStyle/>
          <a:p>
            <a:pPr marL="0" indent="0">
              <a:buNone/>
            </a:pPr>
            <a:r>
              <a:rPr lang="es-AR" sz="1600" b="1" noProof="0" dirty="0">
                <a:solidFill>
                  <a:srgbClr val="1E2761"/>
                </a:solidFill>
                <a:latin typeface="Calibri" pitchFamily="34" charset="0"/>
                <a:ea typeface="Calibri" pitchFamily="34" charset="-122"/>
                <a:cs typeface="Calibri" pitchFamily="34" charset="-120"/>
              </a:rPr>
              <a:t>¿Para qué sirve </a:t>
            </a:r>
            <a:r>
              <a:rPr lang="es-AR" sz="1600" b="1" noProof="0" dirty="0" err="1">
                <a:solidFill>
                  <a:srgbClr val="1E2761"/>
                </a:solidFill>
                <a:latin typeface="Calibri" pitchFamily="34" charset="0"/>
                <a:ea typeface="Calibri" pitchFamily="34" charset="-122"/>
                <a:cs typeface="Calibri" pitchFamily="34" charset="-120"/>
              </a:rPr>
              <a:t>this</a:t>
            </a:r>
            <a:r>
              <a:rPr lang="es-AR" sz="1600" b="1" noProof="0" dirty="0">
                <a:solidFill>
                  <a:srgbClr val="1E2761"/>
                </a:solidFill>
                <a:latin typeface="Calibri" pitchFamily="34" charset="0"/>
                <a:ea typeface="Calibri" pitchFamily="34" charset="-122"/>
                <a:cs typeface="Calibri" pitchFamily="34" charset="-120"/>
              </a:rPr>
              <a:t>?</a:t>
            </a:r>
            <a:endParaRPr lang="es-AR" sz="1600" noProof="0" dirty="0"/>
          </a:p>
        </p:txBody>
      </p:sp>
      <p:sp>
        <p:nvSpPr>
          <p:cNvPr id="7" name="Text 5"/>
          <p:cNvSpPr/>
          <p:nvPr/>
        </p:nvSpPr>
        <p:spPr>
          <a:xfrm>
            <a:off x="6309360" y="2103120"/>
            <a:ext cx="5303520" cy="1280160"/>
          </a:xfrm>
          <a:prstGeom prst="rect">
            <a:avLst/>
          </a:prstGeom>
          <a:noFill/>
          <a:ln/>
        </p:spPr>
        <p:txBody>
          <a:bodyPr wrap="square" rtlCol="0" anchor="t"/>
          <a:lstStyle/>
          <a:p>
            <a:pPr marL="0" indent="0">
              <a:buNone/>
            </a:pPr>
            <a:r>
              <a:rPr lang="es-AR" sz="1400" noProof="0" dirty="0">
                <a:solidFill>
                  <a:srgbClr val="1C1C2A"/>
                </a:solidFill>
                <a:latin typeface="Calibri" pitchFamily="34" charset="0"/>
                <a:ea typeface="Calibri" pitchFamily="34" charset="-122"/>
                <a:cs typeface="Calibri" pitchFamily="34" charset="-120"/>
              </a:rPr>
              <a:t>Es una referencia al objeto actual. Se usa sobre todo cuando el nombre de un parámetro coincide con el de un atributo, para distinguir "el atributo de este objeto" del parámetro recibido.</a:t>
            </a:r>
            <a:endParaRPr lang="es-AR" sz="1400" noProof="0" dirty="0"/>
          </a:p>
        </p:txBody>
      </p:sp>
      <p:sp>
        <p:nvSpPr>
          <p:cNvPr id="8" name="Text 6"/>
          <p:cNvSpPr/>
          <p:nvPr/>
        </p:nvSpPr>
        <p:spPr>
          <a:xfrm>
            <a:off x="6309360" y="3566160"/>
            <a:ext cx="5303520" cy="411480"/>
          </a:xfrm>
          <a:prstGeom prst="rect">
            <a:avLst/>
          </a:prstGeom>
          <a:noFill/>
          <a:ln/>
        </p:spPr>
        <p:txBody>
          <a:bodyPr wrap="square" rtlCol="0" anchor="ctr"/>
          <a:lstStyle/>
          <a:p>
            <a:pPr marL="0" indent="0">
              <a:buNone/>
            </a:pPr>
            <a:r>
              <a:rPr lang="es-AR" sz="1600" b="1" noProof="0" dirty="0">
                <a:solidFill>
                  <a:srgbClr val="1E2761"/>
                </a:solidFill>
                <a:latin typeface="Calibri" pitchFamily="34" charset="0"/>
                <a:ea typeface="Calibri" pitchFamily="34" charset="-122"/>
                <a:cs typeface="Calibri" pitchFamily="34" charset="-120"/>
              </a:rPr>
              <a:t>¿Qué es un constructor?</a:t>
            </a:r>
            <a:endParaRPr lang="es-AR" sz="1600" noProof="0" dirty="0"/>
          </a:p>
        </p:txBody>
      </p:sp>
      <p:sp>
        <p:nvSpPr>
          <p:cNvPr id="9" name="Text 7"/>
          <p:cNvSpPr/>
          <p:nvPr/>
        </p:nvSpPr>
        <p:spPr>
          <a:xfrm>
            <a:off x="6309360" y="4023360"/>
            <a:ext cx="5303520" cy="1645920"/>
          </a:xfrm>
          <a:prstGeom prst="rect">
            <a:avLst/>
          </a:prstGeom>
          <a:noFill/>
          <a:ln/>
        </p:spPr>
        <p:txBody>
          <a:bodyPr wrap="square" rtlCol="0" anchor="t"/>
          <a:lstStyle/>
          <a:p>
            <a:pPr marL="0" indent="0">
              <a:buNone/>
            </a:pPr>
            <a:r>
              <a:rPr lang="es-AR" sz="1400" noProof="0" dirty="0">
                <a:solidFill>
                  <a:srgbClr val="1C1C2A"/>
                </a:solidFill>
                <a:latin typeface="Calibri" pitchFamily="34" charset="0"/>
                <a:ea typeface="Calibri" pitchFamily="34" charset="-122"/>
                <a:cs typeface="Calibri" pitchFamily="34" charset="-120"/>
              </a:rPr>
              <a:t>Un método especial, con el mismo nombre que la clase y sin tipo de retorno, que se ejecuta al crear el objeto con new. Inicializa el estado interno del TDA en su creación (equivalente a la operación crear() de la especificación).</a:t>
            </a:r>
            <a:endParaRPr lang="es-AR" sz="1400" noProof="0" dirty="0"/>
          </a:p>
        </p:txBody>
      </p:sp>
      <p:sp>
        <p:nvSpPr>
          <p:cNvPr id="10" name="Text 8"/>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1" name="Text 9"/>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17</a:t>
            </a:r>
            <a:endParaRPr lang="es-AR" sz="10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8</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Paso de parámetros: valor vs. referencia</a:t>
            </a:r>
            <a:endParaRPr lang="es-AR" sz="3000" noProof="0" dirty="0"/>
          </a:p>
        </p:txBody>
      </p:sp>
      <p:sp>
        <p:nvSpPr>
          <p:cNvPr id="4" name="Shape 2"/>
          <p:cNvSpPr/>
          <p:nvPr/>
        </p:nvSpPr>
        <p:spPr>
          <a:xfrm>
            <a:off x="548640" y="1554480"/>
            <a:ext cx="5394960" cy="2011680"/>
          </a:xfrm>
          <a:prstGeom prst="roundRect">
            <a:avLst>
              <a:gd name="adj" fmla="val 4545"/>
            </a:avLst>
          </a:prstGeom>
          <a:solidFill>
            <a:srgbClr val="F5F7FC"/>
          </a:solidFill>
          <a:ln w="12700">
            <a:solidFill>
              <a:srgbClr val="CADCFC"/>
            </a:solidFill>
            <a:prstDash val="solid"/>
          </a:ln>
        </p:spPr>
        <p:txBody>
          <a:bodyPr/>
          <a:lstStyle/>
          <a:p>
            <a:endParaRPr lang="es-AR" noProof="0" dirty="0"/>
          </a:p>
        </p:txBody>
      </p:sp>
      <p:sp>
        <p:nvSpPr>
          <p:cNvPr id="5" name="Text 3"/>
          <p:cNvSpPr/>
          <p:nvPr/>
        </p:nvSpPr>
        <p:spPr>
          <a:xfrm>
            <a:off x="822960" y="1691640"/>
            <a:ext cx="4846320" cy="365760"/>
          </a:xfrm>
          <a:prstGeom prst="rect">
            <a:avLst/>
          </a:prstGeom>
          <a:noFill/>
          <a:ln/>
        </p:spPr>
        <p:txBody>
          <a:bodyPr wrap="square" rtlCol="0" anchor="ctr"/>
          <a:lstStyle/>
          <a:p>
            <a:pPr marL="0" indent="0">
              <a:buNone/>
            </a:pPr>
            <a:r>
              <a:rPr lang="es-AR" sz="1400" b="1" noProof="0" dirty="0">
                <a:solidFill>
                  <a:srgbClr val="1E2761"/>
                </a:solidFill>
                <a:latin typeface="Calibri" pitchFamily="34" charset="0"/>
                <a:ea typeface="Calibri" pitchFamily="34" charset="-122"/>
                <a:cs typeface="Calibri" pitchFamily="34" charset="-120"/>
              </a:rPr>
              <a:t>Primitivo → por valor</a:t>
            </a:r>
            <a:endParaRPr lang="es-AR" sz="1400" noProof="0" dirty="0"/>
          </a:p>
        </p:txBody>
      </p:sp>
      <p:sp>
        <p:nvSpPr>
          <p:cNvPr id="6" name="Shape 4"/>
          <p:cNvSpPr/>
          <p:nvPr/>
        </p:nvSpPr>
        <p:spPr>
          <a:xfrm>
            <a:off x="822960" y="2103120"/>
            <a:ext cx="4846320" cy="1371600"/>
          </a:xfrm>
          <a:prstGeom prst="roundRect">
            <a:avLst>
              <a:gd name="adj" fmla="val 5333"/>
            </a:avLst>
          </a:prstGeom>
          <a:solidFill>
            <a:srgbClr val="F4F6FB"/>
          </a:solidFill>
          <a:ln w="12700">
            <a:solidFill>
              <a:srgbClr val="CADCFC"/>
            </a:solidFill>
            <a:prstDash val="solid"/>
          </a:ln>
        </p:spPr>
        <p:txBody>
          <a:bodyPr/>
          <a:lstStyle/>
          <a:p>
            <a:endParaRPr lang="es-AR" noProof="0" dirty="0"/>
          </a:p>
        </p:txBody>
      </p:sp>
      <p:sp>
        <p:nvSpPr>
          <p:cNvPr id="7" name="Text 5"/>
          <p:cNvSpPr/>
          <p:nvPr/>
        </p:nvSpPr>
        <p:spPr>
          <a:xfrm>
            <a:off x="1051560" y="2240280"/>
            <a:ext cx="4389120" cy="1097280"/>
          </a:xfrm>
          <a:prstGeom prst="rect">
            <a:avLst/>
          </a:prstGeom>
          <a:noFill/>
          <a:ln/>
        </p:spPr>
        <p:txBody>
          <a:bodyPr wrap="square" rtlCol="0" anchor="t"/>
          <a:lstStyle/>
          <a:p>
            <a:pPr marL="0" indent="0">
              <a:lnSpc>
                <a:spcPct val="115000"/>
              </a:lnSpc>
              <a:buNone/>
            </a:pPr>
            <a:r>
              <a:rPr lang="es-AR" sz="1200" noProof="0" dirty="0" err="1">
                <a:solidFill>
                  <a:srgbClr val="1C1C2A"/>
                </a:solidFill>
                <a:latin typeface="Courier New" pitchFamily="34" charset="0"/>
                <a:ea typeface="Courier New" pitchFamily="34" charset="-122"/>
                <a:cs typeface="Courier New" pitchFamily="34" charset="-120"/>
              </a:rPr>
              <a:t>void</a:t>
            </a:r>
            <a:r>
              <a:rPr lang="es-AR" sz="1200" noProof="0" dirty="0">
                <a:solidFill>
                  <a:srgbClr val="1C1C2A"/>
                </a:solidFill>
                <a:latin typeface="Courier New" pitchFamily="34" charset="0"/>
                <a:ea typeface="Courier New" pitchFamily="34" charset="-122"/>
                <a:cs typeface="Courier New" pitchFamily="34" charset="-120"/>
              </a:rPr>
              <a:t> incrementar(</a:t>
            </a:r>
            <a:r>
              <a:rPr lang="es-AR" sz="1200" noProof="0" dirty="0" err="1">
                <a:solidFill>
                  <a:srgbClr val="1C1C2A"/>
                </a:solidFill>
                <a:latin typeface="Courier New" pitchFamily="34" charset="0"/>
                <a:ea typeface="Courier New" pitchFamily="34" charset="-122"/>
                <a:cs typeface="Courier New" pitchFamily="34" charset="-120"/>
              </a:rPr>
              <a:t>int</a:t>
            </a:r>
            <a:r>
              <a:rPr lang="es-AR" sz="1200" noProof="0" dirty="0">
                <a:solidFill>
                  <a:srgbClr val="1C1C2A"/>
                </a:solidFill>
                <a:latin typeface="Courier New" pitchFamily="34" charset="0"/>
                <a:ea typeface="Courier New" pitchFamily="34" charset="-122"/>
                <a:cs typeface="Courier New" pitchFamily="34" charset="-120"/>
              </a:rPr>
              <a:t> n) {</a:t>
            </a:r>
            <a:endParaRPr lang="es-AR" sz="1200" noProof="0" dirty="0"/>
          </a:p>
          <a:p>
            <a:pPr marL="0" indent="0">
              <a:lnSpc>
                <a:spcPct val="115000"/>
              </a:lnSpc>
              <a:buNone/>
            </a:pPr>
            <a:r>
              <a:rPr lang="es-AR" sz="1200" noProof="0" dirty="0">
                <a:solidFill>
                  <a:srgbClr val="1C1C2A"/>
                </a:solidFill>
                <a:latin typeface="Courier New" pitchFamily="34" charset="0"/>
                <a:ea typeface="Courier New" pitchFamily="34" charset="-122"/>
                <a:cs typeface="Courier New" pitchFamily="34" charset="-120"/>
              </a:rPr>
              <a:t>    n = n + 1;      // no afecta al original</a:t>
            </a:r>
            <a:endParaRPr lang="es-AR" sz="1200" noProof="0" dirty="0"/>
          </a:p>
          <a:p>
            <a:pPr marL="0" indent="0">
              <a:lnSpc>
                <a:spcPct val="115000"/>
              </a:lnSpc>
              <a:buNone/>
            </a:pPr>
            <a:r>
              <a:rPr lang="es-AR" sz="1200" noProof="0" dirty="0">
                <a:solidFill>
                  <a:srgbClr val="1C1C2A"/>
                </a:solidFill>
                <a:latin typeface="Courier New" pitchFamily="34" charset="0"/>
                <a:ea typeface="Courier New" pitchFamily="34" charset="-122"/>
                <a:cs typeface="Courier New" pitchFamily="34" charset="-120"/>
              </a:rPr>
              <a:t>}</a:t>
            </a:r>
            <a:endParaRPr lang="es-AR" sz="1200" noProof="0" dirty="0"/>
          </a:p>
        </p:txBody>
      </p:sp>
      <p:sp>
        <p:nvSpPr>
          <p:cNvPr id="8" name="Shape 6"/>
          <p:cNvSpPr/>
          <p:nvPr/>
        </p:nvSpPr>
        <p:spPr>
          <a:xfrm>
            <a:off x="6172200" y="1554480"/>
            <a:ext cx="5440680" cy="2011680"/>
          </a:xfrm>
          <a:prstGeom prst="roundRect">
            <a:avLst>
              <a:gd name="adj" fmla="val 4545"/>
            </a:avLst>
          </a:prstGeom>
          <a:solidFill>
            <a:srgbClr val="F5F7FC"/>
          </a:solidFill>
          <a:ln w="12700">
            <a:solidFill>
              <a:srgbClr val="CADCFC"/>
            </a:solidFill>
            <a:prstDash val="solid"/>
          </a:ln>
        </p:spPr>
        <p:txBody>
          <a:bodyPr/>
          <a:lstStyle/>
          <a:p>
            <a:endParaRPr lang="es-AR" noProof="0" dirty="0"/>
          </a:p>
        </p:txBody>
      </p:sp>
      <p:sp>
        <p:nvSpPr>
          <p:cNvPr id="9" name="Text 7"/>
          <p:cNvSpPr/>
          <p:nvPr/>
        </p:nvSpPr>
        <p:spPr>
          <a:xfrm>
            <a:off x="6446520" y="1691640"/>
            <a:ext cx="4846320" cy="365760"/>
          </a:xfrm>
          <a:prstGeom prst="rect">
            <a:avLst/>
          </a:prstGeom>
          <a:noFill/>
          <a:ln/>
        </p:spPr>
        <p:txBody>
          <a:bodyPr wrap="square" rtlCol="0" anchor="ctr"/>
          <a:lstStyle/>
          <a:p>
            <a:pPr marL="0" indent="0">
              <a:buNone/>
            </a:pPr>
            <a:r>
              <a:rPr lang="es-AR" sz="1400" b="1" noProof="0" dirty="0">
                <a:solidFill>
                  <a:srgbClr val="1E2761"/>
                </a:solidFill>
                <a:latin typeface="Calibri" pitchFamily="34" charset="0"/>
                <a:ea typeface="Calibri" pitchFamily="34" charset="-122"/>
                <a:cs typeface="Calibri" pitchFamily="34" charset="-120"/>
              </a:rPr>
              <a:t>Objeto → se pasa la referencia</a:t>
            </a:r>
            <a:endParaRPr lang="es-AR" sz="1400" noProof="0" dirty="0"/>
          </a:p>
        </p:txBody>
      </p:sp>
      <p:sp>
        <p:nvSpPr>
          <p:cNvPr id="10" name="Shape 8"/>
          <p:cNvSpPr/>
          <p:nvPr/>
        </p:nvSpPr>
        <p:spPr>
          <a:xfrm>
            <a:off x="6446520" y="2103120"/>
            <a:ext cx="4846320" cy="1371600"/>
          </a:xfrm>
          <a:prstGeom prst="roundRect">
            <a:avLst>
              <a:gd name="adj" fmla="val 5333"/>
            </a:avLst>
          </a:prstGeom>
          <a:solidFill>
            <a:srgbClr val="F4F6FB"/>
          </a:solidFill>
          <a:ln w="12700">
            <a:solidFill>
              <a:srgbClr val="CADCFC"/>
            </a:solidFill>
            <a:prstDash val="solid"/>
          </a:ln>
        </p:spPr>
        <p:txBody>
          <a:bodyPr/>
          <a:lstStyle/>
          <a:p>
            <a:endParaRPr lang="es-AR" noProof="0" dirty="0"/>
          </a:p>
        </p:txBody>
      </p:sp>
      <p:sp>
        <p:nvSpPr>
          <p:cNvPr id="11" name="Text 9"/>
          <p:cNvSpPr/>
          <p:nvPr/>
        </p:nvSpPr>
        <p:spPr>
          <a:xfrm>
            <a:off x="6446520" y="2240280"/>
            <a:ext cx="4846320" cy="1097280"/>
          </a:xfrm>
          <a:prstGeom prst="rect">
            <a:avLst/>
          </a:prstGeom>
          <a:noFill/>
          <a:ln/>
        </p:spPr>
        <p:txBody>
          <a:bodyPr wrap="square" rtlCol="0" anchor="t"/>
          <a:lstStyle/>
          <a:p>
            <a:pPr marL="0" indent="0">
              <a:lnSpc>
                <a:spcPct val="115000"/>
              </a:lnSpc>
              <a:buNone/>
            </a:pPr>
            <a:r>
              <a:rPr lang="es-AR" sz="1200" noProof="0" dirty="0" err="1">
                <a:solidFill>
                  <a:srgbClr val="1C1C2A"/>
                </a:solidFill>
                <a:latin typeface="Courier New" pitchFamily="34" charset="0"/>
                <a:ea typeface="Courier New" pitchFamily="34" charset="-122"/>
                <a:cs typeface="Courier New" pitchFamily="34" charset="-120"/>
              </a:rPr>
              <a:t>void</a:t>
            </a:r>
            <a:r>
              <a:rPr lang="es-AR" sz="1200" noProof="0" dirty="0">
                <a:solidFill>
                  <a:srgbClr val="1C1C2A"/>
                </a:solidFill>
                <a:latin typeface="Courier New" pitchFamily="34" charset="0"/>
                <a:ea typeface="Courier New" pitchFamily="34" charset="-122"/>
                <a:cs typeface="Courier New" pitchFamily="34" charset="-120"/>
              </a:rPr>
              <a:t> modificar(Pila p) {</a:t>
            </a:r>
            <a:endParaRPr lang="es-AR" sz="1200" noProof="0" dirty="0"/>
          </a:p>
          <a:p>
            <a:pPr marL="0" indent="0">
              <a:lnSpc>
                <a:spcPct val="115000"/>
              </a:lnSpc>
              <a:buNone/>
            </a:pPr>
            <a:r>
              <a:rPr lang="es-AR" sz="1200" noProof="0" dirty="0">
                <a:solidFill>
                  <a:srgbClr val="1C1C2A"/>
                </a:solidFill>
                <a:latin typeface="Courier New" pitchFamily="34" charset="0"/>
                <a:ea typeface="Courier New" pitchFamily="34" charset="-122"/>
                <a:cs typeface="Courier New" pitchFamily="34" charset="-120"/>
              </a:rPr>
              <a:t>    </a:t>
            </a:r>
            <a:r>
              <a:rPr lang="es-AR" sz="1200" noProof="0" dirty="0" err="1">
                <a:solidFill>
                  <a:srgbClr val="1C1C2A"/>
                </a:solidFill>
                <a:latin typeface="Courier New" pitchFamily="34" charset="0"/>
                <a:ea typeface="Courier New" pitchFamily="34" charset="-122"/>
                <a:cs typeface="Courier New" pitchFamily="34" charset="-120"/>
              </a:rPr>
              <a:t>p.apilar</a:t>
            </a:r>
            <a:r>
              <a:rPr lang="es-AR" sz="1200" noProof="0" dirty="0">
                <a:solidFill>
                  <a:srgbClr val="1C1C2A"/>
                </a:solidFill>
                <a:latin typeface="Courier New" pitchFamily="34" charset="0"/>
                <a:ea typeface="Courier New" pitchFamily="34" charset="-122"/>
                <a:cs typeface="Courier New" pitchFamily="34" charset="-120"/>
              </a:rPr>
              <a:t>(9);  // SI afecta al original</a:t>
            </a:r>
            <a:endParaRPr lang="es-AR" sz="1200" noProof="0" dirty="0"/>
          </a:p>
          <a:p>
            <a:pPr marL="0" indent="0">
              <a:lnSpc>
                <a:spcPct val="115000"/>
              </a:lnSpc>
              <a:buNone/>
            </a:pPr>
            <a:r>
              <a:rPr lang="es-AR" sz="1200" noProof="0" dirty="0">
                <a:solidFill>
                  <a:srgbClr val="1C1C2A"/>
                </a:solidFill>
                <a:latin typeface="Courier New" pitchFamily="34" charset="0"/>
                <a:ea typeface="Courier New" pitchFamily="34" charset="-122"/>
                <a:cs typeface="Courier New" pitchFamily="34" charset="-120"/>
              </a:rPr>
              <a:t>    p = </a:t>
            </a:r>
            <a:r>
              <a:rPr lang="es-AR" sz="1200" noProof="0" dirty="0" err="1">
                <a:solidFill>
                  <a:srgbClr val="1C1C2A"/>
                </a:solidFill>
                <a:latin typeface="Courier New" pitchFamily="34" charset="0"/>
                <a:ea typeface="Courier New" pitchFamily="34" charset="-122"/>
                <a:cs typeface="Courier New" pitchFamily="34" charset="-120"/>
              </a:rPr>
              <a:t>null</a:t>
            </a:r>
            <a:r>
              <a:rPr lang="es-AR" sz="1200" noProof="0" dirty="0">
                <a:solidFill>
                  <a:srgbClr val="1C1C2A"/>
                </a:solidFill>
                <a:latin typeface="Courier New" pitchFamily="34" charset="0"/>
                <a:ea typeface="Courier New" pitchFamily="34" charset="-122"/>
                <a:cs typeface="Courier New" pitchFamily="34" charset="-120"/>
              </a:rPr>
              <a:t>;     // NO afecta la variable externa</a:t>
            </a:r>
            <a:endParaRPr lang="es-AR" sz="1200" noProof="0" dirty="0"/>
          </a:p>
          <a:p>
            <a:pPr marL="0" indent="0">
              <a:lnSpc>
                <a:spcPct val="115000"/>
              </a:lnSpc>
              <a:buNone/>
            </a:pPr>
            <a:r>
              <a:rPr lang="es-AR" sz="1200" noProof="0" dirty="0">
                <a:solidFill>
                  <a:srgbClr val="1C1C2A"/>
                </a:solidFill>
                <a:latin typeface="Courier New" pitchFamily="34" charset="0"/>
                <a:ea typeface="Courier New" pitchFamily="34" charset="-122"/>
                <a:cs typeface="Courier New" pitchFamily="34" charset="-120"/>
              </a:rPr>
              <a:t>}</a:t>
            </a:r>
            <a:endParaRPr lang="es-AR" sz="1200" noProof="0" dirty="0"/>
          </a:p>
        </p:txBody>
      </p:sp>
      <p:sp>
        <p:nvSpPr>
          <p:cNvPr id="12" name="Shape 10"/>
          <p:cNvSpPr/>
          <p:nvPr/>
        </p:nvSpPr>
        <p:spPr>
          <a:xfrm>
            <a:off x="548640" y="3794760"/>
            <a:ext cx="11064240" cy="1965960"/>
          </a:xfrm>
          <a:prstGeom prst="roundRect">
            <a:avLst>
              <a:gd name="adj" fmla="val 4651"/>
            </a:avLst>
          </a:prstGeom>
          <a:solidFill>
            <a:srgbClr val="1E2761"/>
          </a:solidFill>
          <a:ln/>
        </p:spPr>
        <p:txBody>
          <a:bodyPr/>
          <a:lstStyle/>
          <a:p>
            <a:endParaRPr lang="es-AR" noProof="0" dirty="0"/>
          </a:p>
        </p:txBody>
      </p:sp>
      <p:sp>
        <p:nvSpPr>
          <p:cNvPr id="13" name="Text 11"/>
          <p:cNvSpPr/>
          <p:nvPr/>
        </p:nvSpPr>
        <p:spPr>
          <a:xfrm>
            <a:off x="822960" y="3977640"/>
            <a:ext cx="10515600" cy="365760"/>
          </a:xfrm>
          <a:prstGeom prst="rect">
            <a:avLst/>
          </a:prstGeom>
          <a:noFill/>
          <a:ln/>
        </p:spPr>
        <p:txBody>
          <a:bodyPr wrap="square" rtlCol="0" anchor="ctr"/>
          <a:lstStyle/>
          <a:p>
            <a:pPr marL="0" indent="0">
              <a:buNone/>
            </a:pPr>
            <a:r>
              <a:rPr lang="es-AR" sz="1400" b="1" noProof="0" dirty="0">
                <a:solidFill>
                  <a:srgbClr val="E8A33D"/>
                </a:solidFill>
                <a:latin typeface="Calibri" pitchFamily="34" charset="0"/>
                <a:ea typeface="Calibri" pitchFamily="34" charset="-122"/>
                <a:cs typeface="Calibri" pitchFamily="34" charset="-120"/>
              </a:rPr>
              <a:t>Conclusión importante para </a:t>
            </a:r>
            <a:r>
              <a:rPr lang="es-AR" sz="1400" b="1" noProof="0" dirty="0" err="1">
                <a:solidFill>
                  <a:srgbClr val="E8A33D"/>
                </a:solidFill>
                <a:latin typeface="Calibri" pitchFamily="34" charset="0"/>
                <a:ea typeface="Calibri" pitchFamily="34" charset="-122"/>
                <a:cs typeface="Calibri" pitchFamily="34" charset="-120"/>
              </a:rPr>
              <a:t>TDAs</a:t>
            </a:r>
            <a:endParaRPr lang="es-AR" sz="1400" noProof="0" dirty="0"/>
          </a:p>
        </p:txBody>
      </p:sp>
      <p:sp>
        <p:nvSpPr>
          <p:cNvPr id="14" name="Text 12"/>
          <p:cNvSpPr/>
          <p:nvPr/>
        </p:nvSpPr>
        <p:spPr>
          <a:xfrm>
            <a:off x="822960" y="4389120"/>
            <a:ext cx="10515600" cy="1280160"/>
          </a:xfrm>
          <a:prstGeom prst="rect">
            <a:avLst/>
          </a:prstGeom>
          <a:noFill/>
          <a:ln/>
        </p:spPr>
        <p:txBody>
          <a:bodyPr wrap="square" rtlCol="0" anchor="t"/>
          <a:lstStyle/>
          <a:p>
            <a:pPr marL="0" indent="0">
              <a:buNone/>
            </a:pPr>
            <a:r>
              <a:rPr lang="es-AR" sz="1350" noProof="0" dirty="0">
                <a:solidFill>
                  <a:srgbClr val="FFFFFF"/>
                </a:solidFill>
                <a:latin typeface="Calibri" pitchFamily="34" charset="0"/>
                <a:ea typeface="Calibri" pitchFamily="34" charset="-122"/>
                <a:cs typeface="Calibri" pitchFamily="34" charset="-120"/>
              </a:rPr>
              <a:t>Cuando una operación del TDA recibe el TDA como parámetro (ej. apilar(p, x)), en Java eso se traduce en un método de instancia: </a:t>
            </a:r>
            <a:r>
              <a:rPr lang="es-AR" sz="1350" noProof="0" dirty="0" err="1">
                <a:solidFill>
                  <a:srgbClr val="FFFFFF"/>
                </a:solidFill>
                <a:latin typeface="Calibri" pitchFamily="34" charset="0"/>
                <a:ea typeface="Calibri" pitchFamily="34" charset="-122"/>
                <a:cs typeface="Calibri" pitchFamily="34" charset="-120"/>
              </a:rPr>
              <a:t>p.apilar</a:t>
            </a:r>
            <a:r>
              <a:rPr lang="es-AR" sz="1350" noProof="0" dirty="0">
                <a:solidFill>
                  <a:srgbClr val="FFFFFF"/>
                </a:solidFill>
                <a:latin typeface="Calibri" pitchFamily="34" charset="0"/>
                <a:ea typeface="Calibri" pitchFamily="34" charset="-122"/>
                <a:cs typeface="Calibri" pitchFamily="34" charset="-120"/>
              </a:rPr>
              <a:t>(x). El objeto p se modifica "in place" porque el método opera sobre la referencia recibida — no hace falta devolver el TDA modificado como en la notación matemática.</a:t>
            </a:r>
            <a:endParaRPr lang="es-AR" sz="1350" noProof="0" dirty="0"/>
          </a:p>
        </p:txBody>
      </p:sp>
      <p:sp>
        <p:nvSpPr>
          <p:cNvPr id="15" name="Text 13"/>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6" name="Text 14"/>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18</a:t>
            </a:r>
            <a:endParaRPr lang="es-AR" sz="10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4114800"/>
            <a:ext cx="4572000" cy="4572000"/>
          </a:xfrm>
          <a:prstGeom prst="ellipse">
            <a:avLst/>
          </a:prstGeom>
          <a:solidFill>
            <a:srgbClr val="263876"/>
          </a:solidFill>
          <a:ln/>
        </p:spPr>
        <p:txBody>
          <a:bodyPr/>
          <a:lstStyle/>
          <a:p>
            <a:endParaRPr lang="es-AR" noProof="0" dirty="0"/>
          </a:p>
        </p:txBody>
      </p:sp>
      <p:sp>
        <p:nvSpPr>
          <p:cNvPr id="3" name="Text 1"/>
          <p:cNvSpPr/>
          <p:nvPr/>
        </p:nvSpPr>
        <p:spPr>
          <a:xfrm>
            <a:off x="731520" y="2468880"/>
            <a:ext cx="7315200" cy="365760"/>
          </a:xfrm>
          <a:prstGeom prst="rect">
            <a:avLst/>
          </a:prstGeom>
          <a:noFill/>
          <a:ln/>
        </p:spPr>
        <p:txBody>
          <a:bodyPr wrap="square" rtlCol="0" anchor="ctr"/>
          <a:lstStyle/>
          <a:p>
            <a:pPr marL="0" indent="0">
              <a:buNone/>
            </a:pPr>
            <a:r>
              <a:rPr lang="es-AR" sz="1400" b="1" kern="0" spc="200" noProof="0" dirty="0">
                <a:solidFill>
                  <a:srgbClr val="E8A33D"/>
                </a:solidFill>
                <a:latin typeface="Calibri" pitchFamily="34" charset="0"/>
                <a:ea typeface="Calibri" pitchFamily="34" charset="-122"/>
                <a:cs typeface="Calibri" pitchFamily="34" charset="-120"/>
              </a:rPr>
              <a:t>BLOQUE 9</a:t>
            </a:r>
            <a:endParaRPr lang="es-AR" sz="1400" noProof="0" dirty="0"/>
          </a:p>
        </p:txBody>
      </p:sp>
      <p:sp>
        <p:nvSpPr>
          <p:cNvPr id="4" name="Text 2"/>
          <p:cNvSpPr/>
          <p:nvPr/>
        </p:nvSpPr>
        <p:spPr>
          <a:xfrm>
            <a:off x="731520" y="2834640"/>
            <a:ext cx="10058400" cy="1280160"/>
          </a:xfrm>
          <a:prstGeom prst="rect">
            <a:avLst/>
          </a:prstGeom>
          <a:noFill/>
          <a:ln/>
        </p:spPr>
        <p:txBody>
          <a:bodyPr wrap="square" rtlCol="0" anchor="ctr"/>
          <a:lstStyle/>
          <a:p>
            <a:pPr marL="0" indent="0">
              <a:buNone/>
            </a:pPr>
            <a:r>
              <a:rPr lang="es-AR" sz="3800" b="1" noProof="0" dirty="0" err="1">
                <a:solidFill>
                  <a:srgbClr val="FFFFFF"/>
                </a:solidFill>
                <a:latin typeface="Cambria" pitchFamily="34" charset="0"/>
                <a:ea typeface="Cambria" pitchFamily="34" charset="-122"/>
                <a:cs typeface="Cambria" pitchFamily="34" charset="-120"/>
              </a:rPr>
              <a:t>Arrays</a:t>
            </a:r>
            <a:r>
              <a:rPr lang="es-AR" sz="3800" b="1" noProof="0" dirty="0">
                <a:solidFill>
                  <a:srgbClr val="FFFFFF"/>
                </a:solidFill>
                <a:latin typeface="Cambria" pitchFamily="34" charset="0"/>
                <a:ea typeface="Cambria" pitchFamily="34" charset="-122"/>
                <a:cs typeface="Cambria" pitchFamily="34" charset="-120"/>
              </a:rPr>
              <a:t> y sobrecarga de métodos</a:t>
            </a:r>
            <a:endParaRPr lang="es-AR" sz="3800" noProof="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19</a:t>
            </a:r>
            <a:endParaRPr lang="es-AR" sz="10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9</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err="1">
                <a:solidFill>
                  <a:srgbClr val="1E2761"/>
                </a:solidFill>
                <a:latin typeface="Cambria" pitchFamily="34" charset="0"/>
                <a:ea typeface="Cambria" pitchFamily="34" charset="-122"/>
                <a:cs typeface="Cambria" pitchFamily="34" charset="-120"/>
              </a:rPr>
              <a:t>Arrays</a:t>
            </a:r>
            <a:r>
              <a:rPr lang="es-AR" sz="3000" b="1" noProof="0" dirty="0">
                <a:solidFill>
                  <a:srgbClr val="1E2761"/>
                </a:solidFill>
                <a:latin typeface="Cambria" pitchFamily="34" charset="0"/>
                <a:ea typeface="Cambria" pitchFamily="34" charset="-122"/>
                <a:cs typeface="Cambria" pitchFamily="34" charset="-120"/>
              </a:rPr>
              <a:t> de tamaño fijo</a:t>
            </a:r>
            <a:endParaRPr lang="es-AR" sz="3000" noProof="0" dirty="0"/>
          </a:p>
        </p:txBody>
      </p:sp>
      <p:sp>
        <p:nvSpPr>
          <p:cNvPr id="4" name="Shape 2"/>
          <p:cNvSpPr/>
          <p:nvPr/>
        </p:nvSpPr>
        <p:spPr>
          <a:xfrm>
            <a:off x="548640" y="1554480"/>
            <a:ext cx="6858000" cy="2926080"/>
          </a:xfrm>
          <a:prstGeom prst="roundRect">
            <a:avLst>
              <a:gd name="adj" fmla="val 2500"/>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91640"/>
            <a:ext cx="6400800" cy="2651760"/>
          </a:xfrm>
          <a:prstGeom prst="rect">
            <a:avLst/>
          </a:prstGeom>
          <a:noFill/>
          <a:ln/>
        </p:spPr>
        <p:txBody>
          <a:bodyPr wrap="square" rtlCol="0" anchor="t"/>
          <a:lstStyle/>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int</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numeros</a:t>
            </a:r>
            <a:r>
              <a:rPr lang="es-AR" sz="1350" noProof="0" dirty="0">
                <a:solidFill>
                  <a:srgbClr val="1C1C2A"/>
                </a:solidFill>
                <a:latin typeface="Courier New" pitchFamily="34" charset="0"/>
                <a:ea typeface="Courier New" pitchFamily="34" charset="-122"/>
                <a:cs typeface="Courier New" pitchFamily="34" charset="-120"/>
              </a:rPr>
              <a:t> = new </a:t>
            </a:r>
            <a:r>
              <a:rPr lang="es-AR" sz="1350" noProof="0" dirty="0" err="1">
                <a:solidFill>
                  <a:srgbClr val="1C1C2A"/>
                </a:solidFill>
                <a:latin typeface="Courier New" pitchFamily="34" charset="0"/>
                <a:ea typeface="Courier New" pitchFamily="34" charset="-122"/>
                <a:cs typeface="Courier New" pitchFamily="34" charset="-120"/>
              </a:rPr>
              <a:t>int</a:t>
            </a:r>
            <a:r>
              <a:rPr lang="es-AR" sz="1350" noProof="0" dirty="0">
                <a:solidFill>
                  <a:srgbClr val="1C1C2A"/>
                </a:solidFill>
                <a:latin typeface="Courier New" pitchFamily="34" charset="0"/>
                <a:ea typeface="Courier New" pitchFamily="34" charset="-122"/>
                <a:cs typeface="Courier New" pitchFamily="34" charset="-120"/>
              </a:rPr>
              <a:t>[10];   // 10 lugares, </a:t>
            </a:r>
            <a:r>
              <a:rPr lang="es-AR" sz="1350" noProof="0" dirty="0" err="1">
                <a:solidFill>
                  <a:srgbClr val="1C1C2A"/>
                </a:solidFill>
                <a:latin typeface="Courier New" pitchFamily="34" charset="0"/>
                <a:ea typeface="Courier New" pitchFamily="34" charset="-122"/>
                <a:cs typeface="Courier New" pitchFamily="34" charset="-120"/>
              </a:rPr>
              <a:t>indices</a:t>
            </a:r>
            <a:r>
              <a:rPr lang="es-AR" sz="1350" noProof="0" dirty="0">
                <a:solidFill>
                  <a:srgbClr val="1C1C2A"/>
                </a:solidFill>
                <a:latin typeface="Courier New" pitchFamily="34" charset="0"/>
                <a:ea typeface="Courier New" pitchFamily="34" charset="-122"/>
                <a:cs typeface="Courier New" pitchFamily="34" charset="-120"/>
              </a:rPr>
              <a:t> 0..9</a:t>
            </a:r>
            <a:endParaRPr lang="es-AR" sz="1350" noProof="0" dirty="0"/>
          </a:p>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numeros</a:t>
            </a:r>
            <a:r>
              <a:rPr lang="es-AR" sz="1350" noProof="0" dirty="0">
                <a:solidFill>
                  <a:srgbClr val="1C1C2A"/>
                </a:solidFill>
                <a:latin typeface="Courier New" pitchFamily="34" charset="0"/>
                <a:ea typeface="Courier New" pitchFamily="34" charset="-122"/>
                <a:cs typeface="Courier New" pitchFamily="34" charset="-120"/>
              </a:rPr>
              <a:t>[0] = 5;</a:t>
            </a:r>
            <a:endParaRPr lang="es-AR" sz="1350" noProof="0" dirty="0"/>
          </a:p>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numeros</a:t>
            </a:r>
            <a:r>
              <a:rPr lang="es-AR" sz="1350" noProof="0" dirty="0">
                <a:solidFill>
                  <a:srgbClr val="1C1C2A"/>
                </a:solidFill>
                <a:latin typeface="Courier New" pitchFamily="34" charset="0"/>
                <a:ea typeface="Courier New" pitchFamily="34" charset="-122"/>
                <a:cs typeface="Courier New" pitchFamily="34" charset="-120"/>
              </a:rPr>
              <a:t>[1] = 12;</a:t>
            </a:r>
            <a:endParaRPr lang="es-AR" sz="1350" noProof="0" dirty="0"/>
          </a:p>
          <a:p>
            <a:pPr marL="0" indent="0">
              <a:lnSpc>
                <a:spcPct val="115000"/>
              </a:lnSpc>
              <a:buNone/>
            </a:pPr>
            <a:endParaRPr lang="es-AR" sz="1350" noProof="0" dirty="0"/>
          </a:p>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int</a:t>
            </a:r>
            <a:r>
              <a:rPr lang="es-AR" sz="1350" noProof="0" dirty="0">
                <a:solidFill>
                  <a:srgbClr val="1C1C2A"/>
                </a:solidFill>
                <a:latin typeface="Courier New" pitchFamily="34" charset="0"/>
                <a:ea typeface="Courier New" pitchFamily="34" charset="-122"/>
                <a:cs typeface="Courier New" pitchFamily="34" charset="-120"/>
              </a:rPr>
              <a:t> capacidad = </a:t>
            </a:r>
            <a:r>
              <a:rPr lang="es-AR" sz="1350" noProof="0" dirty="0" err="1">
                <a:solidFill>
                  <a:srgbClr val="1C1C2A"/>
                </a:solidFill>
                <a:latin typeface="Courier New" pitchFamily="34" charset="0"/>
                <a:ea typeface="Courier New" pitchFamily="34" charset="-122"/>
                <a:cs typeface="Courier New" pitchFamily="34" charset="-120"/>
              </a:rPr>
              <a:t>numeros.length</a:t>
            </a:r>
            <a:r>
              <a:rPr lang="es-AR" sz="1350" noProof="0" dirty="0">
                <a:solidFill>
                  <a:srgbClr val="1C1C2A"/>
                </a:solidFill>
                <a:latin typeface="Courier New" pitchFamily="34" charset="0"/>
                <a:ea typeface="Courier New" pitchFamily="34" charset="-122"/>
                <a:cs typeface="Courier New" pitchFamily="34" charset="-120"/>
              </a:rPr>
              <a:t>;  // 10, no cambia nunca</a:t>
            </a:r>
            <a:endParaRPr lang="es-AR" sz="1350" noProof="0" dirty="0"/>
          </a:p>
          <a:p>
            <a:pPr marL="0" indent="0">
              <a:lnSpc>
                <a:spcPct val="115000"/>
              </a:lnSpc>
              <a:buNone/>
            </a:pPr>
            <a:endParaRPr lang="es-AR" sz="1350" noProof="0" dirty="0"/>
          </a:p>
          <a:p>
            <a:pPr marL="0" indent="0">
              <a:lnSpc>
                <a:spcPct val="115000"/>
              </a:lnSpc>
              <a:buNone/>
            </a:pPr>
            <a:r>
              <a:rPr lang="es-AR" sz="1350" noProof="0" dirty="0" err="1">
                <a:solidFill>
                  <a:srgbClr val="1C1C2A"/>
                </a:solidFill>
                <a:latin typeface="Courier New" pitchFamily="34" charset="0"/>
                <a:ea typeface="Courier New" pitchFamily="34" charset="-122"/>
                <a:cs typeface="Courier New" pitchFamily="34" charset="-120"/>
              </a:rPr>
              <a:t>for</a:t>
            </a: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int</a:t>
            </a:r>
            <a:r>
              <a:rPr lang="es-AR" sz="1350" noProof="0" dirty="0">
                <a:solidFill>
                  <a:srgbClr val="1C1C2A"/>
                </a:solidFill>
                <a:latin typeface="Courier New" pitchFamily="34" charset="0"/>
                <a:ea typeface="Courier New" pitchFamily="34" charset="-122"/>
                <a:cs typeface="Courier New" pitchFamily="34" charset="-120"/>
              </a:rPr>
              <a:t> i = 0; i &lt; </a:t>
            </a:r>
            <a:r>
              <a:rPr lang="es-AR" sz="1350" noProof="0" dirty="0" err="1">
                <a:solidFill>
                  <a:srgbClr val="1C1C2A"/>
                </a:solidFill>
                <a:latin typeface="Courier New" pitchFamily="34" charset="0"/>
                <a:ea typeface="Courier New" pitchFamily="34" charset="-122"/>
                <a:cs typeface="Courier New" pitchFamily="34" charset="-120"/>
              </a:rPr>
              <a:t>numeros.length</a:t>
            </a:r>
            <a:r>
              <a:rPr lang="es-AR" sz="1350" noProof="0" dirty="0">
                <a:solidFill>
                  <a:srgbClr val="1C1C2A"/>
                </a:solidFill>
                <a:latin typeface="Courier New" pitchFamily="34" charset="0"/>
                <a:ea typeface="Courier New" pitchFamily="34" charset="-122"/>
                <a:cs typeface="Courier New" pitchFamily="34" charset="-120"/>
              </a:rPr>
              <a:t>; i++) {</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    </a:t>
            </a:r>
            <a:r>
              <a:rPr lang="es-AR" sz="1350" noProof="0" dirty="0" err="1">
                <a:solidFill>
                  <a:srgbClr val="1C1C2A"/>
                </a:solidFill>
                <a:latin typeface="Courier New" pitchFamily="34" charset="0"/>
                <a:ea typeface="Courier New" pitchFamily="34" charset="-122"/>
                <a:cs typeface="Courier New" pitchFamily="34" charset="-120"/>
              </a:rPr>
              <a:t>System.out.println</a:t>
            </a:r>
            <a:r>
              <a:rPr lang="es-AR" sz="1350" noProof="0" dirty="0">
                <a:solidFill>
                  <a:srgbClr val="1C1C2A"/>
                </a:solidFill>
                <a:latin typeface="Courier New" pitchFamily="34" charset="0"/>
                <a:ea typeface="Courier New" pitchFamily="34" charset="-122"/>
                <a:cs typeface="Courier New" pitchFamily="34" charset="-120"/>
              </a:rPr>
              <a:t>(</a:t>
            </a:r>
            <a:r>
              <a:rPr lang="es-AR" sz="1350" noProof="0" dirty="0" err="1">
                <a:solidFill>
                  <a:srgbClr val="1C1C2A"/>
                </a:solidFill>
                <a:latin typeface="Courier New" pitchFamily="34" charset="0"/>
                <a:ea typeface="Courier New" pitchFamily="34" charset="-122"/>
                <a:cs typeface="Courier New" pitchFamily="34" charset="-120"/>
              </a:rPr>
              <a:t>numeros</a:t>
            </a:r>
            <a:r>
              <a:rPr lang="es-AR" sz="1350" noProof="0" dirty="0">
                <a:solidFill>
                  <a:srgbClr val="1C1C2A"/>
                </a:solidFill>
                <a:latin typeface="Courier New" pitchFamily="34" charset="0"/>
                <a:ea typeface="Courier New" pitchFamily="34" charset="-122"/>
                <a:cs typeface="Courier New" pitchFamily="34" charset="-120"/>
              </a:rPr>
              <a:t>[i]);</a:t>
            </a:r>
            <a:endParaRPr lang="es-AR" sz="1350" noProof="0" dirty="0"/>
          </a:p>
          <a:p>
            <a:pPr marL="0" indent="0">
              <a:lnSpc>
                <a:spcPct val="115000"/>
              </a:lnSpc>
              <a:buNone/>
            </a:pPr>
            <a:r>
              <a:rPr lang="es-AR" sz="1350" noProof="0" dirty="0">
                <a:solidFill>
                  <a:srgbClr val="1C1C2A"/>
                </a:solidFill>
                <a:latin typeface="Courier New" pitchFamily="34" charset="0"/>
                <a:ea typeface="Courier New" pitchFamily="34" charset="-122"/>
                <a:cs typeface="Courier New" pitchFamily="34" charset="-120"/>
              </a:rPr>
              <a:t>}</a:t>
            </a:r>
            <a:endParaRPr lang="es-AR" sz="1350" noProof="0" dirty="0"/>
          </a:p>
        </p:txBody>
      </p:sp>
      <p:sp>
        <p:nvSpPr>
          <p:cNvPr id="6" name="Shape 4"/>
          <p:cNvSpPr/>
          <p:nvPr/>
        </p:nvSpPr>
        <p:spPr>
          <a:xfrm>
            <a:off x="7635240" y="1554480"/>
            <a:ext cx="4023360" cy="2926080"/>
          </a:xfrm>
          <a:prstGeom prst="roundRect">
            <a:avLst>
              <a:gd name="adj" fmla="val 3125"/>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863840" y="1737360"/>
            <a:ext cx="3566160" cy="365760"/>
          </a:xfrm>
          <a:prstGeom prst="rect">
            <a:avLst/>
          </a:prstGeom>
          <a:noFill/>
          <a:ln/>
        </p:spPr>
        <p:txBody>
          <a:bodyPr wrap="square" rtlCol="0" anchor="ctr"/>
          <a:lstStyle/>
          <a:p>
            <a:pPr marL="0" indent="0">
              <a:buNone/>
            </a:pPr>
            <a:r>
              <a:rPr lang="es-AR" sz="1300" b="1" noProof="0" dirty="0">
                <a:solidFill>
                  <a:srgbClr val="1E2761"/>
                </a:solidFill>
                <a:latin typeface="Calibri" pitchFamily="34" charset="0"/>
                <a:ea typeface="Calibri" pitchFamily="34" charset="-122"/>
                <a:cs typeface="Calibri" pitchFamily="34" charset="-120"/>
              </a:rPr>
              <a:t>Por qué importa hoy</a:t>
            </a:r>
            <a:endParaRPr lang="es-AR" sz="1300" noProof="0" dirty="0"/>
          </a:p>
        </p:txBody>
      </p:sp>
      <p:sp>
        <p:nvSpPr>
          <p:cNvPr id="8" name="Text 6"/>
          <p:cNvSpPr/>
          <p:nvPr/>
        </p:nvSpPr>
        <p:spPr>
          <a:xfrm>
            <a:off x="7863840" y="2148840"/>
            <a:ext cx="3566160" cy="2103120"/>
          </a:xfrm>
          <a:prstGeom prst="rect">
            <a:avLst/>
          </a:prstGeom>
          <a:noFill/>
          <a:ln/>
        </p:spPr>
        <p:txBody>
          <a:bodyPr wrap="square" rtlCol="0" anchor="t"/>
          <a:lstStyle/>
          <a:p>
            <a:pPr marL="0" indent="0">
              <a:buNone/>
            </a:pPr>
            <a:r>
              <a:rPr lang="es-AR" sz="1300" noProof="0" dirty="0">
                <a:solidFill>
                  <a:srgbClr val="1C1C2A"/>
                </a:solidFill>
                <a:latin typeface="Calibri" pitchFamily="34" charset="0"/>
                <a:ea typeface="Calibri" pitchFamily="34" charset="-122"/>
                <a:cs typeface="Calibri" pitchFamily="34" charset="-120"/>
              </a:rPr>
              <a:t>Los </a:t>
            </a:r>
            <a:r>
              <a:rPr lang="es-AR" sz="1300" noProof="0" dirty="0" err="1">
                <a:solidFill>
                  <a:srgbClr val="1C1C2A"/>
                </a:solidFill>
                <a:latin typeface="Calibri" pitchFamily="34" charset="0"/>
                <a:ea typeface="Calibri" pitchFamily="34" charset="-122"/>
                <a:cs typeface="Calibri" pitchFamily="34" charset="-120"/>
              </a:rPr>
              <a:t>arrays</a:t>
            </a:r>
            <a:r>
              <a:rPr lang="es-AR" sz="1300" noProof="0" dirty="0">
                <a:solidFill>
                  <a:srgbClr val="1C1C2A"/>
                </a:solidFill>
                <a:latin typeface="Calibri" pitchFamily="34" charset="0"/>
                <a:ea typeface="Calibri" pitchFamily="34" charset="-122"/>
                <a:cs typeface="Calibri" pitchFamily="34" charset="-120"/>
              </a:rPr>
              <a:t> son la base de las implementaciones ESTÁTICAS de </a:t>
            </a:r>
            <a:r>
              <a:rPr lang="es-AR" sz="1300" noProof="0" dirty="0" err="1">
                <a:solidFill>
                  <a:srgbClr val="1C1C2A"/>
                </a:solidFill>
                <a:latin typeface="Calibri" pitchFamily="34" charset="0"/>
                <a:ea typeface="Calibri" pitchFamily="34" charset="-122"/>
                <a:cs typeface="Calibri" pitchFamily="34" charset="-120"/>
              </a:rPr>
              <a:t>TDAs</a:t>
            </a:r>
            <a:r>
              <a:rPr lang="es-AR" sz="1300" noProof="0" dirty="0">
                <a:solidFill>
                  <a:srgbClr val="1C1C2A"/>
                </a:solidFill>
                <a:latin typeface="Calibri" pitchFamily="34" charset="0"/>
                <a:ea typeface="Calibri" pitchFamily="34" charset="-122"/>
                <a:cs typeface="Calibri" pitchFamily="34" charset="-120"/>
              </a:rPr>
              <a:t> que vamos a programar en la Clase 2 (Pila, Cola, Cola con Prioridad, Conjunto).</a:t>
            </a:r>
            <a:endParaRPr lang="es-AR" sz="1300" noProof="0" dirty="0"/>
          </a:p>
        </p:txBody>
      </p:sp>
      <p:sp>
        <p:nvSpPr>
          <p:cNvPr id="9" name="Shape 7"/>
          <p:cNvSpPr/>
          <p:nvPr/>
        </p:nvSpPr>
        <p:spPr>
          <a:xfrm>
            <a:off x="548640" y="4709160"/>
            <a:ext cx="11109960" cy="1051560"/>
          </a:xfrm>
          <a:prstGeom prst="roundRect">
            <a:avLst>
              <a:gd name="adj" fmla="val 8696"/>
            </a:avLst>
          </a:prstGeom>
          <a:solidFill>
            <a:srgbClr val="E8A33D"/>
          </a:solidFill>
          <a:ln/>
        </p:spPr>
        <p:txBody>
          <a:bodyPr/>
          <a:lstStyle/>
          <a:p>
            <a:endParaRPr lang="es-AR" noProof="0" dirty="0"/>
          </a:p>
        </p:txBody>
      </p:sp>
      <p:sp>
        <p:nvSpPr>
          <p:cNvPr id="10" name="Text 8"/>
          <p:cNvSpPr/>
          <p:nvPr/>
        </p:nvSpPr>
        <p:spPr>
          <a:xfrm>
            <a:off x="822960" y="4709160"/>
            <a:ext cx="10607040" cy="1051560"/>
          </a:xfrm>
          <a:prstGeom prst="rect">
            <a:avLst/>
          </a:prstGeom>
          <a:noFill/>
          <a:ln/>
        </p:spPr>
        <p:txBody>
          <a:bodyPr wrap="square" rtlCol="0" anchor="ctr"/>
          <a:lstStyle/>
          <a:p>
            <a:pPr marL="0" indent="0">
              <a:buNone/>
            </a:pPr>
            <a:r>
              <a:rPr lang="es-AR" sz="1350" b="1" noProof="0" dirty="0">
                <a:solidFill>
                  <a:srgbClr val="FFFFFF"/>
                </a:solidFill>
                <a:latin typeface="Calibri" pitchFamily="34" charset="0"/>
                <a:ea typeface="Calibri" pitchFamily="34" charset="-122"/>
                <a:cs typeface="Calibri" pitchFamily="34" charset="-120"/>
              </a:rPr>
              <a:t>Limitación clave: el tamaño se fija al crear el array y NO puede cambiar. Si se llena, hay que manejar el error (o migrar a una implementación dinámica — Unidad IV).</a:t>
            </a:r>
            <a:endParaRPr lang="es-AR" sz="1350" noProof="0" dirty="0"/>
          </a:p>
        </p:txBody>
      </p:sp>
      <p:sp>
        <p:nvSpPr>
          <p:cNvPr id="11" name="Text 9"/>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2" name="Text 10"/>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20</a:t>
            </a:r>
            <a:endParaRPr lang="es-AR" sz="10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9</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Sobrecarga de métodos (</a:t>
            </a:r>
            <a:r>
              <a:rPr lang="es-AR" sz="3000" b="1" noProof="0" dirty="0" err="1">
                <a:solidFill>
                  <a:srgbClr val="1E2761"/>
                </a:solidFill>
                <a:latin typeface="Cambria" pitchFamily="34" charset="0"/>
                <a:ea typeface="Cambria" pitchFamily="34" charset="-122"/>
                <a:cs typeface="Cambria" pitchFamily="34" charset="-120"/>
              </a:rPr>
              <a:t>overloading</a:t>
            </a:r>
            <a:r>
              <a:rPr lang="es-AR" sz="3000" b="1" noProof="0" dirty="0">
                <a:solidFill>
                  <a:srgbClr val="1E2761"/>
                </a:solidFill>
                <a:latin typeface="Cambria" pitchFamily="34" charset="0"/>
                <a:ea typeface="Cambria" pitchFamily="34" charset="-122"/>
                <a:cs typeface="Cambria" pitchFamily="34" charset="-120"/>
              </a:rPr>
              <a:t>)</a:t>
            </a:r>
            <a:endParaRPr lang="es-AR" sz="3000" noProof="0" dirty="0"/>
          </a:p>
        </p:txBody>
      </p:sp>
      <p:sp>
        <p:nvSpPr>
          <p:cNvPr id="4" name="Shape 2"/>
          <p:cNvSpPr/>
          <p:nvPr/>
        </p:nvSpPr>
        <p:spPr>
          <a:xfrm>
            <a:off x="548640" y="1554480"/>
            <a:ext cx="5852160" cy="4572000"/>
          </a:xfrm>
          <a:prstGeom prst="roundRect">
            <a:avLst>
              <a:gd name="adj" fmla="val 1600"/>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91640"/>
            <a:ext cx="5394960" cy="4297680"/>
          </a:xfrm>
          <a:prstGeom prst="rect">
            <a:avLst/>
          </a:prstGeom>
          <a:noFill/>
          <a:ln/>
        </p:spPr>
        <p:txBody>
          <a:bodyPr wrap="square" rtlCol="0" anchor="t"/>
          <a:lstStyle/>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class</a:t>
            </a:r>
            <a:r>
              <a:rPr lang="es-AR" sz="1300" noProof="0" dirty="0">
                <a:solidFill>
                  <a:srgbClr val="1C1C2A"/>
                </a:solidFill>
                <a:latin typeface="Courier New" pitchFamily="34" charset="0"/>
                <a:ea typeface="Courier New" pitchFamily="34" charset="-122"/>
                <a:cs typeface="Courier New" pitchFamily="34" charset="-120"/>
              </a:rPr>
              <a:t> Calculadora {</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sumar(</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a,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b)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return</a:t>
            </a:r>
            <a:r>
              <a:rPr lang="es-AR" sz="1300" noProof="0" dirty="0">
                <a:solidFill>
                  <a:srgbClr val="1C1C2A"/>
                </a:solidFill>
                <a:latin typeface="Courier New" pitchFamily="34" charset="0"/>
                <a:ea typeface="Courier New" pitchFamily="34" charset="-122"/>
                <a:cs typeface="Courier New" pitchFamily="34" charset="-120"/>
              </a:rPr>
              <a:t> a + b;</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double</a:t>
            </a:r>
            <a:r>
              <a:rPr lang="es-AR" sz="1300" noProof="0" dirty="0">
                <a:solidFill>
                  <a:srgbClr val="1C1C2A"/>
                </a:solidFill>
                <a:latin typeface="Courier New" pitchFamily="34" charset="0"/>
                <a:ea typeface="Courier New" pitchFamily="34" charset="-122"/>
                <a:cs typeface="Courier New" pitchFamily="34" charset="-120"/>
              </a:rPr>
              <a:t> sumar(</a:t>
            </a:r>
            <a:r>
              <a:rPr lang="es-AR" sz="1300" noProof="0" dirty="0" err="1">
                <a:solidFill>
                  <a:srgbClr val="1C1C2A"/>
                </a:solidFill>
                <a:latin typeface="Courier New" pitchFamily="34" charset="0"/>
                <a:ea typeface="Courier New" pitchFamily="34" charset="-122"/>
                <a:cs typeface="Courier New" pitchFamily="34" charset="-120"/>
              </a:rPr>
              <a:t>double</a:t>
            </a:r>
            <a:r>
              <a:rPr lang="es-AR" sz="1300" noProof="0" dirty="0">
                <a:solidFill>
                  <a:srgbClr val="1C1C2A"/>
                </a:solidFill>
                <a:latin typeface="Courier New" pitchFamily="34" charset="0"/>
                <a:ea typeface="Courier New" pitchFamily="34" charset="-122"/>
                <a:cs typeface="Courier New" pitchFamily="34" charset="-120"/>
              </a:rPr>
              <a:t> a, </a:t>
            </a:r>
            <a:r>
              <a:rPr lang="es-AR" sz="1300" noProof="0" dirty="0" err="1">
                <a:solidFill>
                  <a:srgbClr val="1C1C2A"/>
                </a:solidFill>
                <a:latin typeface="Courier New" pitchFamily="34" charset="0"/>
                <a:ea typeface="Courier New" pitchFamily="34" charset="-122"/>
                <a:cs typeface="Courier New" pitchFamily="34" charset="-120"/>
              </a:rPr>
              <a:t>double</a:t>
            </a:r>
            <a:r>
              <a:rPr lang="es-AR" sz="1300" noProof="0" dirty="0">
                <a:solidFill>
                  <a:srgbClr val="1C1C2A"/>
                </a:solidFill>
                <a:latin typeface="Courier New" pitchFamily="34" charset="0"/>
                <a:ea typeface="Courier New" pitchFamily="34" charset="-122"/>
                <a:cs typeface="Courier New" pitchFamily="34" charset="-120"/>
              </a:rPr>
              <a:t> b)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return</a:t>
            </a:r>
            <a:r>
              <a:rPr lang="es-AR" sz="1300" noProof="0" dirty="0">
                <a:solidFill>
                  <a:srgbClr val="1C1C2A"/>
                </a:solidFill>
                <a:latin typeface="Courier New" pitchFamily="34" charset="0"/>
                <a:ea typeface="Courier New" pitchFamily="34" charset="-122"/>
                <a:cs typeface="Courier New" pitchFamily="34" charset="-120"/>
              </a:rPr>
              <a:t> a + b;</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public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sumar(</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a,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b, </a:t>
            </a:r>
            <a:r>
              <a:rPr lang="es-AR" sz="1300" noProof="0" dirty="0" err="1">
                <a:solidFill>
                  <a:srgbClr val="1C1C2A"/>
                </a:solidFill>
                <a:latin typeface="Courier New" pitchFamily="34" charset="0"/>
                <a:ea typeface="Courier New" pitchFamily="34" charset="-122"/>
                <a:cs typeface="Courier New" pitchFamily="34" charset="-120"/>
              </a:rPr>
              <a:t>int</a:t>
            </a:r>
            <a:r>
              <a:rPr lang="es-AR" sz="1300" noProof="0" dirty="0">
                <a:solidFill>
                  <a:srgbClr val="1C1C2A"/>
                </a:solidFill>
                <a:latin typeface="Courier New" pitchFamily="34" charset="0"/>
                <a:ea typeface="Courier New" pitchFamily="34" charset="-122"/>
                <a:cs typeface="Courier New" pitchFamily="34" charset="-120"/>
              </a:rPr>
              <a:t> c)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return</a:t>
            </a:r>
            <a:r>
              <a:rPr lang="es-AR" sz="1300" noProof="0" dirty="0">
                <a:solidFill>
                  <a:srgbClr val="1C1C2A"/>
                </a:solidFill>
                <a:latin typeface="Courier New" pitchFamily="34" charset="0"/>
                <a:ea typeface="Courier New" pitchFamily="34" charset="-122"/>
                <a:cs typeface="Courier New" pitchFamily="34" charset="-120"/>
              </a:rPr>
              <a:t> a + b + c;</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a:t>
            </a:r>
            <a:endParaRPr lang="es-AR" sz="1300" noProof="0" dirty="0"/>
          </a:p>
        </p:txBody>
      </p:sp>
      <p:sp>
        <p:nvSpPr>
          <p:cNvPr id="6" name="Text 4"/>
          <p:cNvSpPr/>
          <p:nvPr/>
        </p:nvSpPr>
        <p:spPr>
          <a:xfrm>
            <a:off x="6675120" y="1691640"/>
            <a:ext cx="4937760" cy="411480"/>
          </a:xfrm>
          <a:prstGeom prst="rect">
            <a:avLst/>
          </a:prstGeom>
          <a:noFill/>
          <a:ln/>
        </p:spPr>
        <p:txBody>
          <a:bodyPr wrap="square" rtlCol="0" anchor="ctr"/>
          <a:lstStyle/>
          <a:p>
            <a:pPr marL="0" indent="0">
              <a:buNone/>
            </a:pPr>
            <a:r>
              <a:rPr lang="es-AR" sz="1600" b="1" noProof="0" dirty="0">
                <a:solidFill>
                  <a:srgbClr val="1E2761"/>
                </a:solidFill>
                <a:latin typeface="Calibri" pitchFamily="34" charset="0"/>
                <a:ea typeface="Calibri" pitchFamily="34" charset="-122"/>
                <a:cs typeface="Calibri" pitchFamily="34" charset="-120"/>
              </a:rPr>
              <a:t>Mismo nombre, distinta firma</a:t>
            </a:r>
            <a:endParaRPr lang="es-AR" sz="1600" noProof="0" dirty="0"/>
          </a:p>
        </p:txBody>
      </p:sp>
      <p:sp>
        <p:nvSpPr>
          <p:cNvPr id="7" name="Text 5"/>
          <p:cNvSpPr/>
          <p:nvPr/>
        </p:nvSpPr>
        <p:spPr>
          <a:xfrm>
            <a:off x="6675120" y="2148840"/>
            <a:ext cx="4937760" cy="1463040"/>
          </a:xfrm>
          <a:prstGeom prst="rect">
            <a:avLst/>
          </a:prstGeom>
          <a:noFill/>
          <a:ln/>
        </p:spPr>
        <p:txBody>
          <a:bodyPr wrap="square" rtlCol="0" anchor="t"/>
          <a:lstStyle/>
          <a:p>
            <a:pPr marL="0" indent="0">
              <a:buNone/>
            </a:pPr>
            <a:r>
              <a:rPr lang="es-AR" sz="1400" noProof="0" dirty="0">
                <a:solidFill>
                  <a:srgbClr val="1C1C2A"/>
                </a:solidFill>
                <a:latin typeface="Calibri" pitchFamily="34" charset="0"/>
                <a:ea typeface="Calibri" pitchFamily="34" charset="-122"/>
                <a:cs typeface="Calibri" pitchFamily="34" charset="-120"/>
              </a:rPr>
              <a:t>Varios métodos pueden compartir nombre si difieren en cantidad y/o tipo de parámetros. Java decide en tiempo de compilación cuál invocar según los argumentos.</a:t>
            </a:r>
            <a:endParaRPr lang="es-AR" sz="1400" noProof="0" dirty="0"/>
          </a:p>
        </p:txBody>
      </p:sp>
      <p:sp>
        <p:nvSpPr>
          <p:cNvPr id="8" name="Text 6"/>
          <p:cNvSpPr/>
          <p:nvPr/>
        </p:nvSpPr>
        <p:spPr>
          <a:xfrm>
            <a:off x="6675120" y="3749040"/>
            <a:ext cx="4937760" cy="411480"/>
          </a:xfrm>
          <a:prstGeom prst="rect">
            <a:avLst/>
          </a:prstGeom>
          <a:noFill/>
          <a:ln/>
        </p:spPr>
        <p:txBody>
          <a:bodyPr wrap="square" rtlCol="0" anchor="ctr"/>
          <a:lstStyle/>
          <a:p>
            <a:pPr marL="0" indent="0">
              <a:buNone/>
            </a:pPr>
            <a:r>
              <a:rPr lang="es-AR" sz="1600" b="1" noProof="0" dirty="0">
                <a:solidFill>
                  <a:srgbClr val="1E2761"/>
                </a:solidFill>
                <a:latin typeface="Calibri" pitchFamily="34" charset="0"/>
                <a:ea typeface="Calibri" pitchFamily="34" charset="-122"/>
                <a:cs typeface="Calibri" pitchFamily="34" charset="-120"/>
              </a:rPr>
              <a:t>Uso típico en </a:t>
            </a:r>
            <a:r>
              <a:rPr lang="es-AR" sz="1600" b="1" noProof="0" dirty="0" err="1">
                <a:solidFill>
                  <a:srgbClr val="1E2761"/>
                </a:solidFill>
                <a:latin typeface="Calibri" pitchFamily="34" charset="0"/>
                <a:ea typeface="Calibri" pitchFamily="34" charset="-122"/>
                <a:cs typeface="Calibri" pitchFamily="34" charset="-120"/>
              </a:rPr>
              <a:t>TDAs</a:t>
            </a:r>
            <a:endParaRPr lang="es-AR" sz="1600" noProof="0" dirty="0"/>
          </a:p>
        </p:txBody>
      </p:sp>
      <p:sp>
        <p:nvSpPr>
          <p:cNvPr id="9" name="Text 7"/>
          <p:cNvSpPr/>
          <p:nvPr/>
        </p:nvSpPr>
        <p:spPr>
          <a:xfrm>
            <a:off x="6675120" y="4206240"/>
            <a:ext cx="4937760" cy="1645920"/>
          </a:xfrm>
          <a:prstGeom prst="rect">
            <a:avLst/>
          </a:prstGeom>
          <a:noFill/>
          <a:ln/>
        </p:spPr>
        <p:txBody>
          <a:bodyPr wrap="square" rtlCol="0" anchor="t"/>
          <a:lstStyle/>
          <a:p>
            <a:pPr marL="0" indent="0">
              <a:buNone/>
            </a:pPr>
            <a:r>
              <a:rPr lang="es-AR" sz="1400" noProof="0" dirty="0">
                <a:solidFill>
                  <a:srgbClr val="1C1C2A"/>
                </a:solidFill>
                <a:latin typeface="Calibri" pitchFamily="34" charset="0"/>
                <a:ea typeface="Calibri" pitchFamily="34" charset="-122"/>
                <a:cs typeface="Calibri" pitchFamily="34" charset="-120"/>
              </a:rPr>
              <a:t>Por ejemplo, un TDA Conjunto podría ofrecer agregar(</a:t>
            </a:r>
            <a:r>
              <a:rPr lang="es-AR" sz="1400" noProof="0" dirty="0" err="1">
                <a:solidFill>
                  <a:srgbClr val="1C1C2A"/>
                </a:solidFill>
                <a:latin typeface="Calibri" pitchFamily="34" charset="0"/>
                <a:ea typeface="Calibri" pitchFamily="34" charset="-122"/>
                <a:cs typeface="Calibri" pitchFamily="34" charset="-120"/>
              </a:rPr>
              <a:t>int</a:t>
            </a:r>
            <a:r>
              <a:rPr lang="es-AR" sz="1400" noProof="0" dirty="0">
                <a:solidFill>
                  <a:srgbClr val="1C1C2A"/>
                </a:solidFill>
                <a:latin typeface="Calibri" pitchFamily="34" charset="0"/>
                <a:ea typeface="Calibri" pitchFamily="34" charset="-122"/>
                <a:cs typeface="Calibri" pitchFamily="34" charset="-120"/>
              </a:rPr>
              <a:t> x) y agregar(</a:t>
            </a:r>
            <a:r>
              <a:rPr lang="es-AR" sz="1400" noProof="0" dirty="0" err="1">
                <a:solidFill>
                  <a:srgbClr val="1C1C2A"/>
                </a:solidFill>
                <a:latin typeface="Calibri" pitchFamily="34" charset="0"/>
                <a:ea typeface="Calibri" pitchFamily="34" charset="-122"/>
                <a:cs typeface="Calibri" pitchFamily="34" charset="-120"/>
              </a:rPr>
              <a:t>int</a:t>
            </a:r>
            <a:r>
              <a:rPr lang="es-AR" sz="1400" noProof="0" dirty="0">
                <a:solidFill>
                  <a:srgbClr val="1C1C2A"/>
                </a:solidFill>
                <a:latin typeface="Calibri" pitchFamily="34" charset="0"/>
                <a:ea typeface="Calibri" pitchFamily="34" charset="-122"/>
                <a:cs typeface="Calibri" pitchFamily="34" charset="-120"/>
              </a:rPr>
              <a:t>[] </a:t>
            </a:r>
            <a:r>
              <a:rPr lang="es-AR" sz="1400" noProof="0" dirty="0" err="1">
                <a:solidFill>
                  <a:srgbClr val="1C1C2A"/>
                </a:solidFill>
                <a:latin typeface="Calibri" pitchFamily="34" charset="0"/>
                <a:ea typeface="Calibri" pitchFamily="34" charset="-122"/>
                <a:cs typeface="Calibri" pitchFamily="34" charset="-120"/>
              </a:rPr>
              <a:t>xs</a:t>
            </a:r>
            <a:r>
              <a:rPr lang="es-AR" sz="1400" noProof="0" dirty="0">
                <a:solidFill>
                  <a:srgbClr val="1C1C2A"/>
                </a:solidFill>
                <a:latin typeface="Calibri" pitchFamily="34" charset="0"/>
                <a:ea typeface="Calibri" pitchFamily="34" charset="-122"/>
                <a:cs typeface="Calibri" pitchFamily="34" charset="-120"/>
              </a:rPr>
              <a:t>) para insertar de a uno o en lote, ambos bajo el mismo nombre de operación.</a:t>
            </a:r>
            <a:endParaRPr lang="es-AR" sz="1400" noProof="0" dirty="0"/>
          </a:p>
        </p:txBody>
      </p:sp>
      <p:sp>
        <p:nvSpPr>
          <p:cNvPr id="10" name="Text 8"/>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1" name="Text 9"/>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21</a:t>
            </a:r>
            <a:endParaRPr lang="es-AR" sz="1000"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8E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E8A33D"/>
          </a:solidFill>
          <a:ln/>
        </p:spPr>
        <p:txBody>
          <a:bodyPr/>
          <a:lstStyle/>
          <a:p>
            <a:endParaRPr lang="es-AR" noProof="0" dirty="0"/>
          </a:p>
        </p:txBody>
      </p:sp>
      <p:sp>
        <p:nvSpPr>
          <p:cNvPr id="3" name="Text 1"/>
          <p:cNvSpPr/>
          <p:nvPr/>
        </p:nvSpPr>
        <p:spPr>
          <a:xfrm>
            <a:off x="548640" y="228600"/>
            <a:ext cx="7315200" cy="365760"/>
          </a:xfrm>
          <a:prstGeom prst="rect">
            <a:avLst/>
          </a:prstGeom>
          <a:noFill/>
          <a:ln/>
        </p:spPr>
        <p:txBody>
          <a:bodyPr wrap="square" rtlCol="0" anchor="ctr"/>
          <a:lstStyle/>
          <a:p>
            <a:pPr marL="0" indent="0">
              <a:buNone/>
            </a:pPr>
            <a:r>
              <a:rPr lang="es-AR" sz="1400" b="1" kern="0" spc="200" noProof="0" dirty="0">
                <a:solidFill>
                  <a:srgbClr val="FFFFFF"/>
                </a:solidFill>
                <a:latin typeface="Calibri" pitchFamily="34" charset="0"/>
                <a:ea typeface="Calibri" pitchFamily="34" charset="-122"/>
                <a:cs typeface="Calibri" pitchFamily="34" charset="-120"/>
              </a:rPr>
              <a:t>EJERCICIO 2</a:t>
            </a:r>
            <a:endParaRPr lang="es-AR" sz="1400" noProof="0" dirty="0"/>
          </a:p>
        </p:txBody>
      </p:sp>
      <p:sp>
        <p:nvSpPr>
          <p:cNvPr id="4" name="Text 2"/>
          <p:cNvSpPr/>
          <p:nvPr/>
        </p:nvSpPr>
        <p:spPr>
          <a:xfrm>
            <a:off x="548640" y="548640"/>
            <a:ext cx="8229600" cy="548640"/>
          </a:xfrm>
          <a:prstGeom prst="rect">
            <a:avLst/>
          </a:prstGeom>
          <a:noFill/>
          <a:ln/>
        </p:spPr>
        <p:txBody>
          <a:bodyPr wrap="square" rtlCol="0" anchor="ctr"/>
          <a:lstStyle/>
          <a:p>
            <a:pPr marL="0" indent="0">
              <a:buNone/>
            </a:pPr>
            <a:r>
              <a:rPr lang="es-AR" sz="2400" b="1" noProof="0" dirty="0">
                <a:solidFill>
                  <a:srgbClr val="FFFFFF"/>
                </a:solidFill>
                <a:latin typeface="Cambria" pitchFamily="34" charset="0"/>
                <a:ea typeface="Cambria" pitchFamily="34" charset="-122"/>
                <a:cs typeface="Cambria" pitchFamily="34" charset="-120"/>
              </a:rPr>
              <a:t>Implementar una clase Java</a:t>
            </a:r>
            <a:endParaRPr lang="es-AR" sz="2400" noProof="0" dirty="0"/>
          </a:p>
        </p:txBody>
      </p:sp>
      <p:sp>
        <p:nvSpPr>
          <p:cNvPr id="5" name="Shape 3"/>
          <p:cNvSpPr/>
          <p:nvPr/>
        </p:nvSpPr>
        <p:spPr>
          <a:xfrm>
            <a:off x="10332720" y="320040"/>
            <a:ext cx="1280160" cy="365760"/>
          </a:xfrm>
          <a:prstGeom prst="roundRect">
            <a:avLst>
              <a:gd name="adj" fmla="val 50000"/>
            </a:avLst>
          </a:prstGeom>
          <a:solidFill>
            <a:srgbClr val="1E2761"/>
          </a:solidFill>
          <a:ln/>
        </p:spPr>
        <p:txBody>
          <a:bodyPr/>
          <a:lstStyle/>
          <a:p>
            <a:endParaRPr lang="es-AR" noProof="0" dirty="0"/>
          </a:p>
        </p:txBody>
      </p:sp>
      <p:sp>
        <p:nvSpPr>
          <p:cNvPr id="6" name="Text 4"/>
          <p:cNvSpPr/>
          <p:nvPr/>
        </p:nvSpPr>
        <p:spPr>
          <a:xfrm>
            <a:off x="10332720" y="320040"/>
            <a:ext cx="128016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25 min</a:t>
            </a:r>
            <a:endParaRPr lang="es-AR" sz="1200" noProof="0" dirty="0"/>
          </a:p>
        </p:txBody>
      </p:sp>
      <p:sp>
        <p:nvSpPr>
          <p:cNvPr id="7" name="Shape 5"/>
          <p:cNvSpPr/>
          <p:nvPr/>
        </p:nvSpPr>
        <p:spPr>
          <a:xfrm>
            <a:off x="548640" y="1463040"/>
            <a:ext cx="11064240" cy="1005840"/>
          </a:xfrm>
          <a:prstGeom prst="roundRect">
            <a:avLst>
              <a:gd name="adj" fmla="val 9091"/>
            </a:avLst>
          </a:prstGeom>
          <a:solidFill>
            <a:srgbClr val="FFFFFF"/>
          </a:solidFill>
          <a:ln w="19050">
            <a:solidFill>
              <a:srgbClr val="E8A33D"/>
            </a:solidFill>
            <a:prstDash val="solid"/>
          </a:ln>
        </p:spPr>
        <p:txBody>
          <a:bodyPr/>
          <a:lstStyle/>
          <a:p>
            <a:endParaRPr lang="es-AR" noProof="0" dirty="0"/>
          </a:p>
        </p:txBody>
      </p:sp>
      <p:sp>
        <p:nvSpPr>
          <p:cNvPr id="8" name="Text 6"/>
          <p:cNvSpPr/>
          <p:nvPr/>
        </p:nvSpPr>
        <p:spPr>
          <a:xfrm>
            <a:off x="822960" y="1600200"/>
            <a:ext cx="10515600" cy="77724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Individualmente, escriban en Java una clase Producto con atributos privados nombre (String) y precio (</a:t>
            </a:r>
            <a:r>
              <a:rPr lang="es-AR" sz="1450" noProof="0" dirty="0" err="1">
                <a:solidFill>
                  <a:srgbClr val="1C1C2A"/>
                </a:solidFill>
                <a:latin typeface="Calibri" pitchFamily="34" charset="0"/>
                <a:ea typeface="Calibri" pitchFamily="34" charset="-122"/>
                <a:cs typeface="Calibri" pitchFamily="34" charset="-120"/>
              </a:rPr>
              <a:t>double</a:t>
            </a:r>
            <a:r>
              <a:rPr lang="es-AR" sz="1450" noProof="0" dirty="0">
                <a:solidFill>
                  <a:srgbClr val="1C1C2A"/>
                </a:solidFill>
                <a:latin typeface="Calibri" pitchFamily="34" charset="0"/>
                <a:ea typeface="Calibri" pitchFamily="34" charset="-122"/>
                <a:cs typeface="Calibri" pitchFamily="34" charset="-120"/>
              </a:rPr>
              <a:t>).</a:t>
            </a:r>
            <a:endParaRPr lang="es-AR" sz="1450" noProof="0" dirty="0"/>
          </a:p>
        </p:txBody>
      </p:sp>
      <p:sp>
        <p:nvSpPr>
          <p:cNvPr id="9" name="Shape 7"/>
          <p:cNvSpPr/>
          <p:nvPr/>
        </p:nvSpPr>
        <p:spPr>
          <a:xfrm>
            <a:off x="640080" y="2834640"/>
            <a:ext cx="128016" cy="128016"/>
          </a:xfrm>
          <a:prstGeom prst="ellipse">
            <a:avLst/>
          </a:prstGeom>
          <a:solidFill>
            <a:srgbClr val="E8A33D"/>
          </a:solidFill>
          <a:ln/>
        </p:spPr>
        <p:txBody>
          <a:bodyPr/>
          <a:lstStyle/>
          <a:p>
            <a:endParaRPr lang="es-AR" noProof="0" dirty="0"/>
          </a:p>
        </p:txBody>
      </p:sp>
      <p:sp>
        <p:nvSpPr>
          <p:cNvPr id="10" name="Text 8"/>
          <p:cNvSpPr/>
          <p:nvPr/>
        </p:nvSpPr>
        <p:spPr>
          <a:xfrm>
            <a:off x="914400" y="274320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Constructor que reciba e inicialice ambos atributos (usando </a:t>
            </a:r>
            <a:r>
              <a:rPr lang="es-AR" sz="1350" noProof="0" dirty="0" err="1">
                <a:solidFill>
                  <a:srgbClr val="1C1C2A"/>
                </a:solidFill>
                <a:latin typeface="Calibri" pitchFamily="34" charset="0"/>
                <a:ea typeface="Calibri" pitchFamily="34" charset="-122"/>
                <a:cs typeface="Calibri" pitchFamily="34" charset="-120"/>
              </a:rPr>
              <a:t>this</a:t>
            </a:r>
            <a:r>
              <a:rPr lang="es-AR" sz="1350" noProof="0" dirty="0">
                <a:solidFill>
                  <a:srgbClr val="1C1C2A"/>
                </a:solidFill>
                <a:latin typeface="Calibri" pitchFamily="34" charset="0"/>
                <a:ea typeface="Calibri" pitchFamily="34" charset="-122"/>
                <a:cs typeface="Calibri" pitchFamily="34" charset="-120"/>
              </a:rPr>
              <a:t>).</a:t>
            </a:r>
            <a:endParaRPr lang="es-AR" sz="1350" noProof="0" dirty="0"/>
          </a:p>
        </p:txBody>
      </p:sp>
      <p:sp>
        <p:nvSpPr>
          <p:cNvPr id="11" name="Shape 9"/>
          <p:cNvSpPr/>
          <p:nvPr/>
        </p:nvSpPr>
        <p:spPr>
          <a:xfrm>
            <a:off x="640080" y="3337560"/>
            <a:ext cx="128016" cy="128016"/>
          </a:xfrm>
          <a:prstGeom prst="ellipse">
            <a:avLst/>
          </a:prstGeom>
          <a:solidFill>
            <a:srgbClr val="E8A33D"/>
          </a:solidFill>
          <a:ln/>
        </p:spPr>
        <p:txBody>
          <a:bodyPr/>
          <a:lstStyle/>
          <a:p>
            <a:endParaRPr lang="es-AR" noProof="0" dirty="0"/>
          </a:p>
        </p:txBody>
      </p:sp>
      <p:sp>
        <p:nvSpPr>
          <p:cNvPr id="12" name="Text 10"/>
          <p:cNvSpPr/>
          <p:nvPr/>
        </p:nvSpPr>
        <p:spPr>
          <a:xfrm>
            <a:off x="914400" y="3246120"/>
            <a:ext cx="10607040" cy="457200"/>
          </a:xfrm>
          <a:prstGeom prst="rect">
            <a:avLst/>
          </a:prstGeom>
          <a:noFill/>
          <a:ln/>
        </p:spPr>
        <p:txBody>
          <a:bodyPr wrap="square" rtlCol="0" anchor="ctr"/>
          <a:lstStyle/>
          <a:p>
            <a:pPr marL="0" indent="0">
              <a:buNone/>
            </a:pPr>
            <a:r>
              <a:rPr lang="es-AR" sz="1350" noProof="0" dirty="0" err="1">
                <a:solidFill>
                  <a:srgbClr val="1C1C2A"/>
                </a:solidFill>
                <a:latin typeface="Calibri" pitchFamily="34" charset="0"/>
                <a:ea typeface="Calibri" pitchFamily="34" charset="-122"/>
                <a:cs typeface="Calibri" pitchFamily="34" charset="-120"/>
              </a:rPr>
              <a:t>Getters</a:t>
            </a:r>
            <a:r>
              <a:rPr lang="es-AR" sz="1350" noProof="0" dirty="0">
                <a:solidFill>
                  <a:srgbClr val="1C1C2A"/>
                </a:solidFill>
                <a:latin typeface="Calibri" pitchFamily="34" charset="0"/>
                <a:ea typeface="Calibri" pitchFamily="34" charset="-122"/>
                <a:cs typeface="Calibri" pitchFamily="34" charset="-120"/>
              </a:rPr>
              <a:t> públicos: </a:t>
            </a:r>
            <a:r>
              <a:rPr lang="es-AR" sz="1350" noProof="0" dirty="0" err="1">
                <a:solidFill>
                  <a:srgbClr val="1C1C2A"/>
                </a:solidFill>
                <a:latin typeface="Calibri" pitchFamily="34" charset="0"/>
                <a:ea typeface="Calibri" pitchFamily="34" charset="-122"/>
                <a:cs typeface="Calibri" pitchFamily="34" charset="-120"/>
              </a:rPr>
              <a:t>getNombre</a:t>
            </a:r>
            <a:r>
              <a:rPr lang="es-AR" sz="1350" noProof="0" dirty="0">
                <a:solidFill>
                  <a:srgbClr val="1C1C2A"/>
                </a:solidFill>
                <a:latin typeface="Calibri" pitchFamily="34" charset="0"/>
                <a:ea typeface="Calibri" pitchFamily="34" charset="-122"/>
                <a:cs typeface="Calibri" pitchFamily="34" charset="-120"/>
              </a:rPr>
              <a:t>() y </a:t>
            </a:r>
            <a:r>
              <a:rPr lang="es-AR" sz="1350" noProof="0" dirty="0" err="1">
                <a:solidFill>
                  <a:srgbClr val="1C1C2A"/>
                </a:solidFill>
                <a:latin typeface="Calibri" pitchFamily="34" charset="0"/>
                <a:ea typeface="Calibri" pitchFamily="34" charset="-122"/>
                <a:cs typeface="Calibri" pitchFamily="34" charset="-120"/>
              </a:rPr>
              <a:t>getPrecio</a:t>
            </a:r>
            <a:r>
              <a:rPr lang="es-AR" sz="1350" noProof="0" dirty="0">
                <a:solidFill>
                  <a:srgbClr val="1C1C2A"/>
                </a:solidFill>
                <a:latin typeface="Calibri" pitchFamily="34" charset="0"/>
                <a:ea typeface="Calibri" pitchFamily="34" charset="-122"/>
                <a:cs typeface="Calibri" pitchFamily="34" charset="-120"/>
              </a:rPr>
              <a:t>().</a:t>
            </a:r>
            <a:endParaRPr lang="es-AR" sz="1350" noProof="0" dirty="0"/>
          </a:p>
        </p:txBody>
      </p:sp>
      <p:sp>
        <p:nvSpPr>
          <p:cNvPr id="13" name="Shape 11"/>
          <p:cNvSpPr/>
          <p:nvPr/>
        </p:nvSpPr>
        <p:spPr>
          <a:xfrm>
            <a:off x="640080" y="3840480"/>
            <a:ext cx="128016" cy="128016"/>
          </a:xfrm>
          <a:prstGeom prst="ellipse">
            <a:avLst/>
          </a:prstGeom>
          <a:solidFill>
            <a:srgbClr val="E8A33D"/>
          </a:solidFill>
          <a:ln/>
        </p:spPr>
        <p:txBody>
          <a:bodyPr/>
          <a:lstStyle/>
          <a:p>
            <a:endParaRPr lang="es-AR" noProof="0" dirty="0"/>
          </a:p>
        </p:txBody>
      </p:sp>
      <p:sp>
        <p:nvSpPr>
          <p:cNvPr id="14" name="Text 12"/>
          <p:cNvSpPr/>
          <p:nvPr/>
        </p:nvSpPr>
        <p:spPr>
          <a:xfrm>
            <a:off x="914400" y="374904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Un método </a:t>
            </a:r>
            <a:r>
              <a:rPr lang="es-AR" sz="1350" noProof="0" dirty="0" err="1">
                <a:solidFill>
                  <a:srgbClr val="1C1C2A"/>
                </a:solidFill>
                <a:latin typeface="Calibri" pitchFamily="34" charset="0"/>
                <a:ea typeface="Calibri" pitchFamily="34" charset="-122"/>
                <a:cs typeface="Calibri" pitchFamily="34" charset="-120"/>
              </a:rPr>
              <a:t>aplicarDescuento</a:t>
            </a:r>
            <a:r>
              <a:rPr lang="es-AR" sz="1350" noProof="0" dirty="0">
                <a:solidFill>
                  <a:srgbClr val="1C1C2A"/>
                </a:solidFill>
                <a:latin typeface="Calibri" pitchFamily="34" charset="0"/>
                <a:ea typeface="Calibri" pitchFamily="34" charset="-122"/>
                <a:cs typeface="Calibri" pitchFamily="34" charset="-120"/>
              </a:rPr>
              <a:t>(</a:t>
            </a:r>
            <a:r>
              <a:rPr lang="es-AR" sz="1350" noProof="0" dirty="0" err="1">
                <a:solidFill>
                  <a:srgbClr val="1C1C2A"/>
                </a:solidFill>
                <a:latin typeface="Calibri" pitchFamily="34" charset="0"/>
                <a:ea typeface="Calibri" pitchFamily="34" charset="-122"/>
                <a:cs typeface="Calibri" pitchFamily="34" charset="-120"/>
              </a:rPr>
              <a:t>double</a:t>
            </a:r>
            <a:r>
              <a:rPr lang="es-AR" sz="1350" noProof="0" dirty="0">
                <a:solidFill>
                  <a:srgbClr val="1C1C2A"/>
                </a:solidFill>
                <a:latin typeface="Calibri" pitchFamily="34" charset="0"/>
                <a:ea typeface="Calibri" pitchFamily="34" charset="-122"/>
                <a:cs typeface="Calibri" pitchFamily="34" charset="-120"/>
              </a:rPr>
              <a:t> porcentaje) que modifique el precio in place (interno de la clase).</a:t>
            </a:r>
            <a:endParaRPr lang="es-AR" sz="1350" noProof="0" dirty="0"/>
          </a:p>
        </p:txBody>
      </p:sp>
      <p:sp>
        <p:nvSpPr>
          <p:cNvPr id="15" name="Shape 13"/>
          <p:cNvSpPr/>
          <p:nvPr/>
        </p:nvSpPr>
        <p:spPr>
          <a:xfrm>
            <a:off x="640080" y="4343400"/>
            <a:ext cx="128016" cy="128016"/>
          </a:xfrm>
          <a:prstGeom prst="ellipse">
            <a:avLst/>
          </a:prstGeom>
          <a:solidFill>
            <a:srgbClr val="E8A33D"/>
          </a:solidFill>
          <a:ln/>
        </p:spPr>
        <p:txBody>
          <a:bodyPr/>
          <a:lstStyle/>
          <a:p>
            <a:endParaRPr lang="es-AR" noProof="0" dirty="0"/>
          </a:p>
        </p:txBody>
      </p:sp>
      <p:sp>
        <p:nvSpPr>
          <p:cNvPr id="16" name="Text 14"/>
          <p:cNvSpPr/>
          <p:nvPr/>
        </p:nvSpPr>
        <p:spPr>
          <a:xfrm>
            <a:off x="914400" y="425196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Sobrecarguen el constructor: agreguen uno que reciba solo el nombre y ponga precio en 0.</a:t>
            </a:r>
            <a:endParaRPr lang="es-AR" sz="1350" noProof="0" dirty="0"/>
          </a:p>
        </p:txBody>
      </p:sp>
      <p:sp>
        <p:nvSpPr>
          <p:cNvPr id="17" name="Shape 15"/>
          <p:cNvSpPr/>
          <p:nvPr/>
        </p:nvSpPr>
        <p:spPr>
          <a:xfrm>
            <a:off x="548640" y="5623560"/>
            <a:ext cx="11064240" cy="640080"/>
          </a:xfrm>
          <a:prstGeom prst="roundRect">
            <a:avLst>
              <a:gd name="adj" fmla="val 11429"/>
            </a:avLst>
          </a:prstGeom>
          <a:solidFill>
            <a:srgbClr val="F5F7FC"/>
          </a:solidFill>
          <a:ln w="12700">
            <a:solidFill>
              <a:srgbClr val="CADCFC"/>
            </a:solidFill>
            <a:prstDash val="solid"/>
          </a:ln>
        </p:spPr>
        <p:txBody>
          <a:bodyPr/>
          <a:lstStyle/>
          <a:p>
            <a:endParaRPr lang="es-AR" noProof="0" dirty="0"/>
          </a:p>
        </p:txBody>
      </p:sp>
      <p:sp>
        <p:nvSpPr>
          <p:cNvPr id="18" name="Text 16"/>
          <p:cNvSpPr/>
          <p:nvPr/>
        </p:nvSpPr>
        <p:spPr>
          <a:xfrm>
            <a:off x="777240" y="5623560"/>
            <a:ext cx="10607040" cy="640080"/>
          </a:xfrm>
          <a:prstGeom prst="rect">
            <a:avLst/>
          </a:prstGeom>
          <a:noFill/>
          <a:ln/>
        </p:spPr>
        <p:txBody>
          <a:bodyPr wrap="square" rtlCol="0" anchor="ctr"/>
          <a:lstStyle/>
          <a:p>
            <a:pPr marL="0" indent="0">
              <a:buNone/>
            </a:pPr>
            <a:r>
              <a:rPr lang="es-AR" sz="1200" i="1" noProof="0" dirty="0">
                <a:solidFill>
                  <a:srgbClr val="5B6472"/>
                </a:solidFill>
                <a:latin typeface="Calibri" pitchFamily="34" charset="0"/>
                <a:ea typeface="Calibri" pitchFamily="34" charset="-122"/>
                <a:cs typeface="Calibri" pitchFamily="34" charset="-120"/>
              </a:rPr>
              <a:t>Al terminar, prueben crear dos referencias a un mismo Producto y verificar que modificar una afecta a la otra (paso por referencia).</a:t>
            </a:r>
            <a:endParaRPr lang="es-AR" sz="1200" noProof="0" dirty="0"/>
          </a:p>
        </p:txBody>
      </p:sp>
      <p:sp>
        <p:nvSpPr>
          <p:cNvPr id="19" name="Text 1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22</a:t>
            </a:r>
            <a:endParaRPr lang="es-AR" sz="1000"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4114800"/>
            <a:ext cx="4572000" cy="4572000"/>
          </a:xfrm>
          <a:prstGeom prst="ellipse">
            <a:avLst/>
          </a:prstGeom>
          <a:solidFill>
            <a:srgbClr val="263876"/>
          </a:solidFill>
          <a:ln/>
        </p:spPr>
        <p:txBody>
          <a:bodyPr/>
          <a:lstStyle/>
          <a:p>
            <a:endParaRPr lang="es-AR" noProof="0" dirty="0"/>
          </a:p>
        </p:txBody>
      </p:sp>
      <p:sp>
        <p:nvSpPr>
          <p:cNvPr id="3" name="Text 1"/>
          <p:cNvSpPr/>
          <p:nvPr/>
        </p:nvSpPr>
        <p:spPr>
          <a:xfrm>
            <a:off x="731520" y="2468880"/>
            <a:ext cx="7315200" cy="365760"/>
          </a:xfrm>
          <a:prstGeom prst="rect">
            <a:avLst/>
          </a:prstGeom>
          <a:noFill/>
          <a:ln/>
        </p:spPr>
        <p:txBody>
          <a:bodyPr wrap="square" rtlCol="0" anchor="ctr"/>
          <a:lstStyle/>
          <a:p>
            <a:pPr marL="0" indent="0">
              <a:buNone/>
            </a:pPr>
            <a:r>
              <a:rPr lang="es-AR" sz="1400" b="1" kern="0" spc="200" noProof="0" dirty="0">
                <a:solidFill>
                  <a:srgbClr val="E8A33D"/>
                </a:solidFill>
                <a:latin typeface="Calibri" pitchFamily="34" charset="0"/>
                <a:ea typeface="Calibri" pitchFamily="34" charset="-122"/>
                <a:cs typeface="Calibri" pitchFamily="34" charset="-120"/>
              </a:rPr>
              <a:t>BLOQUE 11</a:t>
            </a:r>
            <a:endParaRPr lang="es-AR" sz="1400" noProof="0" dirty="0"/>
          </a:p>
        </p:txBody>
      </p:sp>
      <p:sp>
        <p:nvSpPr>
          <p:cNvPr id="4" name="Text 2"/>
          <p:cNvSpPr/>
          <p:nvPr/>
        </p:nvSpPr>
        <p:spPr>
          <a:xfrm>
            <a:off x="731520" y="2834640"/>
            <a:ext cx="10058400" cy="1280160"/>
          </a:xfrm>
          <a:prstGeom prst="rect">
            <a:avLst/>
          </a:prstGeom>
          <a:noFill/>
          <a:ln/>
        </p:spPr>
        <p:txBody>
          <a:bodyPr wrap="square" rtlCol="0" anchor="ctr"/>
          <a:lstStyle/>
          <a:p>
            <a:pPr marL="0" indent="0">
              <a:buNone/>
            </a:pPr>
            <a:r>
              <a:rPr lang="es-AR" sz="3800" b="1" noProof="0" dirty="0">
                <a:solidFill>
                  <a:srgbClr val="FFFFFF"/>
                </a:solidFill>
                <a:latin typeface="Cambria" pitchFamily="34" charset="0"/>
                <a:ea typeface="Cambria" pitchFamily="34" charset="-122"/>
                <a:cs typeface="Cambria" pitchFamily="34" charset="-120"/>
              </a:rPr>
              <a:t>De la especificación a la clase Java</a:t>
            </a:r>
            <a:endParaRPr lang="es-AR" sz="3800" noProof="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7" name="Text 5"/>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23</a:t>
            </a:r>
            <a:endParaRPr lang="es-AR" sz="1000"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11</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Cómo se traduce un TDA a una clase Java</a:t>
            </a:r>
            <a:endParaRPr lang="es-AR" sz="3000" noProof="0" dirty="0"/>
          </a:p>
        </p:txBody>
      </p:sp>
      <p:sp>
        <p:nvSpPr>
          <p:cNvPr id="4" name="Shape 2"/>
          <p:cNvSpPr/>
          <p:nvPr/>
        </p:nvSpPr>
        <p:spPr>
          <a:xfrm>
            <a:off x="548640" y="1554480"/>
            <a:ext cx="11064240" cy="457200"/>
          </a:xfrm>
          <a:prstGeom prst="rect">
            <a:avLst/>
          </a:prstGeom>
          <a:solidFill>
            <a:srgbClr val="1E2761"/>
          </a:solidFill>
          <a:ln/>
        </p:spPr>
        <p:txBody>
          <a:bodyPr/>
          <a:lstStyle/>
          <a:p>
            <a:endParaRPr lang="es-AR" noProof="0" dirty="0"/>
          </a:p>
        </p:txBody>
      </p:sp>
      <p:sp>
        <p:nvSpPr>
          <p:cNvPr id="5" name="Text 3"/>
          <p:cNvSpPr/>
          <p:nvPr/>
        </p:nvSpPr>
        <p:spPr>
          <a:xfrm>
            <a:off x="731520" y="1554480"/>
            <a:ext cx="5303520" cy="457200"/>
          </a:xfrm>
          <a:prstGeom prst="rect">
            <a:avLst/>
          </a:prstGeom>
          <a:noFill/>
          <a:ln/>
        </p:spPr>
        <p:txBody>
          <a:bodyPr wrap="square" rtlCol="0" anchor="ctr"/>
          <a:lstStyle/>
          <a:p>
            <a:pPr marL="0" indent="0">
              <a:buNone/>
            </a:pPr>
            <a:r>
              <a:rPr lang="es-AR" sz="1300" b="1" noProof="0" dirty="0">
                <a:solidFill>
                  <a:srgbClr val="FFFFFF"/>
                </a:solidFill>
                <a:latin typeface="Calibri" pitchFamily="34" charset="0"/>
                <a:ea typeface="Calibri" pitchFamily="34" charset="-122"/>
                <a:cs typeface="Calibri" pitchFamily="34" charset="-120"/>
              </a:rPr>
              <a:t>Especificación (TDA)</a:t>
            </a:r>
            <a:endParaRPr lang="es-AR" sz="1300" noProof="0" dirty="0"/>
          </a:p>
        </p:txBody>
      </p:sp>
      <p:sp>
        <p:nvSpPr>
          <p:cNvPr id="6" name="Text 4"/>
          <p:cNvSpPr/>
          <p:nvPr/>
        </p:nvSpPr>
        <p:spPr>
          <a:xfrm>
            <a:off x="6126480" y="1554480"/>
            <a:ext cx="5303520" cy="457200"/>
          </a:xfrm>
          <a:prstGeom prst="rect">
            <a:avLst/>
          </a:prstGeom>
          <a:noFill/>
          <a:ln/>
        </p:spPr>
        <p:txBody>
          <a:bodyPr wrap="square" rtlCol="0" anchor="ctr"/>
          <a:lstStyle/>
          <a:p>
            <a:pPr marL="0" indent="0">
              <a:buNone/>
            </a:pPr>
            <a:r>
              <a:rPr lang="es-AR" sz="1300" b="1" noProof="0" dirty="0">
                <a:solidFill>
                  <a:srgbClr val="FFFFFF"/>
                </a:solidFill>
                <a:latin typeface="Calibri" pitchFamily="34" charset="0"/>
                <a:ea typeface="Calibri" pitchFamily="34" charset="-122"/>
                <a:cs typeface="Calibri" pitchFamily="34" charset="-120"/>
              </a:rPr>
              <a:t>Java</a:t>
            </a:r>
            <a:endParaRPr lang="es-AR" sz="1300" noProof="0" dirty="0"/>
          </a:p>
        </p:txBody>
      </p:sp>
      <p:sp>
        <p:nvSpPr>
          <p:cNvPr id="7" name="Shape 5"/>
          <p:cNvSpPr/>
          <p:nvPr/>
        </p:nvSpPr>
        <p:spPr>
          <a:xfrm>
            <a:off x="548640" y="2011680"/>
            <a:ext cx="11064240" cy="685800"/>
          </a:xfrm>
          <a:prstGeom prst="rect">
            <a:avLst/>
          </a:prstGeom>
          <a:solidFill>
            <a:srgbClr val="F5F7FC"/>
          </a:solidFill>
          <a:ln w="6350">
            <a:solidFill>
              <a:srgbClr val="CADCFC"/>
            </a:solidFill>
            <a:prstDash val="solid"/>
          </a:ln>
        </p:spPr>
        <p:txBody>
          <a:bodyPr/>
          <a:lstStyle/>
          <a:p>
            <a:endParaRPr lang="es-AR" noProof="0" dirty="0"/>
          </a:p>
        </p:txBody>
      </p:sp>
      <p:sp>
        <p:nvSpPr>
          <p:cNvPr id="8" name="Text 6"/>
          <p:cNvSpPr/>
          <p:nvPr/>
        </p:nvSpPr>
        <p:spPr>
          <a:xfrm>
            <a:off x="731520" y="2011680"/>
            <a:ext cx="5303520" cy="685800"/>
          </a:xfrm>
          <a:prstGeom prst="rect">
            <a:avLst/>
          </a:prstGeom>
          <a:noFill/>
          <a:ln/>
        </p:spPr>
        <p:txBody>
          <a:bodyPr wrap="square" rtlCol="0" anchor="ctr"/>
          <a:lstStyle/>
          <a:p>
            <a:pPr marL="0" indent="0">
              <a:buNone/>
            </a:pPr>
            <a:r>
              <a:rPr lang="es-AR" sz="1300" noProof="0" dirty="0">
                <a:solidFill>
                  <a:srgbClr val="1C1C2A"/>
                </a:solidFill>
                <a:latin typeface="Courier New" pitchFamily="34" charset="0"/>
                <a:ea typeface="Courier New" pitchFamily="34" charset="-122"/>
                <a:cs typeface="Courier New" pitchFamily="34" charset="-120"/>
              </a:rPr>
              <a:t>Dominio del TDA</a:t>
            </a:r>
            <a:endParaRPr lang="es-AR" sz="1300" noProof="0" dirty="0"/>
          </a:p>
        </p:txBody>
      </p:sp>
      <p:sp>
        <p:nvSpPr>
          <p:cNvPr id="9" name="Text 7"/>
          <p:cNvSpPr/>
          <p:nvPr/>
        </p:nvSpPr>
        <p:spPr>
          <a:xfrm>
            <a:off x="6126480" y="20116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Atributos privados de la clase</a:t>
            </a:r>
            <a:endParaRPr lang="es-AR" sz="1300" noProof="0" dirty="0"/>
          </a:p>
        </p:txBody>
      </p:sp>
      <p:sp>
        <p:nvSpPr>
          <p:cNvPr id="10" name="Shape 8"/>
          <p:cNvSpPr/>
          <p:nvPr/>
        </p:nvSpPr>
        <p:spPr>
          <a:xfrm>
            <a:off x="548640" y="2697480"/>
            <a:ext cx="11064240" cy="685800"/>
          </a:xfrm>
          <a:prstGeom prst="rect">
            <a:avLst/>
          </a:prstGeom>
          <a:solidFill>
            <a:srgbClr val="FFFFFF"/>
          </a:solidFill>
          <a:ln w="6350">
            <a:solidFill>
              <a:srgbClr val="CADCFC"/>
            </a:solidFill>
            <a:prstDash val="solid"/>
          </a:ln>
        </p:spPr>
        <p:txBody>
          <a:bodyPr/>
          <a:lstStyle/>
          <a:p>
            <a:endParaRPr lang="es-AR" noProof="0" dirty="0"/>
          </a:p>
        </p:txBody>
      </p:sp>
      <p:sp>
        <p:nvSpPr>
          <p:cNvPr id="11" name="Text 9"/>
          <p:cNvSpPr/>
          <p:nvPr/>
        </p:nvSpPr>
        <p:spPr>
          <a:xfrm>
            <a:off x="731520" y="2697480"/>
            <a:ext cx="5303520" cy="685800"/>
          </a:xfrm>
          <a:prstGeom prst="rect">
            <a:avLst/>
          </a:prstGeom>
          <a:noFill/>
          <a:ln/>
        </p:spPr>
        <p:txBody>
          <a:bodyPr wrap="square" rtlCol="0" anchor="ctr"/>
          <a:lstStyle/>
          <a:p>
            <a:pPr marL="0" indent="0">
              <a:buNone/>
            </a:pPr>
            <a:r>
              <a:rPr lang="es-AR" sz="1300" noProof="0" dirty="0">
                <a:solidFill>
                  <a:srgbClr val="1C1C2A"/>
                </a:solidFill>
                <a:latin typeface="Courier New" pitchFamily="34" charset="0"/>
                <a:ea typeface="Courier New" pitchFamily="34" charset="-122"/>
                <a:cs typeface="Courier New" pitchFamily="34" charset="-120"/>
              </a:rPr>
              <a:t>crear()</a:t>
            </a:r>
            <a:endParaRPr lang="es-AR" sz="1300" noProof="0" dirty="0"/>
          </a:p>
        </p:txBody>
      </p:sp>
      <p:sp>
        <p:nvSpPr>
          <p:cNvPr id="12" name="Text 10"/>
          <p:cNvSpPr/>
          <p:nvPr/>
        </p:nvSpPr>
        <p:spPr>
          <a:xfrm>
            <a:off x="6126480" y="26974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Constructor</a:t>
            </a:r>
            <a:endParaRPr lang="es-AR" sz="1300" noProof="0" dirty="0"/>
          </a:p>
        </p:txBody>
      </p:sp>
      <p:sp>
        <p:nvSpPr>
          <p:cNvPr id="13" name="Shape 11"/>
          <p:cNvSpPr/>
          <p:nvPr/>
        </p:nvSpPr>
        <p:spPr>
          <a:xfrm>
            <a:off x="548640" y="3383280"/>
            <a:ext cx="11064240" cy="685800"/>
          </a:xfrm>
          <a:prstGeom prst="rect">
            <a:avLst/>
          </a:prstGeom>
          <a:solidFill>
            <a:srgbClr val="F5F7FC"/>
          </a:solidFill>
          <a:ln w="6350">
            <a:solidFill>
              <a:srgbClr val="CADCFC"/>
            </a:solidFill>
            <a:prstDash val="solid"/>
          </a:ln>
        </p:spPr>
        <p:txBody>
          <a:bodyPr/>
          <a:lstStyle/>
          <a:p>
            <a:endParaRPr lang="es-AR" noProof="0" dirty="0"/>
          </a:p>
        </p:txBody>
      </p:sp>
      <p:sp>
        <p:nvSpPr>
          <p:cNvPr id="14" name="Text 12"/>
          <p:cNvSpPr/>
          <p:nvPr/>
        </p:nvSpPr>
        <p:spPr>
          <a:xfrm>
            <a:off x="731520" y="3383280"/>
            <a:ext cx="5303520" cy="685800"/>
          </a:xfrm>
          <a:prstGeom prst="rect">
            <a:avLst/>
          </a:prstGeom>
          <a:noFill/>
          <a:ln/>
        </p:spPr>
        <p:txBody>
          <a:bodyPr wrap="square" rtlCol="0" anchor="ctr"/>
          <a:lstStyle/>
          <a:p>
            <a:pPr marL="0" indent="0">
              <a:buNone/>
            </a:pPr>
            <a:r>
              <a:rPr lang="es-AR" sz="1300" noProof="0" dirty="0" err="1">
                <a:solidFill>
                  <a:srgbClr val="1C1C2A"/>
                </a:solidFill>
                <a:latin typeface="Courier New" pitchFamily="34" charset="0"/>
                <a:ea typeface="Courier New" pitchFamily="34" charset="-122"/>
                <a:cs typeface="Courier New" pitchFamily="34" charset="-120"/>
              </a:rPr>
              <a:t>operacion</a:t>
            </a:r>
            <a:r>
              <a:rPr lang="es-AR" sz="1300" noProof="0" dirty="0">
                <a:solidFill>
                  <a:srgbClr val="1C1C2A"/>
                </a:solidFill>
                <a:latin typeface="Courier New" pitchFamily="34" charset="0"/>
                <a:ea typeface="Courier New" pitchFamily="34" charset="-122"/>
                <a:cs typeface="Courier New" pitchFamily="34" charset="-120"/>
              </a:rPr>
              <a:t>(t: TDA, ...) -&gt; TDA</a:t>
            </a:r>
            <a:endParaRPr lang="es-AR" sz="1300" noProof="0" dirty="0"/>
          </a:p>
        </p:txBody>
      </p:sp>
      <p:sp>
        <p:nvSpPr>
          <p:cNvPr id="15" name="Text 13"/>
          <p:cNvSpPr/>
          <p:nvPr/>
        </p:nvSpPr>
        <p:spPr>
          <a:xfrm>
            <a:off x="6126480" y="33832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Método de instancia: </a:t>
            </a:r>
            <a:r>
              <a:rPr lang="es-AR" sz="1300" b="1" noProof="0" dirty="0" err="1">
                <a:solidFill>
                  <a:srgbClr val="1E2761"/>
                </a:solidFill>
                <a:latin typeface="Courier New" pitchFamily="34" charset="0"/>
                <a:ea typeface="Courier New" pitchFamily="34" charset="-122"/>
                <a:cs typeface="Courier New" pitchFamily="34" charset="-120"/>
              </a:rPr>
              <a:t>t.operacion</a:t>
            </a:r>
            <a:r>
              <a:rPr lang="es-AR" sz="1300" b="1" noProof="0" dirty="0">
                <a:solidFill>
                  <a:srgbClr val="1E2761"/>
                </a:solidFill>
                <a:latin typeface="Courier New" pitchFamily="34" charset="0"/>
                <a:ea typeface="Courier New" pitchFamily="34" charset="-122"/>
                <a:cs typeface="Courier New" pitchFamily="34" charset="-120"/>
              </a:rPr>
              <a:t>(...)</a:t>
            </a:r>
            <a:endParaRPr lang="es-AR" sz="1300" noProof="0" dirty="0"/>
          </a:p>
        </p:txBody>
      </p:sp>
      <p:sp>
        <p:nvSpPr>
          <p:cNvPr id="16" name="Shape 14"/>
          <p:cNvSpPr/>
          <p:nvPr/>
        </p:nvSpPr>
        <p:spPr>
          <a:xfrm>
            <a:off x="548640" y="4069080"/>
            <a:ext cx="11064240" cy="685800"/>
          </a:xfrm>
          <a:prstGeom prst="rect">
            <a:avLst/>
          </a:prstGeom>
          <a:solidFill>
            <a:srgbClr val="FFFFFF"/>
          </a:solidFill>
          <a:ln w="6350">
            <a:solidFill>
              <a:srgbClr val="CADCFC"/>
            </a:solidFill>
            <a:prstDash val="solid"/>
          </a:ln>
        </p:spPr>
        <p:txBody>
          <a:bodyPr/>
          <a:lstStyle/>
          <a:p>
            <a:endParaRPr lang="es-AR" noProof="0" dirty="0"/>
          </a:p>
        </p:txBody>
      </p:sp>
      <p:sp>
        <p:nvSpPr>
          <p:cNvPr id="17" name="Text 15"/>
          <p:cNvSpPr/>
          <p:nvPr/>
        </p:nvSpPr>
        <p:spPr>
          <a:xfrm>
            <a:off x="731520" y="4069080"/>
            <a:ext cx="5303520" cy="685800"/>
          </a:xfrm>
          <a:prstGeom prst="rect">
            <a:avLst/>
          </a:prstGeom>
          <a:noFill/>
          <a:ln/>
        </p:spPr>
        <p:txBody>
          <a:bodyPr wrap="square" rtlCol="0" anchor="ctr"/>
          <a:lstStyle/>
          <a:p>
            <a:pPr marL="0" indent="0">
              <a:buNone/>
            </a:pPr>
            <a:r>
              <a:rPr lang="es-AR" sz="1300" noProof="0" dirty="0">
                <a:solidFill>
                  <a:srgbClr val="1C1C2A"/>
                </a:solidFill>
                <a:latin typeface="Courier New" pitchFamily="34" charset="0"/>
                <a:ea typeface="Courier New" pitchFamily="34" charset="-122"/>
                <a:cs typeface="Courier New" pitchFamily="34" charset="-120"/>
              </a:rPr>
              <a:t>pre: condición</a:t>
            </a:r>
            <a:endParaRPr lang="es-AR" sz="1300" noProof="0" dirty="0"/>
          </a:p>
        </p:txBody>
      </p:sp>
      <p:sp>
        <p:nvSpPr>
          <p:cNvPr id="18" name="Text 16"/>
          <p:cNvSpPr/>
          <p:nvPr/>
        </p:nvSpPr>
        <p:spPr>
          <a:xfrm>
            <a:off x="6126480" y="40690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Validación al inicio del método (</a:t>
            </a:r>
            <a:r>
              <a:rPr lang="es-AR" sz="1300" b="1" noProof="0" dirty="0" err="1">
                <a:solidFill>
                  <a:srgbClr val="1E2761"/>
                </a:solidFill>
                <a:latin typeface="Courier New" pitchFamily="34" charset="0"/>
                <a:ea typeface="Courier New" pitchFamily="34" charset="-122"/>
                <a:cs typeface="Courier New" pitchFamily="34" charset="-120"/>
              </a:rPr>
              <a:t>if</a:t>
            </a:r>
            <a:r>
              <a:rPr lang="es-AR" sz="1300" b="1" noProof="0" dirty="0">
                <a:solidFill>
                  <a:srgbClr val="1E2761"/>
                </a:solidFill>
                <a:latin typeface="Courier New" pitchFamily="34" charset="0"/>
                <a:ea typeface="Courier New" pitchFamily="34" charset="-122"/>
                <a:cs typeface="Courier New" pitchFamily="34" charset="-120"/>
              </a:rPr>
              <a:t> / excepción)</a:t>
            </a:r>
            <a:endParaRPr lang="es-AR" sz="1300" noProof="0" dirty="0"/>
          </a:p>
        </p:txBody>
      </p:sp>
      <p:sp>
        <p:nvSpPr>
          <p:cNvPr id="19" name="Shape 17"/>
          <p:cNvSpPr/>
          <p:nvPr/>
        </p:nvSpPr>
        <p:spPr>
          <a:xfrm>
            <a:off x="548640" y="4754880"/>
            <a:ext cx="11064240" cy="685800"/>
          </a:xfrm>
          <a:prstGeom prst="rect">
            <a:avLst/>
          </a:prstGeom>
          <a:solidFill>
            <a:srgbClr val="F5F7FC"/>
          </a:solidFill>
          <a:ln w="6350">
            <a:solidFill>
              <a:srgbClr val="CADCFC"/>
            </a:solidFill>
            <a:prstDash val="solid"/>
          </a:ln>
        </p:spPr>
        <p:txBody>
          <a:bodyPr/>
          <a:lstStyle/>
          <a:p>
            <a:endParaRPr lang="es-AR" noProof="0" dirty="0"/>
          </a:p>
        </p:txBody>
      </p:sp>
      <p:sp>
        <p:nvSpPr>
          <p:cNvPr id="20" name="Text 18"/>
          <p:cNvSpPr/>
          <p:nvPr/>
        </p:nvSpPr>
        <p:spPr>
          <a:xfrm>
            <a:off x="731520" y="4754880"/>
            <a:ext cx="5303520" cy="685800"/>
          </a:xfrm>
          <a:prstGeom prst="rect">
            <a:avLst/>
          </a:prstGeom>
          <a:noFill/>
          <a:ln/>
        </p:spPr>
        <p:txBody>
          <a:bodyPr wrap="square" rtlCol="0" anchor="ctr"/>
          <a:lstStyle/>
          <a:p>
            <a:pPr marL="0" indent="0">
              <a:buNone/>
            </a:pPr>
            <a:r>
              <a:rPr lang="es-AR" sz="1300" noProof="0" dirty="0">
                <a:solidFill>
                  <a:srgbClr val="1C1C2A"/>
                </a:solidFill>
                <a:latin typeface="Courier New" pitchFamily="34" charset="0"/>
                <a:ea typeface="Courier New" pitchFamily="34" charset="-122"/>
                <a:cs typeface="Courier New" pitchFamily="34" charset="-120"/>
              </a:rPr>
              <a:t>post: condición</a:t>
            </a:r>
            <a:endParaRPr lang="es-AR" sz="1300" noProof="0" dirty="0"/>
          </a:p>
        </p:txBody>
      </p:sp>
      <p:sp>
        <p:nvSpPr>
          <p:cNvPr id="21" name="Text 19"/>
          <p:cNvSpPr/>
          <p:nvPr/>
        </p:nvSpPr>
        <p:spPr>
          <a:xfrm>
            <a:off x="6126480" y="4754880"/>
            <a:ext cx="5303520" cy="685800"/>
          </a:xfrm>
          <a:prstGeom prst="rect">
            <a:avLst/>
          </a:prstGeom>
          <a:noFill/>
          <a:ln/>
        </p:spPr>
        <p:txBody>
          <a:bodyPr wrap="square" rtlCol="0" anchor="ctr"/>
          <a:lstStyle/>
          <a:p>
            <a:pPr marL="0" indent="0">
              <a:buNone/>
            </a:pPr>
            <a:r>
              <a:rPr lang="es-AR" sz="1300" b="1" noProof="0" dirty="0">
                <a:solidFill>
                  <a:srgbClr val="1E2761"/>
                </a:solidFill>
                <a:latin typeface="Courier New" pitchFamily="34" charset="0"/>
                <a:ea typeface="Courier New" pitchFamily="34" charset="-122"/>
                <a:cs typeface="Courier New" pitchFamily="34" charset="-120"/>
              </a:rPr>
              <a:t>Lo que el cuerpo del método garantiza al terminar</a:t>
            </a:r>
            <a:endParaRPr lang="es-AR" sz="1300" noProof="0" dirty="0"/>
          </a:p>
        </p:txBody>
      </p:sp>
      <p:sp>
        <p:nvSpPr>
          <p:cNvPr id="22" name="Text 20"/>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3" name="Text 21"/>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24</a:t>
            </a:r>
            <a:endParaRPr lang="es-AR" sz="1000"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8E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E8A33D"/>
          </a:solidFill>
          <a:ln/>
        </p:spPr>
        <p:txBody>
          <a:bodyPr/>
          <a:lstStyle/>
          <a:p>
            <a:endParaRPr lang="es-AR" noProof="0" dirty="0"/>
          </a:p>
        </p:txBody>
      </p:sp>
      <p:sp>
        <p:nvSpPr>
          <p:cNvPr id="3" name="Text 1"/>
          <p:cNvSpPr/>
          <p:nvPr/>
        </p:nvSpPr>
        <p:spPr>
          <a:xfrm>
            <a:off x="548640" y="228600"/>
            <a:ext cx="7315200" cy="365760"/>
          </a:xfrm>
          <a:prstGeom prst="rect">
            <a:avLst/>
          </a:prstGeom>
          <a:noFill/>
          <a:ln/>
        </p:spPr>
        <p:txBody>
          <a:bodyPr wrap="square" rtlCol="0" anchor="ctr"/>
          <a:lstStyle/>
          <a:p>
            <a:pPr marL="0" indent="0">
              <a:buNone/>
            </a:pPr>
            <a:r>
              <a:rPr lang="es-AR" sz="1400" b="1" kern="0" spc="200" noProof="0" dirty="0">
                <a:solidFill>
                  <a:srgbClr val="FFFFFF"/>
                </a:solidFill>
                <a:latin typeface="Calibri" pitchFamily="34" charset="0"/>
                <a:ea typeface="Calibri" pitchFamily="34" charset="-122"/>
                <a:cs typeface="Calibri" pitchFamily="34" charset="-120"/>
              </a:rPr>
              <a:t>EJERCICIO 3 (integrador)</a:t>
            </a:r>
            <a:endParaRPr lang="es-AR" sz="1400" noProof="0" dirty="0"/>
          </a:p>
        </p:txBody>
      </p:sp>
      <p:sp>
        <p:nvSpPr>
          <p:cNvPr id="4" name="Text 2"/>
          <p:cNvSpPr/>
          <p:nvPr/>
        </p:nvSpPr>
        <p:spPr>
          <a:xfrm>
            <a:off x="548640" y="548640"/>
            <a:ext cx="8229600" cy="548640"/>
          </a:xfrm>
          <a:prstGeom prst="rect">
            <a:avLst/>
          </a:prstGeom>
          <a:noFill/>
          <a:ln/>
        </p:spPr>
        <p:txBody>
          <a:bodyPr wrap="square" rtlCol="0" anchor="ctr"/>
          <a:lstStyle/>
          <a:p>
            <a:pPr marL="0" indent="0">
              <a:buNone/>
            </a:pPr>
            <a:r>
              <a:rPr lang="es-AR" sz="2400" b="1" noProof="0" dirty="0">
                <a:solidFill>
                  <a:srgbClr val="FFFFFF"/>
                </a:solidFill>
                <a:latin typeface="Cambria" pitchFamily="34" charset="0"/>
                <a:ea typeface="Cambria" pitchFamily="34" charset="-122"/>
                <a:cs typeface="Cambria" pitchFamily="34" charset="-120"/>
              </a:rPr>
              <a:t>Especificar el TDA Conjunto</a:t>
            </a:r>
            <a:endParaRPr lang="es-AR" sz="2400" noProof="0" dirty="0"/>
          </a:p>
        </p:txBody>
      </p:sp>
      <p:sp>
        <p:nvSpPr>
          <p:cNvPr id="5" name="Shape 3"/>
          <p:cNvSpPr/>
          <p:nvPr/>
        </p:nvSpPr>
        <p:spPr>
          <a:xfrm>
            <a:off x="10332720" y="320040"/>
            <a:ext cx="1280160" cy="365760"/>
          </a:xfrm>
          <a:prstGeom prst="roundRect">
            <a:avLst>
              <a:gd name="adj" fmla="val 50000"/>
            </a:avLst>
          </a:prstGeom>
          <a:solidFill>
            <a:srgbClr val="1E2761"/>
          </a:solidFill>
          <a:ln/>
        </p:spPr>
        <p:txBody>
          <a:bodyPr/>
          <a:lstStyle/>
          <a:p>
            <a:endParaRPr lang="es-AR" noProof="0" dirty="0"/>
          </a:p>
        </p:txBody>
      </p:sp>
      <p:sp>
        <p:nvSpPr>
          <p:cNvPr id="6" name="Text 4"/>
          <p:cNvSpPr/>
          <p:nvPr/>
        </p:nvSpPr>
        <p:spPr>
          <a:xfrm>
            <a:off x="10332720" y="320040"/>
            <a:ext cx="128016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20 min</a:t>
            </a:r>
            <a:endParaRPr lang="es-AR" sz="1200" noProof="0" dirty="0"/>
          </a:p>
        </p:txBody>
      </p:sp>
      <p:sp>
        <p:nvSpPr>
          <p:cNvPr id="7" name="Shape 5"/>
          <p:cNvSpPr/>
          <p:nvPr/>
        </p:nvSpPr>
        <p:spPr>
          <a:xfrm>
            <a:off x="548640" y="1463040"/>
            <a:ext cx="11064240" cy="1005840"/>
          </a:xfrm>
          <a:prstGeom prst="roundRect">
            <a:avLst>
              <a:gd name="adj" fmla="val 9091"/>
            </a:avLst>
          </a:prstGeom>
          <a:solidFill>
            <a:srgbClr val="FFFFFF"/>
          </a:solidFill>
          <a:ln w="19050">
            <a:solidFill>
              <a:srgbClr val="E8A33D"/>
            </a:solidFill>
            <a:prstDash val="solid"/>
          </a:ln>
        </p:spPr>
        <p:txBody>
          <a:bodyPr/>
          <a:lstStyle/>
          <a:p>
            <a:endParaRPr lang="es-AR" noProof="0" dirty="0"/>
          </a:p>
        </p:txBody>
      </p:sp>
      <p:sp>
        <p:nvSpPr>
          <p:cNvPr id="8" name="Text 6"/>
          <p:cNvSpPr/>
          <p:nvPr/>
        </p:nvSpPr>
        <p:spPr>
          <a:xfrm>
            <a:off x="822960" y="1600200"/>
            <a:ext cx="10515600" cy="777240"/>
          </a:xfrm>
          <a:prstGeom prst="rect">
            <a:avLst/>
          </a:prstGeom>
          <a:noFill/>
          <a:ln/>
        </p:spPr>
        <p:txBody>
          <a:bodyPr wrap="square" rtlCol="0" anchor="ctr"/>
          <a:lstStyle/>
          <a:p>
            <a:pPr marL="0" indent="0">
              <a:buNone/>
            </a:pPr>
            <a:r>
              <a:rPr lang="es-AR" sz="1450" noProof="0" dirty="0">
                <a:solidFill>
                  <a:srgbClr val="1C1C2A"/>
                </a:solidFill>
                <a:latin typeface="Calibri" pitchFamily="34" charset="0"/>
                <a:ea typeface="Calibri" pitchFamily="34" charset="-122"/>
                <a:cs typeface="Calibri" pitchFamily="34" charset="-120"/>
              </a:rPr>
              <a:t>En los mismos grupos del Ejercicio 1: escriban la especificación formal del TDA Conjunto y esbocen (solo firmas, sin cuerpo) la clase Java correspondiente.</a:t>
            </a:r>
            <a:endParaRPr lang="es-AR" sz="1450" noProof="0" dirty="0"/>
          </a:p>
        </p:txBody>
      </p:sp>
      <p:sp>
        <p:nvSpPr>
          <p:cNvPr id="9" name="Shape 7"/>
          <p:cNvSpPr/>
          <p:nvPr/>
        </p:nvSpPr>
        <p:spPr>
          <a:xfrm>
            <a:off x="640080" y="2834640"/>
            <a:ext cx="128016" cy="128016"/>
          </a:xfrm>
          <a:prstGeom prst="ellipse">
            <a:avLst/>
          </a:prstGeom>
          <a:solidFill>
            <a:srgbClr val="E8A33D"/>
          </a:solidFill>
          <a:ln/>
        </p:spPr>
        <p:txBody>
          <a:bodyPr/>
          <a:lstStyle/>
          <a:p>
            <a:endParaRPr lang="es-AR" noProof="0" dirty="0"/>
          </a:p>
        </p:txBody>
      </p:sp>
      <p:sp>
        <p:nvSpPr>
          <p:cNvPr id="10" name="Text 8"/>
          <p:cNvSpPr/>
          <p:nvPr/>
        </p:nvSpPr>
        <p:spPr>
          <a:xfrm>
            <a:off x="914400" y="274320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Especificar: crear, pertenece, agregar, eliminar, </a:t>
            </a:r>
            <a:r>
              <a:rPr lang="es-AR" sz="1350" noProof="0" dirty="0" err="1">
                <a:solidFill>
                  <a:srgbClr val="1C1C2A"/>
                </a:solidFill>
                <a:latin typeface="Calibri" pitchFamily="34" charset="0"/>
                <a:ea typeface="Calibri" pitchFamily="34" charset="-122"/>
                <a:cs typeface="Calibri" pitchFamily="34" charset="-120"/>
              </a:rPr>
              <a:t>esVacio</a:t>
            </a:r>
            <a:r>
              <a:rPr lang="es-AR" sz="1350" noProof="0" dirty="0">
                <a:solidFill>
                  <a:srgbClr val="1C1C2A"/>
                </a:solidFill>
                <a:latin typeface="Calibri" pitchFamily="34" charset="0"/>
                <a:ea typeface="Calibri" pitchFamily="34" charset="-122"/>
                <a:cs typeface="Calibri" pitchFamily="34" charset="-120"/>
              </a:rPr>
              <a:t> (dominio + pre/post de cada una).</a:t>
            </a:r>
            <a:endParaRPr lang="es-AR" sz="1350" noProof="0" dirty="0"/>
          </a:p>
        </p:txBody>
      </p:sp>
      <p:sp>
        <p:nvSpPr>
          <p:cNvPr id="11" name="Shape 9"/>
          <p:cNvSpPr/>
          <p:nvPr/>
        </p:nvSpPr>
        <p:spPr>
          <a:xfrm>
            <a:off x="640080" y="3337560"/>
            <a:ext cx="128016" cy="128016"/>
          </a:xfrm>
          <a:prstGeom prst="ellipse">
            <a:avLst/>
          </a:prstGeom>
          <a:solidFill>
            <a:srgbClr val="E8A33D"/>
          </a:solidFill>
          <a:ln/>
        </p:spPr>
        <p:txBody>
          <a:bodyPr/>
          <a:lstStyle/>
          <a:p>
            <a:endParaRPr lang="es-AR" noProof="0" dirty="0"/>
          </a:p>
        </p:txBody>
      </p:sp>
      <p:sp>
        <p:nvSpPr>
          <p:cNvPr id="12" name="Text 10"/>
          <p:cNvSpPr/>
          <p:nvPr/>
        </p:nvSpPr>
        <p:spPr>
          <a:xfrm>
            <a:off x="914400" y="324612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Traducir cada operación a la firma de un método Java, siguiendo la tabla de la </a:t>
            </a:r>
            <a:r>
              <a:rPr lang="es-AR" sz="1350" noProof="0" dirty="0" err="1">
                <a:solidFill>
                  <a:srgbClr val="1C1C2A"/>
                </a:solidFill>
                <a:latin typeface="Calibri" pitchFamily="34" charset="0"/>
                <a:ea typeface="Calibri" pitchFamily="34" charset="-122"/>
                <a:cs typeface="Calibri" pitchFamily="34" charset="-120"/>
              </a:rPr>
              <a:t>slide</a:t>
            </a:r>
            <a:r>
              <a:rPr lang="es-AR" sz="1350" noProof="0" dirty="0">
                <a:solidFill>
                  <a:srgbClr val="1C1C2A"/>
                </a:solidFill>
                <a:latin typeface="Calibri" pitchFamily="34" charset="0"/>
                <a:ea typeface="Calibri" pitchFamily="34" charset="-122"/>
                <a:cs typeface="Calibri" pitchFamily="34" charset="-120"/>
              </a:rPr>
              <a:t> anterior.</a:t>
            </a:r>
            <a:endParaRPr lang="es-AR" sz="1350" noProof="0" dirty="0"/>
          </a:p>
        </p:txBody>
      </p:sp>
      <p:sp>
        <p:nvSpPr>
          <p:cNvPr id="13" name="Shape 11"/>
          <p:cNvSpPr/>
          <p:nvPr/>
        </p:nvSpPr>
        <p:spPr>
          <a:xfrm>
            <a:off x="640080" y="3840480"/>
            <a:ext cx="128016" cy="128016"/>
          </a:xfrm>
          <a:prstGeom prst="ellipse">
            <a:avLst/>
          </a:prstGeom>
          <a:solidFill>
            <a:srgbClr val="E8A33D"/>
          </a:solidFill>
          <a:ln/>
        </p:spPr>
        <p:txBody>
          <a:bodyPr/>
          <a:lstStyle/>
          <a:p>
            <a:endParaRPr lang="es-AR" noProof="0" dirty="0"/>
          </a:p>
        </p:txBody>
      </p:sp>
      <p:sp>
        <p:nvSpPr>
          <p:cNvPr id="14" name="Text 12"/>
          <p:cNvSpPr/>
          <p:nvPr/>
        </p:nvSpPr>
        <p:spPr>
          <a:xfrm>
            <a:off x="914400" y="374904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Pensar: ¿qué atributo(s) privados necesitaría la clase para representar el conjunto?</a:t>
            </a:r>
            <a:endParaRPr lang="es-AR" sz="1350" noProof="0" dirty="0"/>
          </a:p>
        </p:txBody>
      </p:sp>
      <p:sp>
        <p:nvSpPr>
          <p:cNvPr id="15" name="Shape 13"/>
          <p:cNvSpPr/>
          <p:nvPr/>
        </p:nvSpPr>
        <p:spPr>
          <a:xfrm>
            <a:off x="640080" y="4343400"/>
            <a:ext cx="128016" cy="128016"/>
          </a:xfrm>
          <a:prstGeom prst="ellipse">
            <a:avLst/>
          </a:prstGeom>
          <a:solidFill>
            <a:srgbClr val="E8A33D"/>
          </a:solidFill>
          <a:ln/>
        </p:spPr>
        <p:txBody>
          <a:bodyPr/>
          <a:lstStyle/>
          <a:p>
            <a:endParaRPr lang="es-AR" noProof="0" dirty="0"/>
          </a:p>
        </p:txBody>
      </p:sp>
      <p:sp>
        <p:nvSpPr>
          <p:cNvPr id="16" name="Text 14"/>
          <p:cNvSpPr/>
          <p:nvPr/>
        </p:nvSpPr>
        <p:spPr>
          <a:xfrm>
            <a:off x="914400" y="4251960"/>
            <a:ext cx="10607040" cy="457200"/>
          </a:xfrm>
          <a:prstGeom prst="rect">
            <a:avLst/>
          </a:prstGeom>
          <a:noFill/>
          <a:ln/>
        </p:spPr>
        <p:txBody>
          <a:bodyPr wrap="square" rtlCol="0" anchor="ctr"/>
          <a:lstStyle/>
          <a:p>
            <a:pPr marL="0" indent="0">
              <a:buNone/>
            </a:pPr>
            <a:r>
              <a:rPr lang="es-AR" sz="1350" noProof="0" dirty="0">
                <a:solidFill>
                  <a:srgbClr val="1C1C2A"/>
                </a:solidFill>
                <a:latin typeface="Calibri" pitchFamily="34" charset="0"/>
                <a:ea typeface="Calibri" pitchFamily="34" charset="-122"/>
                <a:cs typeface="Calibri" pitchFamily="34" charset="-120"/>
              </a:rPr>
              <a:t>Este ejercicio es la base directa de lo que van a programar completo en la Clase 3.</a:t>
            </a:r>
            <a:endParaRPr lang="es-AR" sz="1350" noProof="0" dirty="0"/>
          </a:p>
        </p:txBody>
      </p:sp>
      <p:sp>
        <p:nvSpPr>
          <p:cNvPr id="17" name="Shape 15"/>
          <p:cNvSpPr/>
          <p:nvPr/>
        </p:nvSpPr>
        <p:spPr>
          <a:xfrm>
            <a:off x="548640" y="5623560"/>
            <a:ext cx="11064240" cy="640080"/>
          </a:xfrm>
          <a:prstGeom prst="roundRect">
            <a:avLst>
              <a:gd name="adj" fmla="val 11429"/>
            </a:avLst>
          </a:prstGeom>
          <a:solidFill>
            <a:srgbClr val="F5F7FC"/>
          </a:solidFill>
          <a:ln w="12700">
            <a:solidFill>
              <a:srgbClr val="CADCFC"/>
            </a:solidFill>
            <a:prstDash val="solid"/>
          </a:ln>
        </p:spPr>
        <p:txBody>
          <a:bodyPr/>
          <a:lstStyle/>
          <a:p>
            <a:endParaRPr lang="es-AR" noProof="0" dirty="0"/>
          </a:p>
        </p:txBody>
      </p:sp>
      <p:sp>
        <p:nvSpPr>
          <p:cNvPr id="18" name="Text 16"/>
          <p:cNvSpPr/>
          <p:nvPr/>
        </p:nvSpPr>
        <p:spPr>
          <a:xfrm>
            <a:off x="777240" y="5623560"/>
            <a:ext cx="10607040" cy="640080"/>
          </a:xfrm>
          <a:prstGeom prst="rect">
            <a:avLst/>
          </a:prstGeom>
          <a:noFill/>
          <a:ln/>
        </p:spPr>
        <p:txBody>
          <a:bodyPr wrap="square" rtlCol="0" anchor="ctr"/>
          <a:lstStyle/>
          <a:p>
            <a:pPr marL="0" indent="0">
              <a:buNone/>
            </a:pPr>
            <a:r>
              <a:rPr lang="es-AR" sz="1200" i="1" noProof="0" dirty="0">
                <a:solidFill>
                  <a:srgbClr val="5B6472"/>
                </a:solidFill>
                <a:latin typeface="Calibri" pitchFamily="34" charset="0"/>
                <a:ea typeface="Calibri" pitchFamily="34" charset="-122"/>
                <a:cs typeface="Calibri" pitchFamily="34" charset="-120"/>
              </a:rPr>
              <a:t>Entregable: Subir el código por grupo con la especificación + las firmas Java, para repasar al inicio de la Clase 2.</a:t>
            </a:r>
            <a:endParaRPr lang="es-AR" sz="1200" noProof="0" dirty="0"/>
          </a:p>
        </p:txBody>
      </p:sp>
      <p:sp>
        <p:nvSpPr>
          <p:cNvPr id="19" name="Text 1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25</a:t>
            </a:r>
            <a:endParaRPr lang="es-AR" sz="1000"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kern="0" spc="200" noProof="0" dirty="0">
                <a:solidFill>
                  <a:srgbClr val="E8A33D"/>
                </a:solidFill>
                <a:latin typeface="Calibri" pitchFamily="34" charset="0"/>
                <a:ea typeface="Calibri" pitchFamily="34" charset="-122"/>
                <a:cs typeface="Calibri" pitchFamily="34" charset="-120"/>
              </a:rPr>
              <a:t>BLOQUE 12</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Resumen de la clase</a:t>
            </a:r>
            <a:endParaRPr lang="es-AR" sz="3000" noProof="0" dirty="0"/>
          </a:p>
        </p:txBody>
      </p:sp>
      <p:sp>
        <p:nvSpPr>
          <p:cNvPr id="4" name="Shape 2"/>
          <p:cNvSpPr/>
          <p:nvPr/>
        </p:nvSpPr>
        <p:spPr>
          <a:xfrm>
            <a:off x="640080" y="1691640"/>
            <a:ext cx="457200" cy="457200"/>
          </a:xfrm>
          <a:prstGeom prst="ellipse">
            <a:avLst/>
          </a:prstGeom>
          <a:solidFill>
            <a:srgbClr val="1E2761"/>
          </a:solidFill>
          <a:ln/>
        </p:spPr>
        <p:txBody>
          <a:bodyPr/>
          <a:lstStyle/>
          <a:p>
            <a:endParaRPr lang="es-AR" noProof="0" dirty="0"/>
          </a:p>
        </p:txBody>
      </p:sp>
      <p:sp>
        <p:nvSpPr>
          <p:cNvPr id="5" name="Text 3"/>
          <p:cNvSpPr/>
          <p:nvPr/>
        </p:nvSpPr>
        <p:spPr>
          <a:xfrm>
            <a:off x="640080" y="1691640"/>
            <a:ext cx="457200" cy="45720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1</a:t>
            </a:r>
            <a:endParaRPr lang="es-AR" sz="1500" noProof="0" dirty="0"/>
          </a:p>
        </p:txBody>
      </p:sp>
      <p:sp>
        <p:nvSpPr>
          <p:cNvPr id="6" name="Text 4"/>
          <p:cNvSpPr/>
          <p:nvPr/>
        </p:nvSpPr>
        <p:spPr>
          <a:xfrm>
            <a:off x="1280160" y="1645920"/>
            <a:ext cx="10241280" cy="594360"/>
          </a:xfrm>
          <a:prstGeom prst="rect">
            <a:avLst/>
          </a:prstGeom>
          <a:noFill/>
          <a:ln/>
        </p:spPr>
        <p:txBody>
          <a:bodyPr wrap="square" rtlCol="0" anchor="ctr"/>
          <a:lstStyle/>
          <a:p>
            <a:pPr marL="0" indent="0">
              <a:buNone/>
            </a:pPr>
            <a:r>
              <a:rPr lang="es-AR" sz="1500" noProof="0" dirty="0">
                <a:solidFill>
                  <a:srgbClr val="1C1C2A"/>
                </a:solidFill>
                <a:latin typeface="Calibri" pitchFamily="34" charset="0"/>
                <a:ea typeface="Calibri" pitchFamily="34" charset="-122"/>
                <a:cs typeface="Calibri" pitchFamily="34" charset="-120"/>
              </a:rPr>
              <a:t>Un TDA separa QUÉ hace una estructura (especificación) de CÓMO lo hace (implementación).</a:t>
            </a:r>
            <a:endParaRPr lang="es-AR" sz="1500" noProof="0" dirty="0"/>
          </a:p>
        </p:txBody>
      </p:sp>
      <p:sp>
        <p:nvSpPr>
          <p:cNvPr id="7" name="Shape 5"/>
          <p:cNvSpPr/>
          <p:nvPr/>
        </p:nvSpPr>
        <p:spPr>
          <a:xfrm>
            <a:off x="640080" y="2514600"/>
            <a:ext cx="457200" cy="457200"/>
          </a:xfrm>
          <a:prstGeom prst="ellipse">
            <a:avLst/>
          </a:prstGeom>
          <a:solidFill>
            <a:srgbClr val="1E2761"/>
          </a:solidFill>
          <a:ln/>
        </p:spPr>
        <p:txBody>
          <a:bodyPr/>
          <a:lstStyle/>
          <a:p>
            <a:endParaRPr lang="es-AR" noProof="0" dirty="0"/>
          </a:p>
        </p:txBody>
      </p:sp>
      <p:sp>
        <p:nvSpPr>
          <p:cNvPr id="8" name="Text 6"/>
          <p:cNvSpPr/>
          <p:nvPr/>
        </p:nvSpPr>
        <p:spPr>
          <a:xfrm>
            <a:off x="640080" y="2514600"/>
            <a:ext cx="457200" cy="45720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2</a:t>
            </a:r>
            <a:endParaRPr lang="es-AR" sz="1500" noProof="0" dirty="0"/>
          </a:p>
        </p:txBody>
      </p:sp>
      <p:sp>
        <p:nvSpPr>
          <p:cNvPr id="9" name="Text 7"/>
          <p:cNvSpPr/>
          <p:nvPr/>
        </p:nvSpPr>
        <p:spPr>
          <a:xfrm>
            <a:off x="1280160" y="2468880"/>
            <a:ext cx="10241280" cy="594360"/>
          </a:xfrm>
          <a:prstGeom prst="rect">
            <a:avLst/>
          </a:prstGeom>
          <a:noFill/>
          <a:ln/>
        </p:spPr>
        <p:txBody>
          <a:bodyPr wrap="square" rtlCol="0" anchor="ctr"/>
          <a:lstStyle/>
          <a:p>
            <a:pPr marL="0" indent="0">
              <a:buNone/>
            </a:pPr>
            <a:r>
              <a:rPr lang="es-AR" sz="1500" noProof="0" dirty="0">
                <a:solidFill>
                  <a:srgbClr val="1C1C2A"/>
                </a:solidFill>
                <a:latin typeface="Calibri" pitchFamily="34" charset="0"/>
                <a:ea typeface="Calibri" pitchFamily="34" charset="-122"/>
                <a:cs typeface="Calibri" pitchFamily="34" charset="-120"/>
              </a:rPr>
              <a:t>Todo TDA se especifica con: dominio, operaciones, precondiciones y postcondiciones.</a:t>
            </a:r>
            <a:endParaRPr lang="es-AR" sz="1500" noProof="0" dirty="0"/>
          </a:p>
        </p:txBody>
      </p:sp>
      <p:sp>
        <p:nvSpPr>
          <p:cNvPr id="10" name="Shape 8"/>
          <p:cNvSpPr/>
          <p:nvPr/>
        </p:nvSpPr>
        <p:spPr>
          <a:xfrm>
            <a:off x="640080" y="3337560"/>
            <a:ext cx="457200" cy="457200"/>
          </a:xfrm>
          <a:prstGeom prst="ellipse">
            <a:avLst/>
          </a:prstGeom>
          <a:solidFill>
            <a:srgbClr val="1E2761"/>
          </a:solidFill>
          <a:ln/>
        </p:spPr>
        <p:txBody>
          <a:bodyPr/>
          <a:lstStyle/>
          <a:p>
            <a:endParaRPr lang="es-AR" noProof="0" dirty="0"/>
          </a:p>
        </p:txBody>
      </p:sp>
      <p:sp>
        <p:nvSpPr>
          <p:cNvPr id="11" name="Text 9"/>
          <p:cNvSpPr/>
          <p:nvPr/>
        </p:nvSpPr>
        <p:spPr>
          <a:xfrm>
            <a:off x="640080" y="3337560"/>
            <a:ext cx="457200" cy="45720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3</a:t>
            </a:r>
            <a:endParaRPr lang="es-AR" sz="1500" noProof="0" dirty="0"/>
          </a:p>
        </p:txBody>
      </p:sp>
      <p:sp>
        <p:nvSpPr>
          <p:cNvPr id="12" name="Text 10"/>
          <p:cNvSpPr/>
          <p:nvPr/>
        </p:nvSpPr>
        <p:spPr>
          <a:xfrm>
            <a:off x="1280160" y="3291840"/>
            <a:ext cx="10241280" cy="594360"/>
          </a:xfrm>
          <a:prstGeom prst="rect">
            <a:avLst/>
          </a:prstGeom>
          <a:noFill/>
          <a:ln/>
        </p:spPr>
        <p:txBody>
          <a:bodyPr wrap="square" rtlCol="0" anchor="ctr"/>
          <a:lstStyle/>
          <a:p>
            <a:pPr marL="0" indent="0">
              <a:buNone/>
            </a:pPr>
            <a:r>
              <a:rPr lang="es-AR" sz="1500" noProof="0" dirty="0">
                <a:solidFill>
                  <a:srgbClr val="1C1C2A"/>
                </a:solidFill>
                <a:latin typeface="Calibri" pitchFamily="34" charset="0"/>
                <a:ea typeface="Calibri" pitchFamily="34" charset="-122"/>
                <a:cs typeface="Calibri" pitchFamily="34" charset="-120"/>
              </a:rPr>
              <a:t>Vamos a trabajar con Pila, Cola, Cola con Prioridad, Conjunto y Diccionario durante el cuatrimestre.</a:t>
            </a:r>
            <a:endParaRPr lang="es-AR" sz="1500" noProof="0" dirty="0"/>
          </a:p>
        </p:txBody>
      </p:sp>
      <p:sp>
        <p:nvSpPr>
          <p:cNvPr id="13" name="Shape 11"/>
          <p:cNvSpPr/>
          <p:nvPr/>
        </p:nvSpPr>
        <p:spPr>
          <a:xfrm>
            <a:off x="640080" y="4160520"/>
            <a:ext cx="457200" cy="457200"/>
          </a:xfrm>
          <a:prstGeom prst="ellipse">
            <a:avLst/>
          </a:prstGeom>
          <a:solidFill>
            <a:srgbClr val="1E2761"/>
          </a:solidFill>
          <a:ln/>
        </p:spPr>
        <p:txBody>
          <a:bodyPr/>
          <a:lstStyle/>
          <a:p>
            <a:endParaRPr lang="es-AR" noProof="0" dirty="0"/>
          </a:p>
        </p:txBody>
      </p:sp>
      <p:sp>
        <p:nvSpPr>
          <p:cNvPr id="14" name="Text 12"/>
          <p:cNvSpPr/>
          <p:nvPr/>
        </p:nvSpPr>
        <p:spPr>
          <a:xfrm>
            <a:off x="640080" y="4160520"/>
            <a:ext cx="457200" cy="45720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4</a:t>
            </a:r>
            <a:endParaRPr lang="es-AR" sz="1500" noProof="0" dirty="0"/>
          </a:p>
        </p:txBody>
      </p:sp>
      <p:sp>
        <p:nvSpPr>
          <p:cNvPr id="15" name="Text 13"/>
          <p:cNvSpPr/>
          <p:nvPr/>
        </p:nvSpPr>
        <p:spPr>
          <a:xfrm>
            <a:off x="1280160" y="4114800"/>
            <a:ext cx="10241280" cy="594360"/>
          </a:xfrm>
          <a:prstGeom prst="rect">
            <a:avLst/>
          </a:prstGeom>
          <a:noFill/>
          <a:ln/>
        </p:spPr>
        <p:txBody>
          <a:bodyPr wrap="square" rtlCol="0" anchor="ctr"/>
          <a:lstStyle/>
          <a:p>
            <a:pPr marL="0" indent="0">
              <a:buNone/>
            </a:pPr>
            <a:r>
              <a:rPr lang="es-AR" sz="1500" noProof="0" dirty="0">
                <a:solidFill>
                  <a:srgbClr val="1C1C2A"/>
                </a:solidFill>
                <a:latin typeface="Calibri" pitchFamily="34" charset="0"/>
                <a:ea typeface="Calibri" pitchFamily="34" charset="-122"/>
                <a:cs typeface="Calibri" pitchFamily="34" charset="-120"/>
              </a:rPr>
              <a:t>En Java: la especificación se traduce en una clase, con atributos privados y métodos públicos.</a:t>
            </a:r>
            <a:endParaRPr lang="es-AR" sz="1500" noProof="0" dirty="0"/>
          </a:p>
        </p:txBody>
      </p:sp>
      <p:sp>
        <p:nvSpPr>
          <p:cNvPr id="16" name="Shape 14"/>
          <p:cNvSpPr/>
          <p:nvPr/>
        </p:nvSpPr>
        <p:spPr>
          <a:xfrm>
            <a:off x="640080" y="4983480"/>
            <a:ext cx="457200" cy="457200"/>
          </a:xfrm>
          <a:prstGeom prst="ellipse">
            <a:avLst/>
          </a:prstGeom>
          <a:solidFill>
            <a:srgbClr val="1E2761"/>
          </a:solidFill>
          <a:ln/>
        </p:spPr>
        <p:txBody>
          <a:bodyPr/>
          <a:lstStyle/>
          <a:p>
            <a:endParaRPr lang="es-AR" noProof="0" dirty="0"/>
          </a:p>
        </p:txBody>
      </p:sp>
      <p:sp>
        <p:nvSpPr>
          <p:cNvPr id="17" name="Text 15"/>
          <p:cNvSpPr/>
          <p:nvPr/>
        </p:nvSpPr>
        <p:spPr>
          <a:xfrm>
            <a:off x="640080" y="4983480"/>
            <a:ext cx="457200" cy="457200"/>
          </a:xfrm>
          <a:prstGeom prst="rect">
            <a:avLst/>
          </a:prstGeom>
          <a:noFill/>
          <a:ln/>
        </p:spPr>
        <p:txBody>
          <a:bodyPr wrap="square" rtlCol="0" anchor="ctr"/>
          <a:lstStyle/>
          <a:p>
            <a:pPr marL="0" indent="0" algn="ctr">
              <a:buNone/>
            </a:pPr>
            <a:r>
              <a:rPr lang="es-AR" sz="1500" b="1" noProof="0" dirty="0">
                <a:solidFill>
                  <a:srgbClr val="FFFFFF"/>
                </a:solidFill>
                <a:latin typeface="Calibri" pitchFamily="34" charset="0"/>
                <a:ea typeface="Calibri" pitchFamily="34" charset="-122"/>
                <a:cs typeface="Calibri" pitchFamily="34" charset="-120"/>
              </a:rPr>
              <a:t>5</a:t>
            </a:r>
            <a:endParaRPr lang="es-AR" sz="1500" noProof="0" dirty="0"/>
          </a:p>
        </p:txBody>
      </p:sp>
      <p:sp>
        <p:nvSpPr>
          <p:cNvPr id="18" name="Text 16"/>
          <p:cNvSpPr/>
          <p:nvPr/>
        </p:nvSpPr>
        <p:spPr>
          <a:xfrm>
            <a:off x="1280160" y="4937760"/>
            <a:ext cx="10241280" cy="594360"/>
          </a:xfrm>
          <a:prstGeom prst="rect">
            <a:avLst/>
          </a:prstGeom>
          <a:noFill/>
          <a:ln/>
        </p:spPr>
        <p:txBody>
          <a:bodyPr wrap="square" rtlCol="0" anchor="ctr"/>
          <a:lstStyle/>
          <a:p>
            <a:pPr marL="0" indent="0">
              <a:buNone/>
            </a:pPr>
            <a:r>
              <a:rPr lang="es-AR" sz="1500" noProof="0" dirty="0" err="1">
                <a:solidFill>
                  <a:srgbClr val="1C1C2A"/>
                </a:solidFill>
                <a:latin typeface="Calibri" pitchFamily="34" charset="0"/>
                <a:ea typeface="Calibri" pitchFamily="34" charset="-122"/>
                <a:cs typeface="Calibri" pitchFamily="34" charset="-120"/>
              </a:rPr>
              <a:t>this</a:t>
            </a:r>
            <a:r>
              <a:rPr lang="es-AR" sz="1500" noProof="0" dirty="0">
                <a:solidFill>
                  <a:srgbClr val="1C1C2A"/>
                </a:solidFill>
                <a:latin typeface="Calibri" pitchFamily="34" charset="0"/>
                <a:ea typeface="Calibri" pitchFamily="34" charset="-122"/>
                <a:cs typeface="Calibri" pitchFamily="34" charset="-120"/>
              </a:rPr>
              <a:t>, constructores, paso por valor/referencia y sobrecarga son la base para programar </a:t>
            </a:r>
            <a:r>
              <a:rPr lang="es-AR" sz="1500" noProof="0" dirty="0" err="1">
                <a:solidFill>
                  <a:srgbClr val="1C1C2A"/>
                </a:solidFill>
                <a:latin typeface="Calibri" pitchFamily="34" charset="0"/>
                <a:ea typeface="Calibri" pitchFamily="34" charset="-122"/>
                <a:cs typeface="Calibri" pitchFamily="34" charset="-120"/>
              </a:rPr>
              <a:t>TDAs</a:t>
            </a:r>
            <a:r>
              <a:rPr lang="es-AR" sz="1500" noProof="0" dirty="0">
                <a:solidFill>
                  <a:srgbClr val="1C1C2A"/>
                </a:solidFill>
                <a:latin typeface="Calibri" pitchFamily="34" charset="0"/>
                <a:ea typeface="Calibri" pitchFamily="34" charset="-122"/>
                <a:cs typeface="Calibri" pitchFamily="34" charset="-120"/>
              </a:rPr>
              <a:t>.</a:t>
            </a:r>
            <a:endParaRPr lang="es-AR" sz="1500" noProof="0" dirty="0"/>
          </a:p>
        </p:txBody>
      </p:sp>
      <p:sp>
        <p:nvSpPr>
          <p:cNvPr id="19" name="Text 17"/>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26</a:t>
            </a:r>
            <a:endParaRPr lang="es-AR" sz="1000" noProof="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144000" y="-1371600"/>
            <a:ext cx="4572000" cy="4572000"/>
          </a:xfrm>
          <a:prstGeom prst="ellipse">
            <a:avLst/>
          </a:prstGeom>
          <a:solidFill>
            <a:srgbClr val="263876"/>
          </a:solidFill>
          <a:ln/>
        </p:spPr>
        <p:txBody>
          <a:bodyPr/>
          <a:lstStyle/>
          <a:p>
            <a:endParaRPr lang="es-AR" noProof="0" dirty="0"/>
          </a:p>
        </p:txBody>
      </p:sp>
      <p:sp>
        <p:nvSpPr>
          <p:cNvPr id="3" name="Text 1"/>
          <p:cNvSpPr/>
          <p:nvPr/>
        </p:nvSpPr>
        <p:spPr>
          <a:xfrm>
            <a:off x="640080" y="822960"/>
            <a:ext cx="7315200" cy="365760"/>
          </a:xfrm>
          <a:prstGeom prst="rect">
            <a:avLst/>
          </a:prstGeom>
          <a:noFill/>
          <a:ln/>
        </p:spPr>
        <p:txBody>
          <a:bodyPr wrap="square" rtlCol="0" anchor="ctr"/>
          <a:lstStyle/>
          <a:p>
            <a:pPr marL="0" indent="0">
              <a:buNone/>
            </a:pPr>
            <a:r>
              <a:rPr lang="es-AR" sz="1400" b="1" kern="0" spc="200" noProof="0" dirty="0">
                <a:solidFill>
                  <a:srgbClr val="E8A33D"/>
                </a:solidFill>
                <a:latin typeface="Calibri" pitchFamily="34" charset="0"/>
                <a:ea typeface="Calibri" pitchFamily="34" charset="-122"/>
                <a:cs typeface="Calibri" pitchFamily="34" charset="-120"/>
              </a:rPr>
              <a:t>PARA LA PRÓXIMA CLASE</a:t>
            </a:r>
            <a:endParaRPr lang="es-AR" sz="1400" noProof="0" dirty="0"/>
          </a:p>
        </p:txBody>
      </p:sp>
      <p:sp>
        <p:nvSpPr>
          <p:cNvPr id="4" name="Text 2"/>
          <p:cNvSpPr/>
          <p:nvPr/>
        </p:nvSpPr>
        <p:spPr>
          <a:xfrm>
            <a:off x="640080" y="1188720"/>
            <a:ext cx="10058400" cy="822960"/>
          </a:xfrm>
          <a:prstGeom prst="rect">
            <a:avLst/>
          </a:prstGeom>
          <a:noFill/>
          <a:ln/>
        </p:spPr>
        <p:txBody>
          <a:bodyPr wrap="square" rtlCol="0" anchor="ctr"/>
          <a:lstStyle/>
          <a:p>
            <a:pPr marL="0" indent="0">
              <a:buNone/>
            </a:pPr>
            <a:r>
              <a:rPr lang="es-AR" sz="3000" b="1" noProof="0" dirty="0">
                <a:solidFill>
                  <a:srgbClr val="FFFFFF"/>
                </a:solidFill>
                <a:latin typeface="Cambria" pitchFamily="34" charset="0"/>
                <a:ea typeface="Cambria" pitchFamily="34" charset="-122"/>
                <a:cs typeface="Cambria" pitchFamily="34" charset="-120"/>
              </a:rPr>
              <a:t>Clase 2: Implementación estática de un TDA</a:t>
            </a:r>
            <a:endParaRPr lang="es-AR" sz="3000" noProof="0" dirty="0"/>
          </a:p>
        </p:txBody>
      </p:sp>
      <p:sp>
        <p:nvSpPr>
          <p:cNvPr id="5" name="Shape 3"/>
          <p:cNvSpPr/>
          <p:nvPr/>
        </p:nvSpPr>
        <p:spPr>
          <a:xfrm>
            <a:off x="685800" y="2359152"/>
            <a:ext cx="146304" cy="146304"/>
          </a:xfrm>
          <a:prstGeom prst="ellipse">
            <a:avLst/>
          </a:prstGeom>
          <a:solidFill>
            <a:srgbClr val="E8A33D"/>
          </a:solidFill>
          <a:ln/>
        </p:spPr>
        <p:txBody>
          <a:bodyPr/>
          <a:lstStyle/>
          <a:p>
            <a:endParaRPr lang="es-AR" noProof="0" dirty="0"/>
          </a:p>
        </p:txBody>
      </p:sp>
      <p:sp>
        <p:nvSpPr>
          <p:cNvPr id="6" name="Text 4"/>
          <p:cNvSpPr/>
          <p:nvPr/>
        </p:nvSpPr>
        <p:spPr>
          <a:xfrm>
            <a:off x="960120" y="2286000"/>
            <a:ext cx="9875520" cy="502920"/>
          </a:xfrm>
          <a:prstGeom prst="rect">
            <a:avLst/>
          </a:prstGeom>
          <a:noFill/>
          <a:ln/>
        </p:spPr>
        <p:txBody>
          <a:bodyPr wrap="square" rtlCol="0" anchor="ctr"/>
          <a:lstStyle/>
          <a:p>
            <a:pPr marL="0" indent="0">
              <a:buNone/>
            </a:pPr>
            <a:r>
              <a:rPr lang="es-AR" sz="1500" noProof="0" dirty="0">
                <a:solidFill>
                  <a:srgbClr val="CADCFC"/>
                </a:solidFill>
                <a:latin typeface="Calibri" pitchFamily="34" charset="0"/>
                <a:ea typeface="Calibri" pitchFamily="34" charset="-122"/>
                <a:cs typeface="Calibri" pitchFamily="34" charset="-120"/>
              </a:rPr>
              <a:t>Traer JDK y el IDE instalados y funcionando (probar un "Hola Mundo").</a:t>
            </a:r>
            <a:endParaRPr lang="es-AR" sz="1500" noProof="0" dirty="0"/>
          </a:p>
        </p:txBody>
      </p:sp>
      <p:sp>
        <p:nvSpPr>
          <p:cNvPr id="7" name="Shape 5"/>
          <p:cNvSpPr/>
          <p:nvPr/>
        </p:nvSpPr>
        <p:spPr>
          <a:xfrm>
            <a:off x="685800" y="2953512"/>
            <a:ext cx="146304" cy="146304"/>
          </a:xfrm>
          <a:prstGeom prst="ellipse">
            <a:avLst/>
          </a:prstGeom>
          <a:solidFill>
            <a:srgbClr val="E8A33D"/>
          </a:solidFill>
          <a:ln/>
        </p:spPr>
        <p:txBody>
          <a:bodyPr/>
          <a:lstStyle/>
          <a:p>
            <a:endParaRPr lang="es-AR" noProof="0" dirty="0"/>
          </a:p>
        </p:txBody>
      </p:sp>
      <p:sp>
        <p:nvSpPr>
          <p:cNvPr id="8" name="Text 6"/>
          <p:cNvSpPr/>
          <p:nvPr/>
        </p:nvSpPr>
        <p:spPr>
          <a:xfrm>
            <a:off x="960120" y="2880360"/>
            <a:ext cx="9875520" cy="502920"/>
          </a:xfrm>
          <a:prstGeom prst="rect">
            <a:avLst/>
          </a:prstGeom>
          <a:noFill/>
          <a:ln/>
        </p:spPr>
        <p:txBody>
          <a:bodyPr wrap="square" rtlCol="0" anchor="ctr"/>
          <a:lstStyle/>
          <a:p>
            <a:pPr marL="0" indent="0">
              <a:buNone/>
            </a:pPr>
            <a:r>
              <a:rPr lang="es-AR" sz="1500" noProof="0" dirty="0">
                <a:solidFill>
                  <a:srgbClr val="CADCFC"/>
                </a:solidFill>
                <a:latin typeface="Calibri" pitchFamily="34" charset="0"/>
                <a:ea typeface="Calibri" pitchFamily="34" charset="-122"/>
                <a:cs typeface="Calibri" pitchFamily="34" charset="-120"/>
              </a:rPr>
              <a:t>Repasar la especificación de Cola y Conjunto hecha en los Ejercicios 1 y 3.</a:t>
            </a:r>
            <a:endParaRPr lang="es-AR" sz="1500" noProof="0" dirty="0"/>
          </a:p>
        </p:txBody>
      </p:sp>
      <p:sp>
        <p:nvSpPr>
          <p:cNvPr id="9" name="Shape 7"/>
          <p:cNvSpPr/>
          <p:nvPr/>
        </p:nvSpPr>
        <p:spPr>
          <a:xfrm>
            <a:off x="685800" y="3547872"/>
            <a:ext cx="146304" cy="146304"/>
          </a:xfrm>
          <a:prstGeom prst="ellipse">
            <a:avLst/>
          </a:prstGeom>
          <a:solidFill>
            <a:srgbClr val="E8A33D"/>
          </a:solidFill>
          <a:ln/>
        </p:spPr>
        <p:txBody>
          <a:bodyPr/>
          <a:lstStyle/>
          <a:p>
            <a:endParaRPr lang="es-AR" noProof="0" dirty="0"/>
          </a:p>
        </p:txBody>
      </p:sp>
      <p:sp>
        <p:nvSpPr>
          <p:cNvPr id="10" name="Text 8"/>
          <p:cNvSpPr/>
          <p:nvPr/>
        </p:nvSpPr>
        <p:spPr>
          <a:xfrm>
            <a:off x="960120" y="3474720"/>
            <a:ext cx="9875520" cy="502920"/>
          </a:xfrm>
          <a:prstGeom prst="rect">
            <a:avLst/>
          </a:prstGeom>
          <a:noFill/>
          <a:ln/>
        </p:spPr>
        <p:txBody>
          <a:bodyPr wrap="square" rtlCol="0" anchor="ctr"/>
          <a:lstStyle/>
          <a:p>
            <a:pPr marL="0" indent="0">
              <a:buNone/>
            </a:pPr>
            <a:r>
              <a:rPr lang="es-AR" sz="1500" noProof="0" dirty="0">
                <a:solidFill>
                  <a:srgbClr val="CADCFC"/>
                </a:solidFill>
                <a:latin typeface="Calibri" pitchFamily="34" charset="0"/>
                <a:ea typeface="Calibri" pitchFamily="34" charset="-122"/>
                <a:cs typeface="Calibri" pitchFamily="34" charset="-120"/>
              </a:rPr>
              <a:t>Traer resuelto (o al menos intentado) el esbozo de firmas Java del Ejercicio 3.</a:t>
            </a:r>
            <a:endParaRPr lang="es-AR" sz="1500" noProof="0" dirty="0"/>
          </a:p>
        </p:txBody>
      </p:sp>
      <p:sp>
        <p:nvSpPr>
          <p:cNvPr id="11" name="Shape 9"/>
          <p:cNvSpPr/>
          <p:nvPr/>
        </p:nvSpPr>
        <p:spPr>
          <a:xfrm>
            <a:off x="685800" y="4142232"/>
            <a:ext cx="146304" cy="146304"/>
          </a:xfrm>
          <a:prstGeom prst="ellipse">
            <a:avLst/>
          </a:prstGeom>
          <a:solidFill>
            <a:srgbClr val="E8A33D"/>
          </a:solidFill>
          <a:ln/>
        </p:spPr>
        <p:txBody>
          <a:bodyPr/>
          <a:lstStyle/>
          <a:p>
            <a:endParaRPr lang="es-AR" noProof="0" dirty="0"/>
          </a:p>
        </p:txBody>
      </p:sp>
      <p:sp>
        <p:nvSpPr>
          <p:cNvPr id="12" name="Text 10"/>
          <p:cNvSpPr/>
          <p:nvPr/>
        </p:nvSpPr>
        <p:spPr>
          <a:xfrm>
            <a:off x="960120" y="4069080"/>
            <a:ext cx="9875520" cy="502920"/>
          </a:xfrm>
          <a:prstGeom prst="rect">
            <a:avLst/>
          </a:prstGeom>
          <a:noFill/>
          <a:ln/>
        </p:spPr>
        <p:txBody>
          <a:bodyPr wrap="square" rtlCol="0" anchor="ctr"/>
          <a:lstStyle/>
          <a:p>
            <a:pPr marL="0" indent="0">
              <a:buNone/>
            </a:pPr>
            <a:r>
              <a:rPr lang="es-AR" sz="1500" noProof="0" dirty="0">
                <a:solidFill>
                  <a:srgbClr val="CADCFC"/>
                </a:solidFill>
                <a:latin typeface="Calibri" pitchFamily="34" charset="0"/>
                <a:ea typeface="Calibri" pitchFamily="34" charset="-122"/>
                <a:cs typeface="Calibri" pitchFamily="34" charset="-120"/>
              </a:rPr>
              <a:t>Revisar el concepto de array y su límite de tamaño fijo — se usa desde el minuto uno.</a:t>
            </a:r>
            <a:endParaRPr lang="es-AR" sz="1500" noProof="0" dirty="0"/>
          </a:p>
        </p:txBody>
      </p:sp>
      <p:sp>
        <p:nvSpPr>
          <p:cNvPr id="13" name="Text 11"/>
          <p:cNvSpPr/>
          <p:nvPr/>
        </p:nvSpPr>
        <p:spPr>
          <a:xfrm>
            <a:off x="640080" y="5120640"/>
            <a:ext cx="5486400" cy="548640"/>
          </a:xfrm>
          <a:prstGeom prst="rect">
            <a:avLst/>
          </a:prstGeom>
          <a:noFill/>
          <a:ln/>
        </p:spPr>
        <p:txBody>
          <a:bodyPr wrap="square" rtlCol="0" anchor="ctr"/>
          <a:lstStyle/>
          <a:p>
            <a:pPr marL="0" indent="0">
              <a:buNone/>
            </a:pPr>
            <a:r>
              <a:rPr lang="es-AR" sz="2400" b="1" noProof="0" dirty="0">
                <a:solidFill>
                  <a:srgbClr val="FFFFFF"/>
                </a:solidFill>
                <a:latin typeface="Cambria" pitchFamily="34" charset="0"/>
                <a:ea typeface="Cambria" pitchFamily="34" charset="-122"/>
                <a:cs typeface="Cambria" pitchFamily="34" charset="-120"/>
              </a:rPr>
              <a:t>¿Preguntas?</a:t>
            </a:r>
            <a:endParaRPr lang="es-AR" sz="2400" noProof="0" dirty="0"/>
          </a:p>
        </p:txBody>
      </p:sp>
      <p:sp>
        <p:nvSpPr>
          <p:cNvPr id="14" name="Text 12"/>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5" name="Text 13"/>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27</a:t>
            </a:r>
            <a:endParaRPr lang="es-AR" sz="1000" noProof="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buNone/>
            </a:pPr>
            <a:r>
              <a:rPr lang="es-AR" sz="1300" b="1" noProof="0" dirty="0">
                <a:solidFill>
                  <a:srgbClr val="E8A33D"/>
                </a:solidFill>
                <a:latin typeface="Calibri" pitchFamily="34" charset="0"/>
                <a:ea typeface="Calibri" pitchFamily="34" charset="-122"/>
                <a:cs typeface="Calibri" pitchFamily="34" charset="-120"/>
              </a:rPr>
              <a:t>ANEXO</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buNone/>
            </a:pPr>
            <a:r>
              <a:rPr lang="es-AR" sz="3000" b="1" noProof="0" dirty="0">
                <a:solidFill>
                  <a:srgbClr val="1E2761"/>
                </a:solidFill>
                <a:latin typeface="Cambria" pitchFamily="34" charset="0"/>
                <a:ea typeface="Cambria" pitchFamily="34" charset="-122"/>
                <a:cs typeface="Cambria" pitchFamily="34" charset="-120"/>
              </a:rPr>
              <a:t>Instalar el JDK de JAVA: 3 pasos</a:t>
            </a:r>
            <a:endParaRPr lang="es-AR" sz="3000" noProof="0" dirty="0"/>
          </a:p>
        </p:txBody>
      </p:sp>
      <p:sp>
        <p:nvSpPr>
          <p:cNvPr id="4" name="Shape"/>
          <p:cNvSpPr/>
          <p:nvPr/>
        </p:nvSpPr>
        <p:spPr>
          <a:xfrm>
            <a:off x="548640" y="155448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5" name="Badge"/>
          <p:cNvSpPr/>
          <p:nvPr/>
        </p:nvSpPr>
        <p:spPr>
          <a:xfrm>
            <a:off x="914400" y="1988820"/>
            <a:ext cx="640080" cy="365760"/>
          </a:xfrm>
          <a:prstGeom prst="roundRect">
            <a:avLst>
              <a:gd name="adj" fmla="val 50000"/>
            </a:avLst>
          </a:prstGeom>
          <a:solidFill>
            <a:srgbClr val="1E2761"/>
          </a:solidFill>
          <a:ln/>
        </p:spPr>
        <p:txBody>
          <a:bodyPr/>
          <a:lstStyle/>
          <a:p>
            <a:endParaRPr lang="es-AR" noProof="0" dirty="0"/>
          </a:p>
        </p:txBody>
      </p:sp>
      <p:sp>
        <p:nvSpPr>
          <p:cNvPr id="6" name="BadgeNum"/>
          <p:cNvSpPr/>
          <p:nvPr/>
        </p:nvSpPr>
        <p:spPr>
          <a:xfrm>
            <a:off x="914400" y="198882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1</a:t>
            </a:r>
            <a:endParaRPr lang="es-AR" sz="1200" noProof="0" dirty="0"/>
          </a:p>
        </p:txBody>
      </p:sp>
      <p:sp>
        <p:nvSpPr>
          <p:cNvPr id="7" name="StepTitle"/>
          <p:cNvSpPr/>
          <p:nvPr/>
        </p:nvSpPr>
        <p:spPr>
          <a:xfrm>
            <a:off x="1783080" y="1554480"/>
            <a:ext cx="3200400" cy="457200"/>
          </a:xfrm>
          <a:prstGeom prst="rect">
            <a:avLst/>
          </a:prstGeom>
          <a:noFill/>
          <a:ln/>
        </p:spPr>
        <p:txBody>
          <a:bodyPr wrap="square" rtlCol="0" anchor="t"/>
          <a:lstStyle/>
          <a:p>
            <a:pPr marL="0" indent="0">
              <a:buNone/>
            </a:pPr>
            <a:r>
              <a:rPr lang="es-AR" sz="1700" b="1" noProof="0" dirty="0">
                <a:solidFill>
                  <a:srgbClr val="1E2761"/>
                </a:solidFill>
                <a:latin typeface="Calibri" pitchFamily="34" charset="0"/>
                <a:ea typeface="Calibri" pitchFamily="34" charset="-122"/>
                <a:cs typeface="Calibri" pitchFamily="34" charset="-120"/>
              </a:rPr>
              <a:t>Descargar el JDK</a:t>
            </a:r>
            <a:endParaRPr lang="es-AR" sz="1700" noProof="0" dirty="0"/>
          </a:p>
        </p:txBody>
      </p:sp>
      <p:sp>
        <p:nvSpPr>
          <p:cNvPr id="8" name="StepDesc"/>
          <p:cNvSpPr/>
          <p:nvPr/>
        </p:nvSpPr>
        <p:spPr>
          <a:xfrm>
            <a:off x="1783080" y="1815554"/>
            <a:ext cx="9418320" cy="914400"/>
          </a:xfrm>
          <a:prstGeom prst="rect">
            <a:avLst/>
          </a:prstGeom>
          <a:noFill/>
          <a:ln/>
        </p:spPr>
        <p:txBody>
          <a:bodyPr wrap="square" rtlCol="0" anchor="t"/>
          <a:lstStyle/>
          <a:p>
            <a:pPr marL="0" indent="0">
              <a:buNone/>
            </a:pPr>
            <a:r>
              <a:rPr lang="es-AR" sz="1250" noProof="0" dirty="0" err="1">
                <a:solidFill>
                  <a:srgbClr val="1C1C2A"/>
                </a:solidFill>
                <a:latin typeface="Calibri" pitchFamily="34" charset="0"/>
                <a:ea typeface="Calibri" pitchFamily="34" charset="-122"/>
                <a:cs typeface="Calibri" pitchFamily="34" charset="-120"/>
              </a:rPr>
              <a:t>Entrá</a:t>
            </a:r>
            <a:r>
              <a:rPr lang="es-AR" sz="1250" noProof="0" dirty="0">
                <a:solidFill>
                  <a:srgbClr val="1C1C2A"/>
                </a:solidFill>
                <a:latin typeface="Calibri" pitchFamily="34" charset="0"/>
                <a:ea typeface="Calibri" pitchFamily="34" charset="-122"/>
                <a:cs typeface="Calibri" pitchFamily="34" charset="-120"/>
              </a:rPr>
              <a:t> a adoptium.net (Eclipse </a:t>
            </a:r>
            <a:r>
              <a:rPr lang="es-AR" sz="1250" noProof="0" dirty="0" err="1">
                <a:solidFill>
                  <a:srgbClr val="1C1C2A"/>
                </a:solidFill>
                <a:latin typeface="Calibri" pitchFamily="34" charset="0"/>
                <a:ea typeface="Calibri" pitchFamily="34" charset="-122"/>
                <a:cs typeface="Calibri" pitchFamily="34" charset="-120"/>
              </a:rPr>
              <a:t>Temurin</a:t>
            </a:r>
            <a:r>
              <a:rPr lang="es-AR" sz="1250" noProof="0" dirty="0">
                <a:solidFill>
                  <a:srgbClr val="1C1C2A"/>
                </a:solidFill>
                <a:latin typeface="Calibri" pitchFamily="34" charset="0"/>
                <a:ea typeface="Calibri" pitchFamily="34" charset="-122"/>
                <a:cs typeface="Calibri" pitchFamily="34" charset="-120"/>
              </a:rPr>
              <a:t>) u oracle.com/java y </a:t>
            </a:r>
            <a:r>
              <a:rPr lang="es-AR" sz="1250" noProof="0" dirty="0" err="1">
                <a:solidFill>
                  <a:srgbClr val="1C1C2A"/>
                </a:solidFill>
                <a:latin typeface="Calibri" pitchFamily="34" charset="0"/>
                <a:ea typeface="Calibri" pitchFamily="34" charset="-122"/>
                <a:cs typeface="Calibri" pitchFamily="34" charset="-120"/>
              </a:rPr>
              <a:t>descargá</a:t>
            </a:r>
            <a:r>
              <a:rPr lang="es-AR" sz="1250" noProof="0" dirty="0">
                <a:solidFill>
                  <a:srgbClr val="1C1C2A"/>
                </a:solidFill>
                <a:latin typeface="Calibri" pitchFamily="34" charset="0"/>
                <a:ea typeface="Calibri" pitchFamily="34" charset="-122"/>
                <a:cs typeface="Calibri" pitchFamily="34" charset="-120"/>
              </a:rPr>
              <a:t> la última versión LTS del JDK (por ejemplo, JDK 21) para tu sistema operativo (Windows, macOS o Linux).</a:t>
            </a:r>
          </a:p>
          <a:p>
            <a:r>
              <a:rPr lang="es-AR" sz="1250" noProof="0" dirty="0">
                <a:solidFill>
                  <a:srgbClr val="1C1C2A"/>
                </a:solidFill>
                <a:latin typeface="Calibri" pitchFamily="34" charset="0"/>
                <a:ea typeface="Calibri" pitchFamily="34" charset="-122"/>
                <a:cs typeface="Calibri" pitchFamily="34" charset="-120"/>
              </a:rPr>
              <a:t>JRE (Java </a:t>
            </a:r>
            <a:r>
              <a:rPr lang="es-AR" sz="1250" noProof="0" dirty="0" err="1">
                <a:solidFill>
                  <a:srgbClr val="1C1C2A"/>
                </a:solidFill>
                <a:latin typeface="Calibri" pitchFamily="34" charset="0"/>
                <a:ea typeface="Calibri" pitchFamily="34" charset="-122"/>
                <a:cs typeface="Calibri" pitchFamily="34" charset="-120"/>
              </a:rPr>
              <a:t>Runtime</a:t>
            </a:r>
            <a:r>
              <a:rPr lang="es-AR" sz="1250" noProof="0" dirty="0">
                <a:solidFill>
                  <a:srgbClr val="1C1C2A"/>
                </a:solidFill>
                <a:latin typeface="Calibri" pitchFamily="34" charset="0"/>
                <a:ea typeface="Calibri" pitchFamily="34" charset="-122"/>
                <a:cs typeface="Calibri" pitchFamily="34" charset="-120"/>
              </a:rPr>
              <a:t> </a:t>
            </a:r>
            <a:r>
              <a:rPr lang="es-AR" sz="1250" noProof="0" dirty="0" err="1">
                <a:solidFill>
                  <a:srgbClr val="1C1C2A"/>
                </a:solidFill>
                <a:latin typeface="Calibri" pitchFamily="34" charset="0"/>
                <a:ea typeface="Calibri" pitchFamily="34" charset="-122"/>
                <a:cs typeface="Calibri" pitchFamily="34" charset="-120"/>
              </a:rPr>
              <a:t>Environment</a:t>
            </a:r>
            <a:r>
              <a:rPr lang="es-AR" sz="1250" noProof="0" dirty="0">
                <a:solidFill>
                  <a:srgbClr val="1C1C2A"/>
                </a:solidFill>
                <a:latin typeface="Calibri" pitchFamily="34" charset="0"/>
                <a:ea typeface="Calibri" pitchFamily="34" charset="-122"/>
                <a:cs typeface="Calibri" pitchFamily="34" charset="-120"/>
              </a:rPr>
              <a:t>) = el entorno necesario para ejecutar programas Java ya compilados (la JVM + las librerías estándar).</a:t>
            </a:r>
          </a:p>
          <a:p>
            <a:r>
              <a:rPr lang="es-AR" sz="1250" noProof="0" dirty="0">
                <a:solidFill>
                  <a:srgbClr val="1C1C2A"/>
                </a:solidFill>
                <a:latin typeface="Calibri" pitchFamily="34" charset="0"/>
                <a:ea typeface="Calibri" pitchFamily="34" charset="-122"/>
                <a:cs typeface="Calibri" pitchFamily="34" charset="-120"/>
              </a:rPr>
              <a:t>JDK (Java </a:t>
            </a:r>
            <a:r>
              <a:rPr lang="es-AR" sz="1250" noProof="0" dirty="0" err="1">
                <a:solidFill>
                  <a:srgbClr val="1C1C2A"/>
                </a:solidFill>
                <a:latin typeface="Calibri" pitchFamily="34" charset="0"/>
                <a:ea typeface="Calibri" pitchFamily="34" charset="-122"/>
                <a:cs typeface="Calibri" pitchFamily="34" charset="-120"/>
              </a:rPr>
              <a:t>Development</a:t>
            </a:r>
            <a:r>
              <a:rPr lang="es-AR" sz="1250" noProof="0" dirty="0">
                <a:solidFill>
                  <a:srgbClr val="1C1C2A"/>
                </a:solidFill>
                <a:latin typeface="Calibri" pitchFamily="34" charset="0"/>
                <a:ea typeface="Calibri" pitchFamily="34" charset="-122"/>
                <a:cs typeface="Calibri" pitchFamily="34" charset="-120"/>
              </a:rPr>
              <a:t> Kit) = el JRE + las herramientas para desarrollar (el compilador </a:t>
            </a:r>
            <a:r>
              <a:rPr lang="es-AR" sz="1250" noProof="0" dirty="0" err="1">
                <a:solidFill>
                  <a:srgbClr val="1C1C2A"/>
                </a:solidFill>
                <a:latin typeface="Calibri" pitchFamily="34" charset="0"/>
                <a:ea typeface="Calibri" pitchFamily="34" charset="-122"/>
                <a:cs typeface="Calibri" pitchFamily="34" charset="-120"/>
              </a:rPr>
              <a:t>javac</a:t>
            </a:r>
            <a:r>
              <a:rPr lang="es-AR" sz="1250" noProof="0" dirty="0">
                <a:solidFill>
                  <a:srgbClr val="1C1C2A"/>
                </a:solidFill>
                <a:latin typeface="Calibri" pitchFamily="34" charset="0"/>
                <a:ea typeface="Calibri" pitchFamily="34" charset="-122"/>
                <a:cs typeface="Calibri" pitchFamily="34" charset="-120"/>
              </a:rPr>
              <a:t>, el </a:t>
            </a:r>
            <a:r>
              <a:rPr lang="es-AR" sz="1250" noProof="0" dirty="0" err="1">
                <a:solidFill>
                  <a:srgbClr val="1C1C2A"/>
                </a:solidFill>
                <a:latin typeface="Calibri" pitchFamily="34" charset="0"/>
                <a:ea typeface="Calibri" pitchFamily="34" charset="-122"/>
                <a:cs typeface="Calibri" pitchFamily="34" charset="-120"/>
              </a:rPr>
              <a:t>debugger</a:t>
            </a:r>
            <a:r>
              <a:rPr lang="es-AR" sz="1250" noProof="0" dirty="0">
                <a:solidFill>
                  <a:srgbClr val="1C1C2A"/>
                </a:solidFill>
                <a:latin typeface="Calibri" pitchFamily="34" charset="0"/>
                <a:ea typeface="Calibri" pitchFamily="34" charset="-122"/>
                <a:cs typeface="Calibri" pitchFamily="34" charset="-120"/>
              </a:rPr>
              <a:t>, </a:t>
            </a:r>
            <a:r>
              <a:rPr lang="es-AR" sz="1250" noProof="0" dirty="0" err="1">
                <a:solidFill>
                  <a:srgbClr val="1C1C2A"/>
                </a:solidFill>
                <a:latin typeface="Calibri" pitchFamily="34" charset="0"/>
                <a:ea typeface="Calibri" pitchFamily="34" charset="-122"/>
                <a:cs typeface="Calibri" pitchFamily="34" charset="-120"/>
              </a:rPr>
              <a:t>jar</a:t>
            </a:r>
            <a:r>
              <a:rPr lang="es-AR" sz="1250" noProof="0" dirty="0">
                <a:solidFill>
                  <a:srgbClr val="1C1C2A"/>
                </a:solidFill>
                <a:latin typeface="Calibri" pitchFamily="34" charset="0"/>
                <a:ea typeface="Calibri" pitchFamily="34" charset="-122"/>
                <a:cs typeface="Calibri" pitchFamily="34" charset="-120"/>
              </a:rPr>
              <a:t>, etc.).</a:t>
            </a:r>
            <a:endParaRPr lang="es-AR" sz="1250" noProof="0" dirty="0"/>
          </a:p>
        </p:txBody>
      </p:sp>
      <p:sp>
        <p:nvSpPr>
          <p:cNvPr id="9" name="Shape"/>
          <p:cNvSpPr/>
          <p:nvPr/>
        </p:nvSpPr>
        <p:spPr>
          <a:xfrm>
            <a:off x="548640" y="297180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10" name="Badge"/>
          <p:cNvSpPr/>
          <p:nvPr/>
        </p:nvSpPr>
        <p:spPr>
          <a:xfrm>
            <a:off x="914400" y="3406140"/>
            <a:ext cx="640080" cy="365760"/>
          </a:xfrm>
          <a:prstGeom prst="roundRect">
            <a:avLst>
              <a:gd name="adj" fmla="val 50000"/>
            </a:avLst>
          </a:prstGeom>
          <a:solidFill>
            <a:srgbClr val="1E2761"/>
          </a:solidFill>
          <a:ln/>
        </p:spPr>
        <p:txBody>
          <a:bodyPr/>
          <a:lstStyle/>
          <a:p>
            <a:endParaRPr lang="es-AR" noProof="0" dirty="0"/>
          </a:p>
        </p:txBody>
      </p:sp>
      <p:sp>
        <p:nvSpPr>
          <p:cNvPr id="11" name="BadgeNum"/>
          <p:cNvSpPr/>
          <p:nvPr/>
        </p:nvSpPr>
        <p:spPr>
          <a:xfrm>
            <a:off x="914400" y="340614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2</a:t>
            </a:r>
            <a:endParaRPr lang="es-AR" sz="1200" noProof="0" dirty="0"/>
          </a:p>
        </p:txBody>
      </p:sp>
      <p:sp>
        <p:nvSpPr>
          <p:cNvPr id="12" name="StepTitle"/>
          <p:cNvSpPr/>
          <p:nvPr/>
        </p:nvSpPr>
        <p:spPr>
          <a:xfrm>
            <a:off x="1783080" y="3200400"/>
            <a:ext cx="3200400" cy="457200"/>
          </a:xfrm>
          <a:prstGeom prst="rect">
            <a:avLst/>
          </a:prstGeom>
          <a:noFill/>
          <a:ln/>
        </p:spPr>
        <p:txBody>
          <a:bodyPr wrap="square" rtlCol="0" anchor="t"/>
          <a:lstStyle/>
          <a:p>
            <a:pPr marL="0" indent="0">
              <a:buNone/>
            </a:pPr>
            <a:r>
              <a:rPr lang="es-AR" sz="1700" b="1" noProof="0" dirty="0">
                <a:solidFill>
                  <a:srgbClr val="1E2761"/>
                </a:solidFill>
                <a:latin typeface="Calibri" pitchFamily="34" charset="0"/>
                <a:ea typeface="Calibri" pitchFamily="34" charset="-122"/>
                <a:cs typeface="Calibri" pitchFamily="34" charset="-120"/>
              </a:rPr>
              <a:t>Ejecutar el instalador</a:t>
            </a:r>
            <a:endParaRPr lang="es-AR" sz="1700" noProof="0" dirty="0"/>
          </a:p>
        </p:txBody>
      </p:sp>
      <p:sp>
        <p:nvSpPr>
          <p:cNvPr id="13" name="StepDesc"/>
          <p:cNvSpPr/>
          <p:nvPr/>
        </p:nvSpPr>
        <p:spPr>
          <a:xfrm>
            <a:off x="1783080" y="3520440"/>
            <a:ext cx="9418320" cy="914400"/>
          </a:xfrm>
          <a:prstGeom prst="rect">
            <a:avLst/>
          </a:prstGeom>
          <a:noFill/>
          <a:ln/>
        </p:spPr>
        <p:txBody>
          <a:bodyPr wrap="square" rtlCol="0" anchor="t"/>
          <a:lstStyle/>
          <a:p>
            <a:pPr marL="0" indent="0">
              <a:buNone/>
            </a:pPr>
            <a:r>
              <a:rPr lang="es-AR" sz="1250" noProof="0" dirty="0">
                <a:solidFill>
                  <a:srgbClr val="1C1C2A"/>
                </a:solidFill>
                <a:latin typeface="Calibri" pitchFamily="34" charset="0"/>
                <a:ea typeface="Calibri" pitchFamily="34" charset="-122"/>
                <a:cs typeface="Calibri" pitchFamily="34" charset="-120"/>
              </a:rPr>
              <a:t>Windows: abrí el archivo .</a:t>
            </a:r>
            <a:r>
              <a:rPr lang="es-AR" sz="1250" noProof="0" dirty="0" err="1">
                <a:solidFill>
                  <a:srgbClr val="1C1C2A"/>
                </a:solidFill>
                <a:latin typeface="Calibri" pitchFamily="34" charset="0"/>
                <a:ea typeface="Calibri" pitchFamily="34" charset="-122"/>
                <a:cs typeface="Calibri" pitchFamily="34" charset="-120"/>
              </a:rPr>
              <a:t>msi</a:t>
            </a:r>
            <a:r>
              <a:rPr lang="es-AR" sz="1250" noProof="0" dirty="0">
                <a:solidFill>
                  <a:srgbClr val="1C1C2A"/>
                </a:solidFill>
                <a:latin typeface="Calibri" pitchFamily="34" charset="0"/>
                <a:ea typeface="Calibri" pitchFamily="34" charset="-122"/>
                <a:cs typeface="Calibri" pitchFamily="34" charset="-120"/>
              </a:rPr>
              <a:t> y seguí el asistente hasta el final. </a:t>
            </a:r>
          </a:p>
          <a:p>
            <a:pPr marL="0" indent="0">
              <a:buNone/>
            </a:pPr>
            <a:r>
              <a:rPr lang="es-AR" sz="1250" noProof="0" dirty="0">
                <a:solidFill>
                  <a:srgbClr val="1C1C2A"/>
                </a:solidFill>
                <a:latin typeface="Calibri" pitchFamily="34" charset="0"/>
                <a:ea typeface="Calibri" pitchFamily="34" charset="-122"/>
                <a:cs typeface="Calibri" pitchFamily="34" charset="-120"/>
              </a:rPr>
              <a:t>macOS: abrí el .</a:t>
            </a:r>
            <a:r>
              <a:rPr lang="es-AR" sz="1250" noProof="0" dirty="0" err="1">
                <a:solidFill>
                  <a:srgbClr val="1C1C2A"/>
                </a:solidFill>
                <a:latin typeface="Calibri" pitchFamily="34" charset="0"/>
                <a:ea typeface="Calibri" pitchFamily="34" charset="-122"/>
                <a:cs typeface="Calibri" pitchFamily="34" charset="-120"/>
              </a:rPr>
              <a:t>pkg</a:t>
            </a:r>
            <a:r>
              <a:rPr lang="es-AR" sz="1250" noProof="0" dirty="0">
                <a:solidFill>
                  <a:srgbClr val="1C1C2A"/>
                </a:solidFill>
                <a:latin typeface="Calibri" pitchFamily="34" charset="0"/>
                <a:ea typeface="Calibri" pitchFamily="34" charset="-122"/>
                <a:cs typeface="Calibri" pitchFamily="34" charset="-120"/>
              </a:rPr>
              <a:t> e </a:t>
            </a:r>
            <a:r>
              <a:rPr lang="es-AR" sz="1250" noProof="0" dirty="0" err="1">
                <a:solidFill>
                  <a:srgbClr val="1C1C2A"/>
                </a:solidFill>
                <a:latin typeface="Calibri" pitchFamily="34" charset="0"/>
                <a:ea typeface="Calibri" pitchFamily="34" charset="-122"/>
                <a:cs typeface="Calibri" pitchFamily="34" charset="-120"/>
              </a:rPr>
              <a:t>instalá</a:t>
            </a:r>
            <a:r>
              <a:rPr lang="es-AR" sz="1250" noProof="0" dirty="0">
                <a:solidFill>
                  <a:srgbClr val="1C1C2A"/>
                </a:solidFill>
                <a:latin typeface="Calibri" pitchFamily="34" charset="0"/>
                <a:ea typeface="Calibri" pitchFamily="34" charset="-122"/>
                <a:cs typeface="Calibri" pitchFamily="34" charset="-120"/>
              </a:rPr>
              <a:t> normalmente. </a:t>
            </a:r>
          </a:p>
          <a:p>
            <a:pPr marL="0" indent="0">
              <a:buNone/>
            </a:pPr>
            <a:r>
              <a:rPr lang="es-AR" sz="1250" noProof="0" dirty="0">
                <a:solidFill>
                  <a:srgbClr val="1C1C2A"/>
                </a:solidFill>
                <a:latin typeface="Calibri" pitchFamily="34" charset="0"/>
                <a:ea typeface="Calibri" pitchFamily="34" charset="-122"/>
                <a:cs typeface="Calibri" pitchFamily="34" charset="-120"/>
              </a:rPr>
              <a:t>Si aparece la opción "Add </a:t>
            </a:r>
            <a:r>
              <a:rPr lang="es-AR" sz="1250" noProof="0" dirty="0" err="1">
                <a:solidFill>
                  <a:srgbClr val="1C1C2A"/>
                </a:solidFill>
                <a:latin typeface="Calibri" pitchFamily="34" charset="0"/>
                <a:ea typeface="Calibri" pitchFamily="34" charset="-122"/>
                <a:cs typeface="Calibri" pitchFamily="34" charset="-120"/>
              </a:rPr>
              <a:t>to</a:t>
            </a:r>
            <a:r>
              <a:rPr lang="es-AR" sz="1250" noProof="0" dirty="0">
                <a:solidFill>
                  <a:srgbClr val="1C1C2A"/>
                </a:solidFill>
                <a:latin typeface="Calibri" pitchFamily="34" charset="0"/>
                <a:ea typeface="Calibri" pitchFamily="34" charset="-122"/>
                <a:cs typeface="Calibri" pitchFamily="34" charset="-120"/>
              </a:rPr>
              <a:t> PATH", </a:t>
            </a:r>
            <a:r>
              <a:rPr lang="es-AR" sz="1250" noProof="0" dirty="0" err="1">
                <a:solidFill>
                  <a:srgbClr val="1C1C2A"/>
                </a:solidFill>
                <a:latin typeface="Calibri" pitchFamily="34" charset="0"/>
                <a:ea typeface="Calibri" pitchFamily="34" charset="-122"/>
                <a:cs typeface="Calibri" pitchFamily="34" charset="-120"/>
              </a:rPr>
              <a:t>dejala</a:t>
            </a:r>
            <a:r>
              <a:rPr lang="es-AR" sz="1250" noProof="0" dirty="0">
                <a:solidFill>
                  <a:srgbClr val="1C1C2A"/>
                </a:solidFill>
                <a:latin typeface="Calibri" pitchFamily="34" charset="0"/>
                <a:ea typeface="Calibri" pitchFamily="34" charset="-122"/>
                <a:cs typeface="Calibri" pitchFamily="34" charset="-120"/>
              </a:rPr>
              <a:t> tildada.</a:t>
            </a:r>
            <a:endParaRPr lang="es-AR" sz="1250" noProof="0" dirty="0"/>
          </a:p>
        </p:txBody>
      </p:sp>
      <p:sp>
        <p:nvSpPr>
          <p:cNvPr id="14" name="Shape"/>
          <p:cNvSpPr/>
          <p:nvPr/>
        </p:nvSpPr>
        <p:spPr>
          <a:xfrm>
            <a:off x="548640" y="4389120"/>
            <a:ext cx="10881360" cy="1234440"/>
          </a:xfrm>
          <a:prstGeom prst="roundRect">
            <a:avLst>
              <a:gd name="adj" fmla="val 7407"/>
            </a:avLst>
          </a:prstGeom>
          <a:solidFill>
            <a:srgbClr val="F5F7FC"/>
          </a:solidFill>
          <a:ln w="12700">
            <a:solidFill>
              <a:srgbClr val="CADCFC"/>
            </a:solidFill>
            <a:prstDash val="solid"/>
          </a:ln>
        </p:spPr>
        <p:txBody>
          <a:bodyPr/>
          <a:lstStyle/>
          <a:p>
            <a:endParaRPr lang="es-AR" noProof="0" dirty="0"/>
          </a:p>
        </p:txBody>
      </p:sp>
      <p:sp>
        <p:nvSpPr>
          <p:cNvPr id="15" name="Badge"/>
          <p:cNvSpPr/>
          <p:nvPr/>
        </p:nvSpPr>
        <p:spPr>
          <a:xfrm>
            <a:off x="914400" y="4823460"/>
            <a:ext cx="640080" cy="365760"/>
          </a:xfrm>
          <a:prstGeom prst="roundRect">
            <a:avLst>
              <a:gd name="adj" fmla="val 50000"/>
            </a:avLst>
          </a:prstGeom>
          <a:solidFill>
            <a:srgbClr val="1E2761"/>
          </a:solidFill>
          <a:ln/>
        </p:spPr>
        <p:txBody>
          <a:bodyPr/>
          <a:lstStyle/>
          <a:p>
            <a:endParaRPr lang="es-AR" noProof="0" dirty="0"/>
          </a:p>
        </p:txBody>
      </p:sp>
      <p:sp>
        <p:nvSpPr>
          <p:cNvPr id="16" name="BadgeNum"/>
          <p:cNvSpPr/>
          <p:nvPr/>
        </p:nvSpPr>
        <p:spPr>
          <a:xfrm>
            <a:off x="914400" y="4823460"/>
            <a:ext cx="640080" cy="365760"/>
          </a:xfrm>
          <a:prstGeom prst="rect">
            <a:avLst/>
          </a:prstGeom>
          <a:noFill/>
          <a:ln/>
        </p:spPr>
        <p:txBody>
          <a:bodyPr wrap="square" rtlCol="0" anchor="ctr"/>
          <a:lstStyle/>
          <a:p>
            <a:pPr marL="0" indent="0" algn="ctr">
              <a:buNone/>
            </a:pPr>
            <a:r>
              <a:rPr lang="es-AR" sz="1200" b="1" noProof="0" dirty="0">
                <a:solidFill>
                  <a:srgbClr val="FFFFFF"/>
                </a:solidFill>
                <a:latin typeface="Calibri" pitchFamily="34" charset="0"/>
                <a:ea typeface="Calibri" pitchFamily="34" charset="-122"/>
                <a:cs typeface="Calibri" pitchFamily="34" charset="-120"/>
              </a:rPr>
              <a:t>3</a:t>
            </a:r>
            <a:endParaRPr lang="es-AR" sz="1200" noProof="0" dirty="0"/>
          </a:p>
        </p:txBody>
      </p:sp>
      <p:sp>
        <p:nvSpPr>
          <p:cNvPr id="17" name="StepTitle"/>
          <p:cNvSpPr/>
          <p:nvPr/>
        </p:nvSpPr>
        <p:spPr>
          <a:xfrm>
            <a:off x="1783080" y="4617720"/>
            <a:ext cx="3200400" cy="457200"/>
          </a:xfrm>
          <a:prstGeom prst="rect">
            <a:avLst/>
          </a:prstGeom>
          <a:noFill/>
          <a:ln/>
        </p:spPr>
        <p:txBody>
          <a:bodyPr wrap="square" rtlCol="0" anchor="t"/>
          <a:lstStyle/>
          <a:p>
            <a:pPr marL="0" indent="0">
              <a:buNone/>
            </a:pPr>
            <a:r>
              <a:rPr lang="es-AR" sz="1700" b="1" noProof="0" dirty="0">
                <a:solidFill>
                  <a:srgbClr val="1E2761"/>
                </a:solidFill>
                <a:latin typeface="Calibri" pitchFamily="34" charset="0"/>
                <a:ea typeface="Calibri" pitchFamily="34" charset="-122"/>
                <a:cs typeface="Calibri" pitchFamily="34" charset="-120"/>
              </a:rPr>
              <a:t>Verificar que quedó instalado</a:t>
            </a:r>
            <a:endParaRPr lang="es-AR" sz="1700" noProof="0" dirty="0"/>
          </a:p>
        </p:txBody>
      </p:sp>
      <p:sp>
        <p:nvSpPr>
          <p:cNvPr id="18" name="StepDesc"/>
          <p:cNvSpPr/>
          <p:nvPr/>
        </p:nvSpPr>
        <p:spPr>
          <a:xfrm>
            <a:off x="1783080" y="5074920"/>
            <a:ext cx="9418320" cy="914400"/>
          </a:xfrm>
          <a:prstGeom prst="rect">
            <a:avLst/>
          </a:prstGeom>
          <a:noFill/>
          <a:ln/>
        </p:spPr>
        <p:txBody>
          <a:bodyPr wrap="square" rtlCol="0" anchor="t"/>
          <a:lstStyle/>
          <a:p>
            <a:pPr marL="0" indent="0">
              <a:buNone/>
            </a:pPr>
            <a:r>
              <a:rPr lang="es-AR" sz="1250" noProof="0" dirty="0">
                <a:solidFill>
                  <a:srgbClr val="1C1C2A"/>
                </a:solidFill>
                <a:latin typeface="Calibri" pitchFamily="34" charset="0"/>
                <a:ea typeface="Calibri" pitchFamily="34" charset="-122"/>
                <a:cs typeface="Calibri" pitchFamily="34" charset="-120"/>
              </a:rPr>
              <a:t>Abrí una terminal (</a:t>
            </a:r>
            <a:r>
              <a:rPr lang="es-AR" sz="1250" noProof="0" dirty="0" err="1">
                <a:solidFill>
                  <a:srgbClr val="1C1C2A"/>
                </a:solidFill>
                <a:latin typeface="Calibri" pitchFamily="34" charset="0"/>
                <a:ea typeface="Calibri" pitchFamily="34" charset="-122"/>
                <a:cs typeface="Calibri" pitchFamily="34" charset="-120"/>
              </a:rPr>
              <a:t>cmd</a:t>
            </a:r>
            <a:r>
              <a:rPr lang="es-AR" sz="1250" noProof="0" dirty="0">
                <a:solidFill>
                  <a:srgbClr val="1C1C2A"/>
                </a:solidFill>
                <a:latin typeface="Calibri" pitchFamily="34" charset="0"/>
                <a:ea typeface="Calibri" pitchFamily="34" charset="-122"/>
                <a:cs typeface="Calibri" pitchFamily="34" charset="-120"/>
              </a:rPr>
              <a:t> o PowerShell en Windows, Terminal en macOS) y </a:t>
            </a:r>
            <a:r>
              <a:rPr lang="es-AR" sz="1250" noProof="0" dirty="0" err="1">
                <a:solidFill>
                  <a:srgbClr val="1C1C2A"/>
                </a:solidFill>
                <a:latin typeface="Calibri" pitchFamily="34" charset="0"/>
                <a:ea typeface="Calibri" pitchFamily="34" charset="-122"/>
                <a:cs typeface="Calibri" pitchFamily="34" charset="-120"/>
              </a:rPr>
              <a:t>ejecutá</a:t>
            </a:r>
            <a:r>
              <a:rPr lang="es-AR" sz="1250" noProof="0" dirty="0">
                <a:solidFill>
                  <a:srgbClr val="1C1C2A"/>
                </a:solidFill>
                <a:latin typeface="Calibri" pitchFamily="34" charset="0"/>
                <a:ea typeface="Calibri" pitchFamily="34" charset="-122"/>
                <a:cs typeface="Calibri" pitchFamily="34" charset="-120"/>
              </a:rPr>
              <a:t> java -</a:t>
            </a:r>
            <a:r>
              <a:rPr lang="es-AR" sz="1250" noProof="0" dirty="0" err="1">
                <a:solidFill>
                  <a:srgbClr val="1C1C2A"/>
                </a:solidFill>
                <a:latin typeface="Calibri" pitchFamily="34" charset="0"/>
                <a:ea typeface="Calibri" pitchFamily="34" charset="-122"/>
                <a:cs typeface="Calibri" pitchFamily="34" charset="-120"/>
              </a:rPr>
              <a:t>version</a:t>
            </a:r>
            <a:r>
              <a:rPr lang="es-AR" sz="1250" noProof="0" dirty="0">
                <a:solidFill>
                  <a:srgbClr val="1C1C2A"/>
                </a:solidFill>
                <a:latin typeface="Calibri" pitchFamily="34" charset="0"/>
                <a:ea typeface="Calibri" pitchFamily="34" charset="-122"/>
                <a:cs typeface="Calibri" pitchFamily="34" charset="-120"/>
              </a:rPr>
              <a:t>. Si ves el número de versión, el JDK quedó instalado correctamente.</a:t>
            </a:r>
            <a:endParaRPr lang="es-AR" sz="1250" noProof="0" dirty="0"/>
          </a:p>
        </p:txBody>
      </p:sp>
      <p:sp>
        <p:nvSpPr>
          <p:cNvPr id="19" name="Footer"/>
          <p:cNvSpPr/>
          <p:nvPr/>
        </p:nvSpPr>
        <p:spPr>
          <a:xfrm>
            <a:off x="457200" y="6537960"/>
            <a:ext cx="8229600" cy="274320"/>
          </a:xfrm>
          <a:prstGeom prst="rect">
            <a:avLst/>
          </a:prstGeom>
          <a:noFill/>
          <a:ln/>
        </p:spPr>
        <p:txBody>
          <a:bodyPr wrap="square" rtlCol="0" anchor="ctr"/>
          <a:lstStyle/>
          <a:p>
            <a:pPr marL="0" indent="0">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20" name="PageNum"/>
          <p:cNvSpPr/>
          <p:nvPr/>
        </p:nvSpPr>
        <p:spPr>
          <a:xfrm>
            <a:off x="11521440" y="6537960"/>
            <a:ext cx="457200" cy="274320"/>
          </a:xfrm>
          <a:prstGeom prst="rect">
            <a:avLst/>
          </a:prstGeom>
          <a:noFill/>
          <a:ln/>
        </p:spPr>
        <p:txBody>
          <a:bodyPr wrap="square" rtlCol="0" anchor="ctr"/>
          <a:lstStyle/>
          <a:p>
            <a:pPr marL="0" indent="0" algn="r">
              <a:buNone/>
            </a:pPr>
            <a:r>
              <a:rPr lang="es-AR" sz="1000" noProof="0" dirty="0">
                <a:solidFill>
                  <a:srgbClr val="5B6472"/>
                </a:solidFill>
                <a:latin typeface="Calibri" pitchFamily="34" charset="0"/>
                <a:ea typeface="Calibri" pitchFamily="34" charset="-122"/>
                <a:cs typeface="Calibri" pitchFamily="34" charset="-120"/>
              </a:rPr>
              <a:t>30</a:t>
            </a:r>
            <a:endParaRPr lang="es-AR" sz="1000" noProof="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rtlCol="0" anchor="ctr"/>
          <a:lstStyle/>
          <a:p>
            <a:pPr marL="0" indent="0">
              <a:lnSpc>
                <a:spcPct val="115000"/>
              </a:lnSpc>
              <a:buNone/>
            </a:pPr>
            <a:r>
              <a:rPr lang="es-AR" sz="1300" b="1" noProof="0" dirty="0">
                <a:solidFill>
                  <a:srgbClr val="E8A33D"/>
                </a:solidFill>
                <a:latin typeface="Calibri" pitchFamily="34" charset="0"/>
                <a:ea typeface="Calibri" pitchFamily="34" charset="-122"/>
                <a:cs typeface="Calibri" pitchFamily="34" charset="-120"/>
              </a:rPr>
              <a:t>ANEXO</a:t>
            </a:r>
            <a:endParaRPr lang="es-AR" sz="1300" noProof="0" dirty="0"/>
          </a:p>
        </p:txBody>
      </p:sp>
      <p:sp>
        <p:nvSpPr>
          <p:cNvPr id="3" name="Text 1"/>
          <p:cNvSpPr/>
          <p:nvPr/>
        </p:nvSpPr>
        <p:spPr>
          <a:xfrm>
            <a:off x="548640" y="621792"/>
            <a:ext cx="10972800" cy="731520"/>
          </a:xfrm>
          <a:prstGeom prst="rect">
            <a:avLst/>
          </a:prstGeom>
          <a:noFill/>
          <a:ln/>
        </p:spPr>
        <p:txBody>
          <a:bodyPr wrap="square" rtlCol="0" anchor="ctr"/>
          <a:lstStyle/>
          <a:p>
            <a:pPr marL="0" indent="0">
              <a:lnSpc>
                <a:spcPct val="115000"/>
              </a:lnSpc>
              <a:buNone/>
            </a:pPr>
            <a:r>
              <a:rPr lang="es-AR" sz="3000" b="1" noProof="0" dirty="0">
                <a:solidFill>
                  <a:srgbClr val="1E2761"/>
                </a:solidFill>
                <a:latin typeface="Cambria" pitchFamily="34" charset="0"/>
                <a:ea typeface="Cambria" pitchFamily="34" charset="-122"/>
                <a:cs typeface="Cambria" pitchFamily="34" charset="-120"/>
              </a:rPr>
              <a:t>Verificar la instalación y elegir un IDE</a:t>
            </a:r>
            <a:endParaRPr lang="es-AR" sz="3000" noProof="0" dirty="0"/>
          </a:p>
        </p:txBody>
      </p:sp>
      <p:sp>
        <p:nvSpPr>
          <p:cNvPr id="4" name="Shape"/>
          <p:cNvSpPr/>
          <p:nvPr/>
        </p:nvSpPr>
        <p:spPr>
          <a:xfrm>
            <a:off x="548640" y="1463040"/>
            <a:ext cx="6309360" cy="5029200"/>
          </a:xfrm>
          <a:prstGeom prst="roundRect">
            <a:avLst>
              <a:gd name="adj" fmla="val 1455"/>
            </a:avLst>
          </a:prstGeom>
          <a:solidFill>
            <a:srgbClr val="F4F6FB"/>
          </a:solidFill>
          <a:ln w="12700">
            <a:solidFill>
              <a:srgbClr val="CADCFC"/>
            </a:solidFill>
            <a:prstDash val="solid"/>
          </a:ln>
        </p:spPr>
        <p:txBody>
          <a:bodyPr/>
          <a:lstStyle/>
          <a:p>
            <a:endParaRPr lang="es-AR" noProof="0" dirty="0"/>
          </a:p>
        </p:txBody>
      </p:sp>
      <p:sp>
        <p:nvSpPr>
          <p:cNvPr id="5" name="Text 3"/>
          <p:cNvSpPr/>
          <p:nvPr/>
        </p:nvSpPr>
        <p:spPr>
          <a:xfrm>
            <a:off x="777240" y="1600200"/>
            <a:ext cx="5852160" cy="4754880"/>
          </a:xfrm>
          <a:prstGeom prst="rect">
            <a:avLst/>
          </a:prstGeom>
          <a:noFill/>
          <a:ln/>
        </p:spPr>
        <p:txBody>
          <a:bodyPr wrap="square" rtlCol="0" anchor="t"/>
          <a:lstStyle/>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java -</a:t>
            </a:r>
            <a:r>
              <a:rPr lang="es-AR" sz="1300" noProof="0" dirty="0" err="1">
                <a:solidFill>
                  <a:srgbClr val="1C1C2A"/>
                </a:solidFill>
                <a:latin typeface="Courier New" pitchFamily="34" charset="0"/>
                <a:ea typeface="Courier New" pitchFamily="34" charset="-122"/>
                <a:cs typeface="Courier New" pitchFamily="34" charset="-120"/>
              </a:rPr>
              <a:t>version</a:t>
            </a:r>
            <a:endParaRPr lang="es-AR" sz="1300" noProof="0" dirty="0"/>
          </a:p>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openjdk</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version</a:t>
            </a:r>
            <a:r>
              <a:rPr lang="es-AR" sz="1300" noProof="0" dirty="0">
                <a:solidFill>
                  <a:srgbClr val="1C1C2A"/>
                </a:solidFill>
                <a:latin typeface="Courier New" pitchFamily="34" charset="0"/>
                <a:ea typeface="Courier New" pitchFamily="34" charset="-122"/>
                <a:cs typeface="Courier New" pitchFamily="34" charset="-120"/>
              </a:rPr>
              <a:t> "21.0.3" 2024-04-16</a:t>
            </a:r>
            <a:endParaRPr lang="es-AR" sz="1300" noProof="0" dirty="0"/>
          </a:p>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OpenJDK</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Runtime</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Environment</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build</a:t>
            </a:r>
            <a:r>
              <a:rPr lang="es-AR" sz="1300" noProof="0" dirty="0">
                <a:solidFill>
                  <a:srgbClr val="1C1C2A"/>
                </a:solidFill>
                <a:latin typeface="Courier New" pitchFamily="34" charset="0"/>
                <a:ea typeface="Courier New" pitchFamily="34" charset="-122"/>
                <a:cs typeface="Courier New" pitchFamily="34" charset="-120"/>
              </a:rPr>
              <a:t> 21.0.3+9)</a:t>
            </a:r>
            <a:endParaRPr lang="es-AR" sz="1300" noProof="0" dirty="0"/>
          </a:p>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OpenJDK</a:t>
            </a:r>
            <a:r>
              <a:rPr lang="es-AR" sz="1300" noProof="0" dirty="0">
                <a:solidFill>
                  <a:srgbClr val="1C1C2A"/>
                </a:solidFill>
                <a:latin typeface="Courier New" pitchFamily="34" charset="0"/>
                <a:ea typeface="Courier New" pitchFamily="34" charset="-122"/>
                <a:cs typeface="Courier New" pitchFamily="34" charset="-120"/>
              </a:rPr>
              <a:t> 64-Bit Server VM (</a:t>
            </a:r>
            <a:r>
              <a:rPr lang="es-AR" sz="1300" noProof="0" dirty="0" err="1">
                <a:solidFill>
                  <a:srgbClr val="1C1C2A"/>
                </a:solidFill>
                <a:latin typeface="Courier New" pitchFamily="34" charset="0"/>
                <a:ea typeface="Courier New" pitchFamily="34" charset="-122"/>
                <a:cs typeface="Courier New" pitchFamily="34" charset="-120"/>
              </a:rPr>
              <a:t>build</a:t>
            </a:r>
            <a:r>
              <a:rPr lang="es-AR" sz="1300" noProof="0" dirty="0">
                <a:solidFill>
                  <a:srgbClr val="1C1C2A"/>
                </a:solidFill>
                <a:latin typeface="Courier New" pitchFamily="34" charset="0"/>
                <a:ea typeface="Courier New" pitchFamily="34" charset="-122"/>
                <a:cs typeface="Courier New" pitchFamily="34" charset="-120"/>
              </a:rPr>
              <a:t> 21.0.3+9)</a:t>
            </a:r>
            <a:endParaRPr lang="es-AR" sz="1300" noProof="0" dirty="0"/>
          </a:p>
          <a:p>
            <a:pPr marL="0" indent="0">
              <a:lnSpc>
                <a:spcPct val="115000"/>
              </a:lnSpc>
              <a:buNone/>
            </a:pPr>
            <a:endParaRPr lang="es-AR" sz="1300" noProof="0" dirty="0"/>
          </a:p>
          <a:p>
            <a:pPr marL="0" indent="0">
              <a:lnSpc>
                <a:spcPct val="115000"/>
              </a:lnSpc>
              <a:buNone/>
            </a:pP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javac</a:t>
            </a:r>
            <a:r>
              <a:rPr lang="es-AR" sz="1300" noProof="0" dirty="0">
                <a:solidFill>
                  <a:srgbClr val="1C1C2A"/>
                </a:solidFill>
                <a:latin typeface="Courier New" pitchFamily="34" charset="0"/>
                <a:ea typeface="Courier New" pitchFamily="34" charset="-122"/>
                <a:cs typeface="Courier New" pitchFamily="34" charset="-120"/>
              </a:rPr>
              <a:t> -</a:t>
            </a:r>
            <a:r>
              <a:rPr lang="es-AR" sz="1300" noProof="0" dirty="0" err="1">
                <a:solidFill>
                  <a:srgbClr val="1C1C2A"/>
                </a:solidFill>
                <a:latin typeface="Courier New" pitchFamily="34" charset="0"/>
                <a:ea typeface="Courier New" pitchFamily="34" charset="-122"/>
                <a:cs typeface="Courier New" pitchFamily="34" charset="-120"/>
              </a:rPr>
              <a:t>version</a:t>
            </a:r>
            <a:endParaRPr lang="es-AR" sz="1300" noProof="0" dirty="0"/>
          </a:p>
          <a:p>
            <a:pPr marL="0" indent="0">
              <a:lnSpc>
                <a:spcPct val="115000"/>
              </a:lnSpc>
              <a:buNone/>
            </a:pPr>
            <a:r>
              <a:rPr lang="es-AR" sz="1300" noProof="0" dirty="0" err="1">
                <a:solidFill>
                  <a:srgbClr val="1C1C2A"/>
                </a:solidFill>
                <a:latin typeface="Courier New" pitchFamily="34" charset="0"/>
                <a:ea typeface="Courier New" pitchFamily="34" charset="-122"/>
                <a:cs typeface="Courier New" pitchFamily="34" charset="-120"/>
              </a:rPr>
              <a:t>javac</a:t>
            </a:r>
            <a:r>
              <a:rPr lang="es-AR" sz="1300" noProof="0" dirty="0">
                <a:solidFill>
                  <a:srgbClr val="1C1C2A"/>
                </a:solidFill>
                <a:latin typeface="Courier New" pitchFamily="34" charset="0"/>
                <a:ea typeface="Courier New" pitchFamily="34" charset="-122"/>
                <a:cs typeface="Courier New" pitchFamily="34" charset="-120"/>
              </a:rPr>
              <a:t> 21.0.3</a:t>
            </a:r>
            <a:endParaRPr lang="es-AR" sz="1300" noProof="0" dirty="0"/>
          </a:p>
        </p:txBody>
      </p:sp>
      <p:sp>
        <p:nvSpPr>
          <p:cNvPr id="6" name="Shape"/>
          <p:cNvSpPr/>
          <p:nvPr/>
        </p:nvSpPr>
        <p:spPr>
          <a:xfrm>
            <a:off x="7680960" y="1463040"/>
            <a:ext cx="3931920" cy="5029200"/>
          </a:xfrm>
          <a:prstGeom prst="roundRect">
            <a:avLst>
              <a:gd name="adj" fmla="val 2326"/>
            </a:avLst>
          </a:prstGeom>
          <a:solidFill>
            <a:srgbClr val="F5F7FC"/>
          </a:solidFill>
          <a:ln w="12700">
            <a:solidFill>
              <a:srgbClr val="CADCFC"/>
            </a:solidFill>
            <a:prstDash val="solid"/>
          </a:ln>
        </p:spPr>
        <p:txBody>
          <a:bodyPr/>
          <a:lstStyle/>
          <a:p>
            <a:endParaRPr lang="es-AR" noProof="0" dirty="0"/>
          </a:p>
        </p:txBody>
      </p:sp>
      <p:sp>
        <p:nvSpPr>
          <p:cNvPr id="7" name="Text 5"/>
          <p:cNvSpPr/>
          <p:nvPr/>
        </p:nvSpPr>
        <p:spPr>
          <a:xfrm>
            <a:off x="7909560" y="1645920"/>
            <a:ext cx="3474720" cy="365760"/>
          </a:xfrm>
          <a:prstGeom prst="rect">
            <a:avLst/>
          </a:prstGeom>
          <a:noFill/>
          <a:ln/>
        </p:spPr>
        <p:txBody>
          <a:bodyPr wrap="square" rtlCol="0" anchor="ctr"/>
          <a:lstStyle/>
          <a:p>
            <a:pPr marL="0" indent="0">
              <a:lnSpc>
                <a:spcPct val="115000"/>
              </a:lnSpc>
              <a:buNone/>
            </a:pPr>
            <a:r>
              <a:rPr lang="es-AR" sz="1300" b="1" noProof="0" dirty="0">
                <a:solidFill>
                  <a:srgbClr val="1E2761"/>
                </a:solidFill>
                <a:latin typeface="Calibri" pitchFamily="34" charset="0"/>
                <a:ea typeface="Calibri" pitchFamily="34" charset="-122"/>
                <a:cs typeface="Calibri" pitchFamily="34" charset="-120"/>
              </a:rPr>
              <a:t>Elegí un IDE</a:t>
            </a:r>
            <a:endParaRPr lang="es-AR" sz="1300" noProof="0" dirty="0"/>
          </a:p>
        </p:txBody>
      </p:sp>
      <p:sp>
        <p:nvSpPr>
          <p:cNvPr id="8" name="Text 6"/>
          <p:cNvSpPr/>
          <p:nvPr/>
        </p:nvSpPr>
        <p:spPr>
          <a:xfrm>
            <a:off x="7909560" y="2103120"/>
            <a:ext cx="3474720" cy="4206240"/>
          </a:xfrm>
          <a:prstGeom prst="rect">
            <a:avLst/>
          </a:prstGeom>
          <a:noFill/>
          <a:ln/>
        </p:spPr>
        <p:txBody>
          <a:bodyPr wrap="square" rtlCol="0" anchor="t"/>
          <a:lstStyle/>
          <a:p>
            <a:pPr marL="0" indent="0">
              <a:buNone/>
            </a:pPr>
            <a:r>
              <a:rPr lang="es-AR" sz="1250" b="1" noProof="0" dirty="0">
                <a:solidFill>
                  <a:srgbClr val="1E2761"/>
                </a:solidFill>
                <a:latin typeface="Calibri" pitchFamily="34" charset="0"/>
                <a:ea typeface="Calibri" pitchFamily="34" charset="-122"/>
                <a:cs typeface="Calibri" pitchFamily="34" charset="-120"/>
              </a:rPr>
              <a:t>IntelliJ IDEA </a:t>
            </a:r>
            <a:r>
              <a:rPr lang="es-AR" sz="1250" b="1" noProof="0" dirty="0" err="1">
                <a:solidFill>
                  <a:srgbClr val="1E2761"/>
                </a:solidFill>
                <a:latin typeface="Calibri" pitchFamily="34" charset="0"/>
                <a:ea typeface="Calibri" pitchFamily="34" charset="-122"/>
                <a:cs typeface="Calibri" pitchFamily="34" charset="-120"/>
              </a:rPr>
              <a:t>Community</a:t>
            </a:r>
            <a:r>
              <a:rPr lang="es-AR" sz="1250" b="1" noProof="0" dirty="0">
                <a:solidFill>
                  <a:srgbClr val="1E2761"/>
                </a:solidFill>
                <a:latin typeface="Calibri" pitchFamily="34" charset="0"/>
                <a:ea typeface="Calibri" pitchFamily="34" charset="-122"/>
                <a:cs typeface="Calibri" pitchFamily="34" charset="-120"/>
              </a:rPr>
              <a:t>: </a:t>
            </a:r>
            <a:r>
              <a:rPr lang="es-AR" sz="1250" noProof="0" dirty="0">
                <a:solidFill>
                  <a:srgbClr val="1C1C2A"/>
                </a:solidFill>
                <a:latin typeface="Calibri" pitchFamily="34" charset="0"/>
                <a:ea typeface="Calibri" pitchFamily="34" charset="-122"/>
                <a:cs typeface="Calibri" pitchFamily="34" charset="-120"/>
              </a:rPr>
              <a:t>gratis, autocompletado y </a:t>
            </a:r>
            <a:r>
              <a:rPr lang="es-AR" sz="1250" noProof="0" dirty="0" err="1">
                <a:solidFill>
                  <a:srgbClr val="1C1C2A"/>
                </a:solidFill>
                <a:latin typeface="Calibri" pitchFamily="34" charset="0"/>
                <a:ea typeface="Calibri" pitchFamily="34" charset="-122"/>
                <a:cs typeface="Calibri" pitchFamily="34" charset="-120"/>
              </a:rPr>
              <a:t>debugger</a:t>
            </a:r>
            <a:r>
              <a:rPr lang="es-AR" sz="1250" noProof="0" dirty="0">
                <a:solidFill>
                  <a:srgbClr val="1C1C2A"/>
                </a:solidFill>
                <a:latin typeface="Calibri" pitchFamily="34" charset="0"/>
                <a:ea typeface="Calibri" pitchFamily="34" charset="-122"/>
                <a:cs typeface="Calibri" pitchFamily="34" charset="-120"/>
              </a:rPr>
              <a:t> integrados. Es el que vamos a usar en el curso.
</a:t>
            </a:r>
            <a:r>
              <a:rPr lang="es-AR" sz="1250" b="1" noProof="0" dirty="0">
                <a:solidFill>
                  <a:srgbClr val="1E2761"/>
                </a:solidFill>
                <a:latin typeface="Calibri" pitchFamily="34" charset="0"/>
                <a:ea typeface="Calibri" pitchFamily="34" charset="-122"/>
                <a:cs typeface="Calibri" pitchFamily="34" charset="-120"/>
              </a:rPr>
              <a:t>Eclipse: </a:t>
            </a:r>
            <a:r>
              <a:rPr lang="es-AR" sz="1250" noProof="0" dirty="0">
                <a:solidFill>
                  <a:srgbClr val="1C1C2A"/>
                </a:solidFill>
                <a:latin typeface="Calibri" pitchFamily="34" charset="0"/>
                <a:ea typeface="Calibri" pitchFamily="34" charset="-122"/>
                <a:cs typeface="Calibri" pitchFamily="34" charset="-120"/>
              </a:rPr>
              <a:t>alternativa clásica y gratuita, muy usada en programación orientada a objetos.
</a:t>
            </a:r>
            <a:r>
              <a:rPr lang="es-AR" sz="1250" b="1" noProof="0" dirty="0">
                <a:solidFill>
                  <a:srgbClr val="1E2761"/>
                </a:solidFill>
                <a:latin typeface="Calibri" pitchFamily="34" charset="0"/>
                <a:ea typeface="Calibri" pitchFamily="34" charset="-122"/>
                <a:cs typeface="Calibri" pitchFamily="34" charset="-120"/>
              </a:rPr>
              <a:t>Antes de la Clase 2: </a:t>
            </a:r>
            <a:r>
              <a:rPr lang="es-AR" sz="1250" noProof="0" dirty="0" err="1">
                <a:solidFill>
                  <a:srgbClr val="1C1C2A"/>
                </a:solidFill>
                <a:latin typeface="Calibri" pitchFamily="34" charset="0"/>
                <a:ea typeface="Calibri" pitchFamily="34" charset="-122"/>
                <a:cs typeface="Calibri" pitchFamily="34" charset="-120"/>
              </a:rPr>
              <a:t>creá</a:t>
            </a:r>
            <a:r>
              <a:rPr lang="es-AR" sz="1250" noProof="0" dirty="0">
                <a:solidFill>
                  <a:srgbClr val="1C1C2A"/>
                </a:solidFill>
                <a:latin typeface="Calibri" pitchFamily="34" charset="0"/>
                <a:ea typeface="Calibri" pitchFamily="34" charset="-122"/>
                <a:cs typeface="Calibri" pitchFamily="34" charset="-120"/>
              </a:rPr>
              <a:t> y </a:t>
            </a:r>
            <a:r>
              <a:rPr lang="es-AR" sz="1250" noProof="0" dirty="0" err="1">
                <a:solidFill>
                  <a:srgbClr val="1C1C2A"/>
                </a:solidFill>
                <a:latin typeface="Calibri" pitchFamily="34" charset="0"/>
                <a:ea typeface="Calibri" pitchFamily="34" charset="-122"/>
                <a:cs typeface="Calibri" pitchFamily="34" charset="-120"/>
              </a:rPr>
              <a:t>ejecutá</a:t>
            </a:r>
            <a:r>
              <a:rPr lang="es-AR" sz="1250" noProof="0" dirty="0">
                <a:solidFill>
                  <a:srgbClr val="1C1C2A"/>
                </a:solidFill>
                <a:latin typeface="Calibri" pitchFamily="34" charset="0"/>
                <a:ea typeface="Calibri" pitchFamily="34" charset="-122"/>
                <a:cs typeface="Calibri" pitchFamily="34" charset="-120"/>
              </a:rPr>
              <a:t> un archivo HolaMundo.java desde el IDE para confirmar que todo funciona.</a:t>
            </a:r>
            <a:endParaRPr lang="es-AR" sz="1250" noProof="0" dirty="0"/>
          </a:p>
        </p:txBody>
      </p:sp>
      <p:sp>
        <p:nvSpPr>
          <p:cNvPr id="9" name="Footer"/>
          <p:cNvSpPr/>
          <p:nvPr/>
        </p:nvSpPr>
        <p:spPr>
          <a:xfrm>
            <a:off x="457200" y="6537960"/>
            <a:ext cx="8229600" cy="274320"/>
          </a:xfrm>
          <a:prstGeom prst="rect">
            <a:avLst/>
          </a:prstGeom>
          <a:noFill/>
          <a:ln/>
        </p:spPr>
        <p:txBody>
          <a:bodyPr wrap="square" rtlCol="0" anchor="ctr"/>
          <a:lstStyle/>
          <a:p>
            <a:pPr marL="0" indent="0">
              <a:lnSpc>
                <a:spcPct val="115000"/>
              </a:lnSpc>
              <a:buNone/>
            </a:pPr>
            <a:r>
              <a:rPr lang="es-AR" sz="1000" noProof="0" dirty="0">
                <a:solidFill>
                  <a:srgbClr val="5B6472"/>
                </a:solidFill>
                <a:latin typeface="Calibri" pitchFamily="34" charset="0"/>
                <a:ea typeface="Calibri" pitchFamily="34" charset="-122"/>
                <a:cs typeface="Calibri" pitchFamily="34" charset="-120"/>
              </a:rPr>
              <a:t>Algoritmos y Estructuras de Datos II  |  Clase 1</a:t>
            </a:r>
            <a:endParaRPr lang="es-AR" sz="1000" noProof="0" dirty="0"/>
          </a:p>
        </p:txBody>
      </p:sp>
      <p:sp>
        <p:nvSpPr>
          <p:cNvPr id="10" name="PageNum"/>
          <p:cNvSpPr/>
          <p:nvPr/>
        </p:nvSpPr>
        <p:spPr>
          <a:xfrm>
            <a:off x="11521440" y="6537960"/>
            <a:ext cx="457200" cy="274320"/>
          </a:xfrm>
          <a:prstGeom prst="rect">
            <a:avLst/>
          </a:prstGeom>
          <a:noFill/>
          <a:ln/>
        </p:spPr>
        <p:txBody>
          <a:bodyPr wrap="square" rtlCol="0" anchor="ctr"/>
          <a:lstStyle/>
          <a:p>
            <a:pPr marL="0" indent="0" algn="r">
              <a:lnSpc>
                <a:spcPct val="115000"/>
              </a:lnSpc>
              <a:buNone/>
            </a:pPr>
            <a:r>
              <a:rPr lang="es-AR" sz="1000" noProof="0" dirty="0">
                <a:solidFill>
                  <a:srgbClr val="5B6472"/>
                </a:solidFill>
                <a:latin typeface="Calibri" pitchFamily="34" charset="0"/>
                <a:ea typeface="Calibri" pitchFamily="34" charset="-122"/>
                <a:cs typeface="Calibri" pitchFamily="34" charset="-120"/>
              </a:rPr>
              <a:t>31</a:t>
            </a:r>
            <a:endParaRPr lang="es-AR" sz="1000" noProof="0" dirty="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124</TotalTime>
  <Words>3366</Words>
  <Application>Microsoft Office PowerPoint</Application>
  <PresentationFormat>Panorámica</PresentationFormat>
  <Paragraphs>499</Paragraphs>
  <Slides>32</Slides>
  <Notes>28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32</vt:i4>
      </vt:variant>
    </vt:vector>
  </HeadingPairs>
  <TitlesOfParts>
    <vt:vector size="39" baseType="lpstr">
      <vt:lpstr>Aptos</vt:lpstr>
      <vt:lpstr>Aptos Display</vt:lpstr>
      <vt:lpstr>Arial</vt:lpstr>
      <vt:lpstr>Calibri</vt:lpstr>
      <vt:lpstr>Cambria</vt:lpstr>
      <vt:lpstr>Courier New</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maximiliano coedo</cp:lastModifiedBy>
  <cp:revision>6</cp:revision>
  <dcterms:created xsi:type="dcterms:W3CDTF">2026-08-02T07:56:33Z</dcterms:created>
  <dcterms:modified xsi:type="dcterms:W3CDTF">2026-08-10T19:24:09Z</dcterms:modified>
</cp:coreProperties>
</file>