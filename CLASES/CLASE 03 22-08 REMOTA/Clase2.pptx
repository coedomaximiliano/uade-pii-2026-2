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&amp;w=1920&amp;q=75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8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2" r:id="rId19"/>
    <p:sldId id="283" r:id="rId20"/>
    <p:sldId id="284" r:id="rId21"/>
    <p:sldId id="272" r:id="rId22"/>
    <p:sldId id="273" r:id="rId23"/>
    <p:sldId id="274" r:id="rId24"/>
    <p:sldId id="275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95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&amp;w=1920&amp;q=75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8225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—  3.4.229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 de un TDA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especificación al código Java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3A4A9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20040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Maximiliano Coedo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 — UADE  |  2do Cuatrimestre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CLASE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39903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repaso rápido de la Clase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49840" y="1399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48640" y="18196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0136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especificación a la implementación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149840" y="1801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2199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48640" y="22219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203704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estática: concepto y estructura general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149840" y="22037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48640" y="2624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 Pila: implementación estática completa (código)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149840" y="2606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48640" y="30266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008376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— Probar y extender la Pila estática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49840" y="30083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48640" y="34290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41071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49840" y="3410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83133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548640" y="38313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81304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limitaciones de la implementación estática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149840" y="38130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33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548640" y="42336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215384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complejidad de las operaciones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149840" y="42153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63600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548640" y="46360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617720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— Implementar TDA Cola con array estático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49840" y="4617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03834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548640" y="503834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88720" y="5020056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 y revisión del ejercicio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149840" y="50200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548640" y="54406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88720" y="5422392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integrador — Pila vs. Cola: trade-offs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0149840" y="54223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8640" y="584301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548640" y="584301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88720" y="5824728"/>
            <a:ext cx="8869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resumen y para la próxima clase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149840" y="5824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especificación a la implementación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relámpago: ¿qué vimos en la Clase 1?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(contrato) vs. implementación (mecanismo)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61772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+ operaciones + pre/postcondiciones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841248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514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atributos private, constructores, this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damos el siguiente paso: pasar de "cómo se especifica" a "cómo se programa", usando estructuras de datos estáticas (arrays).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Kicker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30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traduce un TDA a una clase Java</a:t>
            </a:r>
            <a:endParaRPr lang="es-A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(TDA)</a:t>
            </a:r>
            <a:endParaRPr lang="es-A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612648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s-A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68580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Dominio del TDA</a:t>
            </a:r>
            <a:endParaRPr lang="es-AR" sz="1300" noProof="0" dirty="0"/>
          </a:p>
        </p:txBody>
      </p:sp>
      <p:sp>
        <p:nvSpPr>
          <p:cNvPr id="2" name="Text 7"/>
          <p:cNvSpPr/>
          <p:nvPr/>
        </p:nvSpPr>
        <p:spPr>
          <a:xfrm>
            <a:off x="6126480" y="20116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 privados de la clase</a:t>
            </a:r>
            <a:endParaRPr lang="es-A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crear()</a:t>
            </a:r>
            <a:endParaRPr lang="es-A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s-A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68580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</a:t>
            </a:r>
            <a:r>
              <a:rPr lang="es-AR" sz="130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(t: TDA, ...) -&gt; TDA</a:t>
            </a:r>
            <a:endParaRPr lang="es-AR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33832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 de instancia: </a:t>
            </a:r>
            <a:r>
              <a:rPr lang="es-AR" sz="1300" b="1" noProof="0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t.operacion</a:t>
            </a: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endParaRPr lang="es-A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pre: condición</a:t>
            </a:r>
            <a:endParaRPr lang="es-A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126480" y="4069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Validación al inicio del método (</a:t>
            </a:r>
            <a:r>
              <a:rPr lang="es-AR" sz="1300" b="1" noProof="0" dirty="0" err="1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excepción)</a:t>
            </a:r>
            <a:endParaRPr lang="es-A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68580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 condición</a:t>
            </a:r>
            <a:endParaRPr lang="es-AR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0" y="47548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el cuerpo del método garantiza al terminar</a:t>
            </a:r>
            <a:endParaRPr lang="es-AR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s-A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10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A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"implementar" un TDA?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TDA es tomar dos decisiones: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estructura concreta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 a guardar físicamente los datos? Hoy: un array (estructura estática).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cada operación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de la especificación se convierte en un método que respeta las mismas pre y postcondiciones.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la implementación DEBE respetar el contrato. Si la especificación dice "desapilar requiere que la pila no esté vacía", el código tiene que validar exactamente eso.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pila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estática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concepto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30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 Pila</a:t>
            </a:r>
            <a:endParaRPr lang="es-A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6492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 Pila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Operaciones: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crear() -&gt; Pila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una pila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vacia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apilar(p: Pila, x: elemento) -&gt; Pila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x queda en el tope de p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desapilar</a:t>
            </a: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(p: Pila) -&gt; Pila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 p no esta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vacia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se elimina el elemento del tope de p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tope(p: Pila) -&gt; elemento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pre:  p no esta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vacia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el elemento del tope sin eliminarlo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esVacia</a:t>
            </a: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(p: Pila) -&gt; </a:t>
            </a:r>
            <a:r>
              <a:rPr lang="es-AR" sz="1350" noProof="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s-AR" sz="135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es-AR" sz="1350" noProof="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true si p no tiene elementos</a:t>
            </a:r>
          </a:p>
          <a:p>
            <a:pPr>
              <a:lnSpc>
                <a:spcPct val="115000"/>
              </a:lnSpc>
            </a:pPr>
            <a:r>
              <a:rPr lang="es-AR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AR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esLlena</a:t>
            </a:r>
            <a:r>
              <a:rPr lang="es-AR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(p: Pila) -&gt; </a:t>
            </a:r>
            <a:r>
              <a:rPr lang="es-AR" sz="135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s-AR" sz="1350" dirty="0"/>
          </a:p>
          <a:p>
            <a:pPr>
              <a:lnSpc>
                <a:spcPct val="115000"/>
              </a:lnSpc>
            </a:pPr>
            <a:r>
              <a:rPr lang="es-AR" sz="13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post: devuelve true si p alcanzo su capacidad maxima</a:t>
            </a:r>
            <a:endParaRPr lang="es-AR" sz="1350" noProof="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5029200"/>
          </a:xfrm>
          <a:prstGeom prst="roundRect">
            <a:avLst>
              <a:gd name="adj" fmla="val 232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s-AR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7909560" y="210312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s-AR" sz="12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Pila = </a:t>
            </a:r>
            <a:r>
              <a:rPr lang="es-AR" sz="1250" noProof="0" dirty="0" err="1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r>
              <a:rPr lang="es-AR" sz="1250" noProof="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finita y ordenada de elementos, donde el último agregado es accesible primero (LIFO).</a:t>
            </a:r>
          </a:p>
          <a:p>
            <a:endParaRPr lang="es-AR" sz="1250" b="1" noProof="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s-AR" sz="1250" b="1" noProof="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AR" sz="12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apilar: </a:t>
            </a:r>
            <a:r>
              <a:rPr lang="es-AR" sz="1250" noProof="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"agregar x hace que x sea el nuevo tope"
</a:t>
            </a:r>
          </a:p>
          <a:p>
            <a:pPr marL="0" indent="0">
              <a:buNone/>
            </a:pPr>
            <a:r>
              <a:rPr lang="es-AR" sz="125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desapilar</a:t>
            </a:r>
            <a:r>
              <a:rPr lang="es-AR" sz="12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AR" sz="1250" noProof="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"solo tiene sentido si hay algo para sacar" → de ahí la precondición
</a:t>
            </a:r>
            <a:endParaRPr lang="es-AR" sz="1250" b="1" noProof="0" dirty="0">
              <a:solidFill>
                <a:srgbClr val="1C1C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AR" sz="1250" b="1" noProof="0" dirty="0">
              <a:solidFill>
                <a:srgbClr val="1C1C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AR" sz="125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tope: </a:t>
            </a:r>
            <a:r>
              <a:rPr lang="es-AR" sz="1250" noProof="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"mirar sin sacar" — no modifica la pila</a:t>
            </a:r>
            <a:endParaRPr lang="es-A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s-AR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10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A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</a:t>
            </a: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"pila </a:t>
            </a: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estática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pila </a:t>
            </a:r>
            <a:r>
              <a:rPr lang="en-US" sz="1500" dirty="0" err="1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estática</a:t>
            </a:r>
            <a:r>
              <a:rPr lang="en-US" sz="15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porque usa una estructura de tamaño FIJO, definido en el momento de crear el TDA — típicamente un array.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51560" y="3429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PilaEstatica p = new PilaEstatica(50);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capacidad (50) queda fija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toda la vida del objeto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típicos de una implementación estática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4231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array que guarda los elementos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contador (o índice) que indica cuántos elementos hay o dónde está el próximo lugar libre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valor fijo de capacidad máxima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general de la clase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150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PilaEstatica</a:t>
            </a: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</a:t>
            </a:r>
            <a:r>
              <a:rPr lang="en-US" sz="150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TipoDato</a:t>
            </a: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datos;   // el array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cantidad;       // o "tope", segun el TDA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capacidad;      // tamaño maximo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r>
              <a:rPr lang="en-US" sz="1500" dirty="0" err="1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PilaEstatica</a:t>
            </a: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capacidad)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this.capacidad = capacidad;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this.datos = new TipoDato[capacidad];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this.cantidad = 0;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una operacion de la especificacion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 un metodo publico aca abajo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y constructor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PilaEstatica {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int[] datos;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tope;      // indice del proximo        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capacidad;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PilaEstatica(int capacidad) {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this.capacidad = capacidad;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this.datos = new int[capacidad];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this.tope = 0;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737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tope = 0 al inicio?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219456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representa cuántos elementos hay apilados y, a la vez, el próximo índice libre del array. Al crear la pila, no hay elementos: tope = 0.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86600" y="37490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crear()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86600" y="420624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es la traducción directa de la operación crear() → Pila de la especificación de la Clase 1.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 consulta: esVacia, esLlena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852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esVacia()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tope == 0;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esLlena()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tope == capacidad;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4526280" cy="2194560"/>
          </a:xfrm>
          <a:prstGeom prst="roundRect">
            <a:avLst>
              <a:gd name="adj" fmla="val 416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315200" y="1737360"/>
            <a:ext cx="4069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dos operaciones son la base para escribir las precondiciones del resto de las operaciones — apilar necesita "no llena" y desapilar necesita "no vacía".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630936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777240" y="3948801"/>
            <a:ext cx="5852160" cy="272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apilar(int x)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(esLlena())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RuntimeException("Pila llena");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datos[tope] = x;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tope++;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desapilar()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(esVacia())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RuntimeException("Pila vacia");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tope--;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datos[tope];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3931920"/>
            <a:ext cx="452628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315200" y="41148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directa de pre/post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4526280"/>
            <a:ext cx="4069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"no está vacía"  →  if (esVacia()) throw...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"x queda en el tope"  →  datos[tope]=x; tope++;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tope() — consultar sin eliminar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obtenerTope()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(esVacia()) {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RuntimeException("Pila vacia");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datos[tope - 1];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0" y="1554480"/>
            <a:ext cx="4526280" cy="20116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315200" y="16916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tope - 1 y no tope?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2103120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apunta al próximo lugar LIBRE. El último elemento apilado está una posición antes: datos[tope - 1].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0607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de diseño: obtenerTope() NO modifica tope ni el array — solo lee. Esto es exactamente lo que dice la especificación: "devuelve el elemento del tope sin eliminarlo". Comparen con desapilar(), que sí modifica el estado.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Probar y extender la Pila estática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332720" y="320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Individualmente: copien la clase PilaEstatica vista en el bloque anterior en su IDE y complétenla con lo siguiente.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main() que cree una pila de capacidad 5 y apile los números del 1 al 5.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Intentar apilar un 6º elemento y verificar que se lanza la excepción "Pila llena".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Desapilar todos los elementos e imprimirlos: deberían salir en orden inverso (5,4,3,2,1).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método tamaño() que devuelva la cantidad de elementos actuales (pista: es directamente un atributo).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 antes: agreguen un método vaciar() que deje la pila en el mismo estado que devuelve crear().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limitaciones de la implementación estática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de la implementación estática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directo por índice: muy rápido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de implementar y entender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Buena localidad de memoria (el array es contiguo, lo que ayuda al rendimiento real)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8B2E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Tamaño fijo: hay que estimarlo de antemano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Desperdicio de memoria si se reserva de más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Excepción/error si se necesita más espacio del reservado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complejidad de las operaciones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Notación Big 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057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toma el mismo tiempo sin importar el tamaño de los datos.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834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crece de forma directa con la cantidad de datos.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Cuadrático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crece muy rápido, común en bucles dentro de bucles.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43891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Logarítmico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43891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crece lento, muy eficiente al buscar en listas ordenadas.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no mide segundos: mide cómo escala el costo cuando la cantidad de datos (n) crece. Es la forma formal de lo que venimos llamando "</a:t>
            </a:r>
            <a:r>
              <a:rPr lang="en-US" sz="1300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 de cada tipo</a:t>
            </a:r>
            <a:endParaRPr lang="en-US" sz="2800" dirty="0"/>
          </a:p>
        </p:txBody>
      </p:sp>
      <p:sp>
        <p:nvSpPr>
          <p:cNvPr id="30" name="Label 30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Constante</a:t>
            </a:r>
            <a:endParaRPr lang="es-AR" sz="1500" dirty="0"/>
          </a:p>
        </p:txBody>
      </p:sp>
      <p:sp>
        <p:nvSpPr>
          <p:cNvPr id="31" name="Code 31"/>
          <p:cNvSpPr/>
          <p:nvPr/>
        </p:nvSpPr>
        <p:spPr>
          <a:xfrm>
            <a:off x="548640" y="19202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CodeText 32"/>
          <p:cNvSpPr/>
          <p:nvPr/>
        </p:nvSpPr>
        <p:spPr>
          <a:xfrm>
            <a:off x="685800" y="205740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primero(int[] datos) 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datos[0];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mismo tiempo, sin importar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tamano del array</a:t>
            </a:r>
          </a:p>
        </p:txBody>
      </p:sp>
      <p:sp>
        <p:nvSpPr>
          <p:cNvPr id="33" name="Label 33"/>
          <p:cNvSpPr/>
          <p:nvPr/>
        </p:nvSpPr>
        <p:spPr>
          <a:xfrm>
            <a:off x="617220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Lineal</a:t>
            </a:r>
            <a:endParaRPr lang="es-AR" sz="1500" dirty="0"/>
          </a:p>
        </p:txBody>
      </p:sp>
      <p:sp>
        <p:nvSpPr>
          <p:cNvPr id="34" name="Code 34"/>
          <p:cNvSpPr/>
          <p:nvPr/>
        </p:nvSpPr>
        <p:spPr>
          <a:xfrm>
            <a:off x="6172200" y="19202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CodeText 35"/>
          <p:cNvSpPr/>
          <p:nvPr/>
        </p:nvSpPr>
        <p:spPr>
          <a:xfrm>
            <a:off x="6309360" y="205740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pertenece(int[] d, int x) 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i=0; i&lt;d.length; i++)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(d[i]==x) return true;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false;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36" name="Label 36"/>
          <p:cNvSpPr/>
          <p:nvPr/>
        </p:nvSpPr>
        <p:spPr>
          <a:xfrm>
            <a:off x="548640" y="393192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Cuadrático</a:t>
            </a:r>
            <a:endParaRPr lang="es-AR" sz="1500" dirty="0"/>
          </a:p>
        </p:txBody>
      </p:sp>
      <p:sp>
        <p:nvSpPr>
          <p:cNvPr id="37" name="Code 37"/>
          <p:cNvSpPr/>
          <p:nvPr/>
        </p:nvSpPr>
        <p:spPr>
          <a:xfrm>
            <a:off x="548640" y="438912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CodeText 38"/>
          <p:cNvSpPr/>
          <p:nvPr/>
        </p:nvSpPr>
        <p:spPr>
          <a:xfrm>
            <a:off x="685800" y="452628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i&lt;n; i++)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j=0; j&lt;n; j++)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print(datos[i]+","+datos[j]);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 * n operaciones en total</a:t>
            </a:r>
          </a:p>
        </p:txBody>
      </p:sp>
      <p:sp>
        <p:nvSpPr>
          <p:cNvPr id="39" name="Label 39"/>
          <p:cNvSpPr/>
          <p:nvPr/>
        </p:nvSpPr>
        <p:spPr>
          <a:xfrm>
            <a:off x="6172200" y="393192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Logarítmico</a:t>
            </a:r>
            <a:endParaRPr lang="es-AR" sz="1500" dirty="0"/>
          </a:p>
        </p:txBody>
      </p:sp>
      <p:sp>
        <p:nvSpPr>
          <p:cNvPr id="40" name="Code 40"/>
          <p:cNvSpPr/>
          <p:nvPr/>
        </p:nvSpPr>
        <p:spPr>
          <a:xfrm>
            <a:off x="6172200" y="438912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CodeText 41"/>
          <p:cNvSpPr/>
          <p:nvPr/>
        </p:nvSpPr>
        <p:spPr>
          <a:xfrm>
            <a:off x="6309360" y="452628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(inicio &lt;= fin) 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medio=(inicio+fin)/2;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(d[medio]==x) return true;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(d[medio]&lt;x)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inicio = medio + 1;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fin = medio - 1;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0AA69-15F2-4430-DB14-C85957CD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A7662A-14DB-61E9-3A95-EC3BD8AC6A87}"/>
              </a:ext>
            </a:extLst>
          </p:cNvPr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70D3107-4EE4-E889-0BAF-1159FE523988}"/>
              </a:ext>
            </a:extLst>
          </p:cNvPr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17E69B-7C99-3DB9-BF2A-E8CB52B70894}"/>
              </a:ext>
            </a:extLst>
          </p:cNvPr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Imagen 4" descr="Big O Notation: Lo que los Entrevistadores Realmente Esperan que Sepas  [2026] | Developero">
            <a:extLst>
              <a:ext uri="{FF2B5EF4-FFF2-40B4-BE49-F238E27FC236}">
                <a16:creationId xmlns:a16="http://schemas.microsoft.com/office/drawing/2014/main" id="{C12A2203-D580-99E3-5CCD-4C9739C3A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13" y="640080"/>
            <a:ext cx="10934520" cy="574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64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"cuesta" cada operación de la Pila?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apilar(x)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057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0574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datos[tope] y suma 1 — no depende de cuántos elementos ya haya.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desapilar()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8346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8346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1 y lee una posición — tampoco depende del tamaño.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1064240" cy="777240"/>
          </a:xfrm>
          <a:prstGeom prst="rect">
            <a:avLst/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una única posición del array.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esVacia() / esLlena()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43891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43891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 de dos números.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operaciones de la Pila estática son de costo constante — ninguna depende de la cantidad de elementos almacenados.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Adelanto: no siempre va a ser O(1)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Pila es un caso favorable porque siempre se trabaja sobre el tope. Otros TDAs no van a correr con la misma suerte con un array simple.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que viene en la Clase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TDA Cola con Prioridad, si insertar es O(1) (agregar al final), entonces buscar el elemento de mayor prioridad para extraerlo es O(n) — hay que recorrer todo el array. Este tipo de trade-off (rápido para insertar, lento para extraer, o viceversa) es central en la materia y va a reaparecer en árboles y grafos.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TDA Cola con array estático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332720" y="320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332720" y="320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parejas: implementen la clase ColaEstatica siguiendo la especificación del TDA Cola que armaron en el Ejercicio 1 de la Clase 1.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sugeridos: array datos, capacidad, e índices inicio y fin (o cantidad).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Implementar: crear (constructor), encolar, desencolar, primero, esVacia, esLlena.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Desafío: al desencolar, NO corran todos los elementos del array — usen un índice inicio que avance.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Prueben: encolar 5 elementos, desencolar 2, encolar 2 más. ¿Qué pasa si inicio y fin llegan al final del array pero quedan lugares libres al principio?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para el desafío final: esto se llama "cola circular" — se resuelve usando el operador módulo (%) sobre la capacidad. Se discute en la puesta en común.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común: Cola con array circular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455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ColaEstatica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int[] datos;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inicio, fin, cantidad, capacidad;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ColaEstatica(int capacidad)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this.capacidad = capacidad;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this.datos = new int[capacidad];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this.inicio = 0; this.fin = 0; this.cantidad = 0;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encolar(int x)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(cantidad == capacidad) throw new RuntimeException("Cola llena");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datos[fin] = x;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 = (fin + 1) % capacidad;   // &lt;-- clave: circular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cantidad++;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desencolar()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(cantidad == 0) throw new RuntimeException("Cola vacia");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valor = datos[inicio];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inicio = (inicio + 1) % capacidad;  // &lt;-- clave: circular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cantidad--;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C1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91E38AC-4029-43E8-30BB-E8D6E799E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69" y="1600200"/>
            <a:ext cx="4259971" cy="2043584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B1618E4-40F6-208A-9236-AF09D8F51F18}"/>
              </a:ext>
            </a:extLst>
          </p:cNvPr>
          <p:cNvCxnSpPr/>
          <p:nvPr/>
        </p:nvCxnSpPr>
        <p:spPr>
          <a:xfrm flipH="1">
            <a:off x="6179736" y="2612571"/>
            <a:ext cx="1081733" cy="1507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9B2DC55F-B180-6111-1107-360618343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012" y="4656155"/>
            <a:ext cx="4890868" cy="1275538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BB1479A-2884-0C37-2CA0-3CC131A4DFDB}"/>
              </a:ext>
            </a:extLst>
          </p:cNvPr>
          <p:cNvCxnSpPr>
            <a:cxnSpLocks/>
          </p:cNvCxnSpPr>
          <p:nvPr/>
        </p:nvCxnSpPr>
        <p:spPr>
          <a:xfrm flipH="1">
            <a:off x="6481187" y="4942784"/>
            <a:ext cx="239415" cy="45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TDA = elegir una estructura concreta + traducir cada operación respetando pre/postcondiciones.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estática usa un array de tamaño fijo definido al crear el TDA.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estática: todas sus operaciones son O(1) porque siempre trabajan sobre el tope.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148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estática necesita índices circulares (inicio, fin con % capacidad) para ser eficiente.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9377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principal: velocidad y simplicidad. Limitación principal: tamaño fijo.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3: Cola con Prioridad y Conjunto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35915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terminada (o intentada) la ColaEstatica del Ejercicio 2.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535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el concepto de complejidad O(1) vs. O(n) visto hoy.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cómo especificarían el TDA Cola con Prioridad (repaso del formato de la Clase 1).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14223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60120" y="4069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las dudas de la implementación circular para resolverlas al inicio.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Estructuras de Datos II  |  Clase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2757</Words>
  <Application>Microsoft Office PowerPoint</Application>
  <PresentationFormat>Panorámica</PresentationFormat>
  <Paragraphs>420</Paragraphs>
  <Slides>26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coedo</cp:lastModifiedBy>
  <cp:revision>8</cp:revision>
  <dcterms:created xsi:type="dcterms:W3CDTF">2026-08-03T05:53:02Z</dcterms:created>
  <dcterms:modified xsi:type="dcterms:W3CDTF">2026-08-22T06:14:55Z</dcterms:modified>
</cp:coreProperties>
</file>