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486400" cy="5486400"/>
          </a:xfrm>
          <a:prstGeom prst="ellipse">
            <a:avLst/>
          </a:prstGeom>
          <a:solidFill>
            <a:srgbClr val="263876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114800"/>
            <a:ext cx="4572000" cy="4572000"/>
          </a:xfrm>
          <a:prstGeom prst="ellipse">
            <a:avLst/>
          </a:prstGeom>
          <a:solidFill>
            <a:srgbClr val="18225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—  3.4.229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Clase 4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7744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 Diccionario y su primera implementación dinámica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de problemas combinando distintos TDAs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3657600"/>
            <a:ext cx="2377440" cy="36576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DURACIÓN: 4 HORAS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365760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3A4A9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0" y="3657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III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Maximiliano Coedo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9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FAIN — UADE  |  2do Cuatrimestre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LA CLASE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— 4 horas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457200" cy="310896"/>
          </a:xfrm>
          <a:prstGeom prst="roundRect">
            <a:avLst>
              <a:gd name="adj" fmla="val 17647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41732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399032"/>
            <a:ext cx="8869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Bienvenida y repaso relámpago: Pila, Cola, Cola con Prioridad, Conjunto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149840" y="139903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1819656"/>
            <a:ext cx="457200" cy="310896"/>
          </a:xfrm>
          <a:prstGeom prst="roundRect">
            <a:avLst>
              <a:gd name="adj" fmla="val 17647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181965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801368"/>
            <a:ext cx="8869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Motivación: ¿qué problema resuelve un Diccionario?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0149840" y="180136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221992"/>
            <a:ext cx="457200" cy="310896"/>
          </a:xfrm>
          <a:prstGeom prst="roundRect">
            <a:avLst>
              <a:gd name="adj" fmla="val 17647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221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203704"/>
            <a:ext cx="8869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Especificación formal del TDA Diccionario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0" y="220370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2624328"/>
            <a:ext cx="457200" cy="310896"/>
          </a:xfrm>
          <a:prstGeom prst="roundRect">
            <a:avLst>
              <a:gd name="adj" fmla="val 17647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262432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606040"/>
            <a:ext cx="8869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una implementación dinámica? Nodos por referencia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0" y="26060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026664"/>
            <a:ext cx="457200" cy="310896"/>
          </a:xfrm>
          <a:prstGeom prst="roundRect">
            <a:avLst>
              <a:gd name="adj" fmla="val 17647"/>
            </a:avLst>
          </a:prstGeom>
          <a:solidFill>
            <a:srgbClr val="5B647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302666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008376"/>
            <a:ext cx="8869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Descanso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0" y="300837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3429000"/>
            <a:ext cx="457200" cy="310896"/>
          </a:xfrm>
          <a:prstGeom prst="roundRect">
            <a:avLst>
              <a:gd name="adj" fmla="val 17647"/>
            </a:avLst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4290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3410712"/>
            <a:ext cx="8869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 NodoDiccionario y DiccionarioDinamico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0" y="341071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3831336"/>
            <a:ext cx="457200" cy="310896"/>
          </a:xfrm>
          <a:prstGeom prst="roundRect">
            <a:avLst>
              <a:gd name="adj" fmla="val 17647"/>
            </a:avLst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383133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188720" y="3813048"/>
            <a:ext cx="8869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Código: definir(), obtener(), eliminar(), existeClave()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0" y="381304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48640" y="4233672"/>
            <a:ext cx="457200" cy="310896"/>
          </a:xfrm>
          <a:prstGeom prst="roundRect">
            <a:avLst>
              <a:gd name="adj" fmla="val 17647"/>
            </a:avLst>
          </a:prstGeom>
          <a:solidFill>
            <a:srgbClr val="1E276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" y="42336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188720" y="4215384"/>
            <a:ext cx="8869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real: demo funcionando sobre una agenda de contactos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10149840" y="421538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48640" y="4636008"/>
            <a:ext cx="457200" cy="310896"/>
          </a:xfrm>
          <a:prstGeom prst="roundRect">
            <a:avLst>
              <a:gd name="adj" fmla="val 17647"/>
            </a:avLst>
          </a:prstGeom>
          <a:solidFill>
            <a:srgbClr val="1E276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" y="46360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188720" y="4617720"/>
            <a:ext cx="8869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de problemas combinando distintos TDAs (3 ejercicios)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10149840" y="46177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min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548640" y="5038344"/>
            <a:ext cx="457200" cy="310896"/>
          </a:xfrm>
          <a:prstGeom prst="roundRect">
            <a:avLst>
              <a:gd name="adj" fmla="val 17647"/>
            </a:avLst>
          </a:prstGeom>
          <a:solidFill>
            <a:srgbClr val="1E2761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48640" y="503834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188720" y="5020056"/>
            <a:ext cx="8869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en común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0" y="50200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48640" y="5440680"/>
            <a:ext cx="457200" cy="310896"/>
          </a:xfrm>
          <a:prstGeom prst="roundRect">
            <a:avLst>
              <a:gd name="adj" fmla="val 17647"/>
            </a:avLst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48640" y="544068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188720" y="5422392"/>
            <a:ext cx="8869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Cierre, resumen y para la próxima clase</a:t>
            </a:r>
            <a:endParaRPr lang="en-US" sz="135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0" y="54223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26387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2468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346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Repaso relámpago: los TDAs que ya conocemos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ya sabemos hacer (Clases 2 y 3)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 (clase)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84048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típico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303520" y="160020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11064240" cy="77724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74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 (Clase 2)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20574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303520" y="205740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apilar / desapilar / tope trabajan siempre sobre el tope.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110642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2834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 (Clase 2)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283464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83464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encolar / desencolar circular, con índices, sin correr nada.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11064240" cy="77724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36118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 con Prioridad (Clase 3)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840480" y="361188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 / O(n)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361188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insertar es libre; extraerMax recorre todo (sin heap).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389120"/>
            <a:ext cx="110642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43891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Conjunto (Clase 3)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840480" y="438912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303520" y="438912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pertenece / agregar recorren todo: no hay orden que aproveche.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cuatro están implementados con arreglos (estático). Hoy aparece un TDA nuevo — el Diccionario — junto con su primera implementación dinámica (con nodos).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— REPASO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TDA Pila (Clase 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949440" cy="5029200"/>
          </a:xfrm>
          <a:prstGeom prst="roundRect">
            <a:avLst>
              <a:gd name="adj" fmla="val 364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TDA Pila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Operaciones: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crear() -&gt; Pila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post: devuelve una pila vacia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apilar(p: Pila, x: elemento) -&gt; Pila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post: x queda en el tope de p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desapilar(p: Pila) -&gt; Pila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pre: p no esta vacia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post: se quita el elemento del tope de p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tope(p: Pila) -&gt; elemento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pre: p no esta vacia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post: devuelve el elemento del tope de p,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sin sacarlo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esVacia(p: Pila) -&gt; boolean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680960" y="1463040"/>
            <a:ext cx="3931920" cy="5029200"/>
          </a:xfrm>
          <a:prstGeom prst="roundRect">
            <a:avLst>
              <a:gd name="adj" fmla="val 698"/>
            </a:avLst>
          </a:prstGeom>
          <a:solidFill>
            <a:srgbClr val="F5F7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09560" y="16459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LIFO — Last In, First Out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09560" y="2103120"/>
            <a:ext cx="3474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último elemento apilado es siempre el primero en salir.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estática: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arreglo con un índice tope; apilar/desapilar trabajan solo sobre el último lugar ocupado.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apilar, desapilar y tope son O(1) — ninguna recorre ni mueve otros elementos.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— REPASO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PilaEstatica: apilar(), desapilar(), tope()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3520440"/>
          </a:xfrm>
          <a:prstGeom prst="roundRect">
            <a:avLst>
              <a:gd name="adj" fmla="val 519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10607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Object[] datos;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int tope; // proximo lugar libre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apilar(Object x)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datos[tope] = x;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tope++;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Object desapilar()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tope--;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datos[tope];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Object tope() { return datos[tope - 1]; }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51663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real: apilar(3,7,2) -&gt; tope()=2 -&gt; desapilar() devuelve 2 -&gt; tope()=7. Todo O(1): tope solo sube o baja un lugar, nunca recorre el arreglo.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— REPASO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TDA Cola (Clase 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949440" cy="5029200"/>
          </a:xfrm>
          <a:prstGeom prst="roundRect">
            <a:avLst>
              <a:gd name="adj" fmla="val 364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TDA Cola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Operaciones: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crear() -&gt; Cola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post: devuelve una cola vacia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encolar(c: Cola, x: elemento) -&gt; Cola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post: x queda al final de c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desencolar(c: Cola) -&gt; Cola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pre: c no esta vacia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post: se quita el elemento del frente de c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frente(c: Cola) -&gt; elemento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pre: c no esta vacia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post: devuelve el elemento del frente de c,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sin sacarlo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esVacia(c: Cola) -&gt; boolean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680960" y="1463040"/>
            <a:ext cx="3931920" cy="5029200"/>
          </a:xfrm>
          <a:prstGeom prst="roundRect">
            <a:avLst>
              <a:gd name="adj" fmla="val 698"/>
            </a:avLst>
          </a:prstGeom>
          <a:solidFill>
            <a:srgbClr val="F5F7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09560" y="16459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FIFO — First In, First Out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09560" y="2103120"/>
            <a:ext cx="3474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elemento encolado es siempre el primero en salir.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estática circular: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arreglo con índices frente y fin que avanzan con aritmética modular.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encolar y desencolar son O(1) en todos los casos, reutilizando los lugares liberados.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— REPASO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ColaEstatica circular: encolar(), desencolar()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3520440"/>
          </a:xfrm>
          <a:prstGeom prst="roundRect">
            <a:avLst>
              <a:gd name="adj" fmla="val 519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10607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Object[] datos;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int frente, fin, cantidad;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encolar(Object x)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datos[fin] = x;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fin = (fin + 1) % datos.length;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cantidad++;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Object desencolar()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Object x = datos[frente];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frente = (frente + 1) % datos.length;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cantidad--;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x;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51663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real: encolar(10,20,30) -&gt; frente()=10 -&gt; desencolar() devuelve 10 -&gt; encolar(40) -&gt; frente()=20, sin correr nada. El % reutiliza el lugar que dejó libre el 10.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— REPASO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TDA Cola con Prioridad (Clase 3)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949440" cy="5029200"/>
          </a:xfrm>
          <a:prstGeom prst="roundRect">
            <a:avLst>
              <a:gd name="adj" fmla="val 364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TDA ColaConPrioridad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Operaciones: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crear() -&gt; CCP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post: devuelve una CCP vacia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insertar(c: CCP, x: elemento, prioridad: entero)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-&gt; CCP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post: x queda agregado con esa prioridad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extraerMax(c: CCP) -&gt; CCP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pre: c no esta vacia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post: se quita el elemento de mayor prioridad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verMax(c: CCP) -&gt; elemento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pre: c no esta vacia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post: devuelve el elemento de mayor prioridad,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sin sacarlo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esVacia(c: CCP) -&gt; boolean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680960" y="1463040"/>
            <a:ext cx="3931920" cy="5029200"/>
          </a:xfrm>
          <a:prstGeom prst="roundRect">
            <a:avLst>
              <a:gd name="adj" fmla="val 698"/>
            </a:avLst>
          </a:prstGeom>
          <a:solidFill>
            <a:srgbClr val="F5F7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09560" y="16459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 desordenada (Clase 3)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09560" y="2103120"/>
            <a:ext cx="3474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insertar: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agrega al final tal cual llega, sin buscar ni ordenar → O(1).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verMax / extraerMax: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que recorrer TODO el arreglo para encontrar la mayor prioridad → O(n).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variante ordenada invierte el costo: insertar O(n), extraerMax O(1).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— REPASO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ColaPrioridadEstatica (desordenada): insertar(), extraerMax()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3520440"/>
          </a:xfrm>
          <a:prstGeom prst="roundRect">
            <a:avLst>
              <a:gd name="adj" fmla="val 519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10607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insertar(Object x, int prioridad)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valores[cantidad] = x;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prioridades[cantidad] = prioridad;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cantidad++;                    // O(1)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int indiceMax() {          // recorre TODO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iMax = 0;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1; i &lt; cantidad; i++)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(prioridades[i] &gt; prioridades[iMax]) iMax = i;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iMax;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51663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real: insertar("Incendio",10), insertar("Reunion",5), insertar("Mails",2) -&gt; verMax()="Incendio en el servidor" -&gt; extraerMax() -&gt; verMax()="Reunion de equipo".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— REPASO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TDA Conjunto (Clase 3)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949440" cy="5029200"/>
          </a:xfrm>
          <a:prstGeom prst="roundRect">
            <a:avLst>
              <a:gd name="adj" fmla="val 364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TDA Conjunto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Operaciones: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crear() -&gt; Conjunto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post: devuelve un conjunto vacio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agregar(c: Conjunto, x: elemento) -&gt; Conjunto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post: x pertenece a c (sin duplicarlo si ya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estaba)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eliminar(c: Conjunto, x: elemento) -&gt; Conjunto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post: x ya no pertenece a c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pertenece(c: Conjunto, x: elemento) -&gt; boolean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esVacio(c: Conjunto) -&gt; boolean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680960" y="1463040"/>
            <a:ext cx="3931920" cy="5029200"/>
          </a:xfrm>
          <a:prstGeom prst="roundRect">
            <a:avLst>
              <a:gd name="adj" fmla="val 698"/>
            </a:avLst>
          </a:prstGeom>
          <a:solidFill>
            <a:srgbClr val="F5F7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09560" y="16459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orden, sin duplicados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09560" y="2103120"/>
            <a:ext cx="3474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pertenece: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peor caso hay que recorrer todo el arreglo → O(n).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primero llama a pertenece(x) para no duplicar → O(n) también.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 con Diccionario: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Conjunto solo sabe SI un elemento está; el Diccionario le asocia además un valor (hoy).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— REPASO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ConjuntoEstatico: pertenece(), agregar()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3520440"/>
          </a:xfrm>
          <a:prstGeom prst="roundRect">
            <a:avLst>
              <a:gd name="adj" fmla="val 519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10607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boolean pertenece(int x)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cantidad; i++)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(elementos[i] == x) return true;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false;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agregar(int x)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(pertenece(x)) return;   // evita duplicados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elementos[cantidad] = x;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cantidad++;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51663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real: agregar(3), agregar(7), agregar(3 de nuevo) -&gt; pertenece(7)=true, pertenece(9)=false -&gt; eliminar(3) -&gt; pertenece(3)=false.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26387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2468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346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TDA Diccionario: ¿qué problema resuelve?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Diccionario en la vida real: tres ejemplos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01898" cy="3108960"/>
          </a:xfrm>
          <a:prstGeom prst="roundRect">
            <a:avLst>
              <a:gd name="adj" fmla="val 1471"/>
            </a:avLst>
          </a:prstGeom>
          <a:solidFill>
            <a:srgbClr val="F5F7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de contactos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14600"/>
            <a:ext cx="284469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nombre (clave) tiene asociado un teléfono (valor). Se busca por nombre, no por posición en una lista.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017874" y="1737360"/>
            <a:ext cx="3301898" cy="3108960"/>
          </a:xfrm>
          <a:prstGeom prst="roundRect">
            <a:avLst>
              <a:gd name="adj" fmla="val 1471"/>
            </a:avLst>
          </a:prstGeom>
          <a:solidFill>
            <a:srgbClr val="F5F7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46474" y="196596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 de un libro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246474" y="2514600"/>
            <a:ext cx="284469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palabra clave (clave) apunta a una o más páginas (valor) donde aparece esa palabra.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487107" y="1737360"/>
            <a:ext cx="3301898" cy="3108960"/>
          </a:xfrm>
          <a:prstGeom prst="roundRect">
            <a:avLst>
              <a:gd name="adj" fmla="val 1471"/>
            </a:avLst>
          </a:prstGeom>
          <a:solidFill>
            <a:srgbClr val="F5F7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15707" y="196596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Caché de resultados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715707" y="2514600"/>
            <a:ext cx="284469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consulta ya resuelta (clave) tiene guardado su resultado (valor), para no tener que recalcularlo.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0749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los tres casos se busca por una CLAVE, no por una posición — y cada clave tiene asociado, a lo sumo, un valor. Eso es exactamente lo que especifica el TDA Diccionario.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Conjunto al Diccionario: la otra mitad del problema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114800"/>
          </a:xfrm>
          <a:prstGeom prst="roundRect">
            <a:avLst>
              <a:gd name="adj" fmla="val 444"/>
            </a:avLst>
          </a:prstGeom>
          <a:solidFill>
            <a:srgbClr val="F5F7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TDA Conjunto (Clase 3) ya resuelve "¿este elemento pertenece?" — pero no guarda nada más sobre ese elemento. El Diccionario agrega lo que falta: cada clave lleva un valor asociado.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3291840"/>
            <a:ext cx="4846320" cy="2103120"/>
          </a:xfrm>
          <a:prstGeom prst="roundRect">
            <a:avLst>
              <a:gd name="adj" fmla="val 1304"/>
            </a:avLst>
          </a:prstGeom>
          <a:solidFill>
            <a:srgbClr val="F4F6F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342900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Conjunto (Clase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pertenece(c, x) -&gt; boolean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Diccionario (hoy)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existeClave(d, clave) -&gt; boolean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obtener(d, clave) -&gt; elemento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1554480"/>
            <a:ext cx="5440680" cy="4114800"/>
          </a:xfrm>
          <a:prstGeom prst="roundRect">
            <a:avLst>
              <a:gd name="adj" fmla="val 444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6520" y="17830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existeClave() antes de definir()?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42316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definir() necesita saber si la clave ya existía, para decidir entre ACTUALIZAR el valor o AGREGAR un par nuevo</a:t>
            </a:r>
            <a:endParaRPr lang="en-US" sz="14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Sin esa distinción, cantidadClaves() no podría mantenerse correcta</a:t>
            </a:r>
            <a:endParaRPr lang="en-US" sz="14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Es la misma razón por la que agregar() del Conjunto llama primero a pertenece()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Especificación formal del TDA Diccionario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949440" cy="5029200"/>
          </a:xfrm>
          <a:prstGeom prst="roundRect">
            <a:avLst>
              <a:gd name="adj" fmla="val 364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TDA Diccionario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Operaciones: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crear() -&gt; Diccionario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post: devuelve un diccionario vacio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definir(d, clave, valor) -&gt; Diccionario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post: si existeClave(d,clave) actualiza el valor;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si no, agrega el par (clave, valor)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obtener(d, clave) -&gt; elemento      pre: existeClave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eliminar(d, clave) -&gt; Diccionario  pre: existeClave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existeClave(d, clave) -&gt; boolean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esVacio(d) -&gt; boolean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cantidadClaves(d) -&gt; entero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claves(d) -&gt; Lista   (sin orden particular)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680960" y="1463040"/>
            <a:ext cx="3931920" cy="5029200"/>
          </a:xfrm>
          <a:prstGeom prst="roundRect">
            <a:avLst>
              <a:gd name="adj" fmla="val 698"/>
            </a:avLst>
          </a:prstGeom>
          <a:solidFill>
            <a:srgbClr val="F5F7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09560" y="16459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09560" y="2103120"/>
            <a:ext cx="3474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conjunto de pares clave-valor donde cada clave es única — aparece asociada a, a lo sumo, un valor.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claves(d):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agrega como 8va operación porque, sin ella, no habría forma de enumerar los pares desde afuera del TDA — la vamos a necesitar en los ejercicios de hoy.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la usaron: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exactamente la misma especificación del TP2 — no hay una versión "de clase" distinta.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3749040"/>
            <a:ext cx="4572000" cy="4572000"/>
          </a:xfrm>
          <a:prstGeom prst="ellipse">
            <a:avLst/>
          </a:prstGeom>
          <a:solidFill>
            <a:srgbClr val="26387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2468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346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Implementación dinámica: nodos por referencia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un Nodo, en el caso del Diccionario?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5544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NodoDiccionario guarda un PAR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65960"/>
            <a:ext cx="987552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vez de un solo dato (como en Pila o Lista), acá cada nodo guarda dos cosas: una clave y su valor asociado.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7736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773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7279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...y una referencia al próximo nodo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139440"/>
            <a:ext cx="987552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 que cualquier estructura dinámica: siguiente apunta al próximo par de la cadena (null si es el último).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9471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947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9014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DiccionarioDinamico solo guarda la cabeza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312920"/>
            <a:ext cx="987552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array ni capacidad fija: cada definir() de una clave nueva pide un NodoDiccionario nuevo, sin límite artificial que chequear.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212080"/>
            <a:ext cx="11064240" cy="1051560"/>
          </a:xfrm>
          <a:prstGeom prst="roundRect">
            <a:avLst>
              <a:gd name="adj" fmla="val 3478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21208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MISMA idea de Nodo que ya conocen de Pila y Lista — la única diferencia es que acá el "dato" es en realidad un par (clave, valor). La Clase 5 retoma esta idea en más profundidad, comparándola operación por operación contra la implementación estática.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clase NodoDiccionario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3520440"/>
          </a:xfrm>
          <a:prstGeom prst="roundRect">
            <a:avLst>
              <a:gd name="adj" fmla="val 519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10607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NodoDiccionario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Object clave;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Object valor;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NodoDiccionario siguiente;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NodoDiccionario(Object clave, Object valor)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this.clave = clave;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this.valor = valor;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this.siguiente = null;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51663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y valor son Object para poder guardar cualquier tipo de dato (String, Integer, lo que haga falta) — la misma idea de "elemento" genérico que usaron en la especificación.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Atributos y constructor de DiccionarioDinamico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3520440"/>
          </a:xfrm>
          <a:prstGeom prst="roundRect">
            <a:avLst>
              <a:gd name="adj" fmla="val 519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10607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DiccionarioDinamico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NodoDiccionario cabeza;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int cantidad;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DiccionarioDinamico() {   // crear()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this.cabeza = null;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this.cantidad = 0;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51663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cabeza = null: un diccionario recién creado no tiene ningún nodo. cantidad se mantiene aparte para que cantidadClaves() sea O(1) y no tenga que recorrer la cadena para contar.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buscarNodo(): el auxiliar que reutilizan todas las operaciones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3520440"/>
          </a:xfrm>
          <a:prstGeom prst="roundRect">
            <a:avLst>
              <a:gd name="adj" fmla="val 519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10607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NodoDiccionario buscarNodo(Object clave)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NodoDiccionario actual = cabeza;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(actual != null)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(actual.clave.equals(clave))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actual;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actual = actual.siguiente;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null;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51663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buscarNodo() NO es parte de la especificación del TDA: es un auxiliar interno privado. existeClave, definir, obtener y eliminar lo van a reutilizar en el resto de la clase, evitando repetir el mismo recorrido cuatro veces.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existeClave() y definir()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3520440"/>
          </a:xfrm>
          <a:prstGeom prst="roundRect">
            <a:avLst>
              <a:gd name="adj" fmla="val 519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10607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boolean existeClave(Object clave)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buscarNodo(clave) != null;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definir(Object clave, Object valor)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NodoDiccionario existente = buscarNodo(clave);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(existente != null)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existente.valor = valor;        // actualiza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NodoDiccionario nuevo = new NodoDiccionario(clave, valor);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nuevo.siguiente = cabeza;        // engancha...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cabeza = nuevo;                  // ...como cabeza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cantidad++;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51663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definir() reutiliza buscarNodo() para decidir entre actualizar o agregar — exactamente la distinción que existeClave() hace posible, como vimos en la motivación del TDA.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obtener(d, clave)   —   pre: existeClave(d, clave)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3520440"/>
          </a:xfrm>
          <a:prstGeom prst="roundRect">
            <a:avLst>
              <a:gd name="adj" fmla="val 519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10607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Object obtener(Object clave)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NodoDiccionario nodo = buscarNodo(clave);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(nodo == null)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new RuntimeException(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"obtener(): la clave no existe -&gt; " + clave);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nodo.valor;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51663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precondición no se cumple (la clave no existe), el código no devuelve cualquier cosa: lanza una excepción — la misma disciplina que usaron con Pila.desapilar() o el Conjunto en clases anteriores.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eliminar(d, clave)   —   pre: existeClave(d, clave)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3520440"/>
          </a:xfrm>
          <a:prstGeom prst="roundRect">
            <a:avLst>
              <a:gd name="adj" fmla="val 519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10607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eliminar(Object clave)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NodoDiccionario actual = cabeza, anterior = null;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(actual != null)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(actual.clave.equals(clave))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(anterior == null) cabeza = actual.siguiente;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 anterior.siguiente = actual.siguiente;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cantidad--;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anterior = actual;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actual = actual.siguiente;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 new RuntimeException("eliminar(): no existe");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51663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que recordar el nodo ANTERIOR para poder "saltear" al que se elimina — sin guardar anterior, no hay forma de reenganchar la cadena sin dejar un agujero.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esVacio(), cantidadClaves() y claves()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3520440"/>
          </a:xfrm>
          <a:prstGeom prst="roundRect">
            <a:avLst>
              <a:gd name="adj" fmla="val 519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10607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boolean esVacio() { return cabeza == null; 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int cantidadClaves() { return cantidad; 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Object[] claves()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Object[] resultado = new Object[cantidad];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NodoDiccionario actual = cabeza;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i = 0;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(actual != null)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resultado[i++] = actual.clave;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actual = actual.siguiente;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resultado;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51663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cantidadClaves() NO recorre nada: se mantiene actualizado en definir()/eliminar(). claves() sí recorre la cadena una vez completa, en el orden en que quedaron enganchados los nodos (sin ningún orden garantizado, tal como pide la especificación).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Prueba real: agenda de contactos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3520440"/>
          </a:xfrm>
          <a:prstGeom prst="roundRect">
            <a:avLst>
              <a:gd name="adj" fmla="val 519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10607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agenda.definir("juan",...); definir("maria",...); definir("pedro",...);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agenda.definir("juan", "11-0000-1111");   // ya existia: actualiza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Salida real (javac DiccionarioDinamico.java &amp;&amp; java DiccionarioDinamico):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pedro=11-5555-1234 maria=11-9876-5432 juan=11-0000-1111 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cantidadClaves() = 3 (no crecio)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existeClave("maria") = true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existeClave("lucas") = false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claves() = [ pedro maria juan ] (cantidad = 3)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eliminar("maria") -&gt; cantidadClaves() = 2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obtener("maria") tras eliminarla -&gt;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RuntimeException: obtener(): la clave no existe -&gt; maria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51663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se ve en este slide es una corrida real de DiccionarioDinamico.java (no valores inventados) — el archivo completo, con el main() de la demo, está en el material de la clase.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26387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2468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346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Resolución de problemas combinando TDAs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28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Caché con reemplazo FIFO: Cola + Diccionario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0149840" y="32004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149840" y="320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caché de resultados con capacidad fija de 3 claves. Si se agrega una clave nueva y la caché ya está llena, hay que descartar la clave MÁS VIEJA antes de guardar la nueva.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TDA ya conocido sirve para saber cuál es la clave "más vieja" sin recorrer nada? (pista: FIFO)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3291840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2004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TDA resuelve "clave -&gt; valor" con acceso directo por clave?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794760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703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CacheFIFO combinando una Cola con las claves EN ORDEN DE LLEGADA + un Diccionario con clave -&gt; valor.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4297680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2062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poner() se llama sobre una clave YA existente, ¿hay que tocar la Cola?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5623560"/>
            <a:ext cx="11064240" cy="640080"/>
          </a:xfrm>
          <a:prstGeom prst="roundRect">
            <a:avLst>
              <a:gd name="adj" fmla="val 4286"/>
            </a:avLst>
          </a:prstGeom>
          <a:solidFill>
            <a:srgbClr val="F5F7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 completo: Ejercicio1_CacheFIFO.java (compilado y ejecutado con javac/java).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CacheFIFO.poner() y salida real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3520440"/>
          </a:xfrm>
          <a:prstGeom prst="roundRect">
            <a:avLst>
              <a:gd name="adj" fmla="val 519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10607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poner(String clave, String valor)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(valores.existeClave(clave))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valores.definir(clave, valor);   // actualiza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(valores.cantidadClaves() == capacidad)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String vieja = (String) ordenLlegada.desencolar();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valores.eliminar(vieja);       // FIFO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valores.definir(clave, valor);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ordenLlegada.encolar(clave);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Salida real: poner(D) -&gt; descarta "consulta_A" (la mas vieja)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obtener("consulta_A") = null | obtener("consulta_D") = resultado_D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51663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TDA resuelve su mitad: la Cola decide EL ORDEN de descarte (FIFO); el Diccionario resuelve el ACCESO por clave. Ninguno de los dos, solo, alcanza para resolver una caché con reemplazo.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28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Registro de ingreso a un evento: Conjunto + Diccionario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0149840" y="32004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149840" y="320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entrada se escanea el DNI de cada invitado. Si el DNI ya había ingresado, hay que rechazarlo; si es la primera vez, se registra el ingreso y se guarda el nombre completo.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TDA ya conocido responde rápido "¿este DNI ya está?" sin guardar nada más sobre él?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3291840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2004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Conjunto no alcanza para imprimir después la lista de invitados con sus nombres: ¿qué TDA agrega esa asociación DNI -&gt; nombre?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794760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703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RegistroEvento combinando un Conjunto (solo para pertenece(dni)) con un Diccionario (dni -&gt; nombre completo).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4297680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2062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debería devolver registrarIngreso() si el DNI ya había ingresado?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5623560"/>
            <a:ext cx="11064240" cy="640080"/>
          </a:xfrm>
          <a:prstGeom prst="roundRect">
            <a:avLst>
              <a:gd name="adj" fmla="val 4286"/>
            </a:avLst>
          </a:prstGeom>
          <a:solidFill>
            <a:srgbClr val="F5F7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 completo: Ejercicio2_RegistroInvitados.java (compilado y ejecutado con javac/java).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registrarIngreso() y salida real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3520440"/>
          </a:xfrm>
          <a:prstGeom prst="roundRect">
            <a:avLst>
              <a:gd name="adj" fmla="val 519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10607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 registrarIngreso(String dni, String nombre)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(dniRegistrados.pertenece(dni))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false;                    // ya habia ingresado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dniRegistrados.agregar(dni);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datos.definir(dni, nombre);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true;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Salida real: 3 ingresos OK, despues: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registrarIngreso("29888777", ...) = false   (rechazado)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cantidadIngresos() = 3   (el duplicado no sumo)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nombreDe("31444555") = Camila Duarte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51663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Conjunto filtra los duplicados en su propio terreno (pertenece/agregar); el Diccionario nunca se entera de los rechazados — solo guarda los datos de quien realmente ingresó.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28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Guardia médica por urgencia: Cola con Prioridad + Diccionario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0149840" y="32004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149840" y="320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paciente que llega recibe un número de turno y un nivel de urgencia (1 = más urgente). Hay que atender primero al más urgente, sin importar el orden de llegada, y anunciar su NOMBRE, no solo su número.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TDA ya conocido decide QUIÉN se atiende primero según una prioridad?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3291840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2004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Cola con Prioridad de la Clase 3 solo maneja números de turno: ¿qué TDA asocia cada número con el nombre del paciente?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794760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703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GuardiaMedica combinando una ColaConPrioridad (numeroTurno, urgencia) con un Diccionario (numeroTurno -&gt; nombre).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4297680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2062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atenderSiguiente(): extraer el turno más urgente de la cola, y usar el Diccionario para saber quién es.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5623560"/>
            <a:ext cx="11064240" cy="640080"/>
          </a:xfrm>
          <a:prstGeom prst="roundRect">
            <a:avLst>
              <a:gd name="adj" fmla="val 4286"/>
            </a:avLst>
          </a:prstGeom>
          <a:solidFill>
            <a:srgbClr val="F5F7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 completo: Ejercicio3_GuardiaPrioridad.java (compilado y ejecutado con javac/java).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atenderSiguiente() y salida real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3520440"/>
          </a:xfrm>
          <a:prstGeom prst="roundRect">
            <a:avLst>
              <a:gd name="adj" fmla="val 519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10607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atenderSiguiente() {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(turnos.esVacia()) return null;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numero = turnos.extraerMax();     // el mas urgente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nombre = (String) pacientes.obtener(numero);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pacientes.eliminar(numero);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nombre + " (turno #" + numero + ")";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Llegan, en este orden: Roberto(4) Elena(2) Damian(5) Valeria(1)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Salida real, orden de ATENCION (no es el de llegada):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1) Valeria Nunez (turno #4)     2) Elena Prieto (turno #2)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1C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3) Roberto Sanz (turno #1)      4) Damian Ortiz (turno #3)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51663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orden de atención NO coincide con el de llegada: Valeria (urgencia 1, la más urgente) llegó última y es atendida primera. La Cola con Prioridad decide el ORDEN; el Diccionario resuelve el NOMBRE — la misma división de responsabilidades que en los dos ejercicios anteriores.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FINAL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Resumen de la clase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4592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TDA Diccionario asocia claves únicas a valores: definir, obtener, eliminar, existeClave, esVacio, cantidadClaves, claves — la misma especificación que ya usaron en el TP2.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46888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implementación dinámica reemplaza el array por una cadena de NodoDiccionario (clave + valor + siguiente), enganchados por referencia y sin capacidad fija.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29184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buscarNodo() es el auxiliar interno que reutilizan existeClave, definir, obtener y eliminar — recorrer la cadena es el costo común a casi todas las operaciones.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11480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un problema real casi nunca alcanza con un solo TDA: Cola+Diccionario, Conjunto+Diccionario y ColaPrioridad+Diccionario combinan cada estructura en lo que mejor sabe hacer.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49834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9377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1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Quedó pendiente una pregunta: ¿esta implementación dinámica es más rápida o más lenta que una estática? Eso se responde con números en la próxima clase.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1371600"/>
            <a:ext cx="4572000" cy="4572000"/>
          </a:xfrm>
          <a:prstGeom prst="ellipse">
            <a:avLst/>
          </a:prstGeom>
          <a:solidFill>
            <a:srgbClr val="26387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LA PRÓXIMA CLASE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Clase 5: comparación estática/dinámica y complejidad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2359152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2860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Traer terminada (o intentada) la DiccionarioDinamico de hoy, junto con los tres ejercicios de combinación de TDAs.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953512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88036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Clase 5 retoma la idea de implementación dinámica (Nodo, cabeza) vista hoy y la analiza en profundidad: complejidad temporal operación por operación, y complejidad espacial.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5800" y="3547872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347472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va a comparar el Diccionario dinámico de hoy contra una versión estática (arreglos paralelos), midiendo tiempos reales — la misma técnica que van a necesitar en el TP2.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85800" y="4142232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60120" y="406908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Repasar la especificación del TDA Diccionario: va a ser la base de la comparación.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9834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¿Preguntas?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y Estructuras de Datos II  |  Clase 4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2026-08-31T19:12:28Z</dcterms:created>
  <dcterms:modified xsi:type="dcterms:W3CDTF">2026-08-31T19:12:28Z</dcterms:modified>
</cp:coreProperties>
</file>